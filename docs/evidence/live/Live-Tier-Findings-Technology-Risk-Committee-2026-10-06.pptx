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0f3dbe3-8f5e-5ce0-437f-8d4c64c18dcc}">
          <p14:sldIdLst>
            <p14:sldId id="256"/>
            <p14:sldId id="257"/>
          </p14:sldIdLst>
        </p14:section>
        <p14:section name="The work" id="{7f016c77-f8d9-db58-20b9-6916fefd8ffc}">
          <p14:sldIdLst>
            <p14:sldId id="258"/>
            <p14:sldId id="259"/>
            <p14:sldId id="260"/>
            <p14:sldId id="261"/>
          </p14:sldIdLst>
        </p14:section>
        <p14:section name="Findings" id="{50953357-d610-1d9c-7417-f504d73bccf7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Lessons and limits" id="{0badfa03-f55c-7792-9a1a-44c2113afc56}">
          <p14:sldIdLst>
            <p14:sldId id="271"/>
            <p14:sldId id="272"/>
          </p14:sldIdLst>
        </p14:section>
        <p14:section name="Conclusions and next steps" id="{8b41b278-5295-fd5d-388c-b632e93f9e56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Live agreement, no guard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Complaints
root cause named</c:v>
                  </c:pt>
                  <c:pt idx="1">
                    <c:v>Lending
decision matches rule</c:v>
                  </c:pt>
                  <c:pt idx="2">
                    <c:v>Disputes
decision matches rules</c:v>
                  </c:pt>
                  <c:pt idx="3">
                    <c:v>Collections
plan matches rule</c:v>
                  </c:pt>
                  <c:pt idx="4">
                    <c:v>Fraud
alert decision right</c:v>
                  </c:pt>
                  <c:pt idx="5">
                    <c:v>Servicing
caller's need met</c:v>
                  </c:pt>
                  <c:pt idx="6">
                    <c:v>Onboarding
decision matches rules</c:v>
                  </c:pt>
                  <c:pt idx="7">
                    <c:v>Advice
recommendation suits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</c:v>
                </c:pt>
                <c:pt idx="1">
                  <c:v>53</c:v>
                </c:pt>
                <c:pt idx="2">
                  <c:v>68</c:v>
                </c:pt>
                <c:pt idx="3">
                  <c:v>72</c:v>
                </c:pt>
                <c:pt idx="4">
                  <c:v>93</c:v>
                </c:pt>
                <c:pt idx="5">
                  <c:v>94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Assumed 90%</c:v>
                </c:pt>
              </c:strCache>
            </c:strRef>
          </c:tx>
          <c:spPr>
            <a:solidFill>
              <a:srgbClr val="B3261E"/>
            </a:solidFill>
            <a:ln w="25400" cap="flat">
              <a:solidFill>
                <a:srgbClr val="B3261E"/>
              </a:solidFill>
              <a:prstDash val="dash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3261E"/>
              </a:solidFill>
              <a:ln w="9525" cap="flat">
                <a:solidFill>
                  <a:srgbClr val="B326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Complaints
root cause named</c:v>
                  </c:pt>
                  <c:pt idx="1">
                    <c:v>Lending
decision matches rule</c:v>
                  </c:pt>
                  <c:pt idx="2">
                    <c:v>Disputes
decision matches rules</c:v>
                  </c:pt>
                  <c:pt idx="3">
                    <c:v>Collections
plan matches rule</c:v>
                  </c:pt>
                  <c:pt idx="4">
                    <c:v>Fraud
alert decision right</c:v>
                  </c:pt>
                  <c:pt idx="5">
                    <c:v>Servicing
caller's need met</c:v>
                  </c:pt>
                  <c:pt idx="6">
                    <c:v>Onboarding
decision matches rules</c:v>
                  </c:pt>
                  <c:pt idx="7">
                    <c:v>Advice
recommendation suits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stack</c:v>
                </c:pt>
              </c:strCache>
            </c:strRef>
          </c:tx>
          <c:spPr>
            <a:solidFill>
              <a:srgbClr val="0B8F9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Acknowledged</c:v>
                  </c:pt>
                  <c:pt idx="1">
                    <c:v>Ombudsman disclosed</c:v>
                  </c:pt>
                  <c:pt idx="2">
                    <c:v>Root cause named</c:v>
                  </c:pt>
                  <c:pt idx="3">
                    <c:v>Redress within bounds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25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Policy-card stack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Acknowledged</c:v>
                  </c:pt>
                  <c:pt idx="1">
                    <c:v>Ombudsman disclosed</c:v>
                  </c:pt>
                  <c:pt idx="2">
                    <c:v>Root cause named</c:v>
                  </c:pt>
                  <c:pt idx="3">
                    <c:v>Redress within bounds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31</c:v>
                </c:pt>
                <c:pt idx="3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Case-file context</c:v>
                </c:pt>
              </c:strCache>
            </c:strRef>
          </c:tx>
          <c:spPr>
            <a:solidFill>
              <a:srgbClr val="0B8F9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Suitable recommendation</c:v>
                  </c:pt>
                  <c:pt idx="1">
                    <c:v>Data minimisation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Relational context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Suitable recommendation</c:v>
                  </c:pt>
                  <c:pt idx="1">
                    <c:v>Data minimisation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cells ending ERROR</c:v>
                </c:pt>
              </c:strCache>
            </c:strRef>
          </c:tx>
          <c:spPr>
            <a:solidFill>
              <a:srgbClr val="0B8F9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8F9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Servicing + live customer</c:v>
                  </c:pt>
                  <c:pt idx="1">
                    <c:v>Onboarding</c:v>
                  </c:pt>
                  <c:pt idx="2">
                    <c:v>Disputes</c:v>
                  </c:pt>
                  <c:pt idx="3">
                    <c:v>Servicing</c:v>
                  </c:pt>
                  <c:pt idx="4">
                    <c:v>Lending</c:v>
                  </c:pt>
                  <c:pt idx="5">
                    <c:v>Collections</c:v>
                  </c:pt>
                  <c:pt idx="6">
                    <c:v>Advice</c:v>
                  </c:pt>
                  <c:pt idx="7">
                    <c:v>Fraud</c:v>
                  </c:pt>
                  <c:pt idx="8">
                    <c:v>Complaints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4.2</c:v>
                </c:pt>
                <c:pt idx="5">
                  <c:v>10.8</c:v>
                </c:pt>
                <c:pt idx="6">
                  <c:v>17.7</c:v>
                </c:pt>
                <c:pt idx="7">
                  <c:v>34.3</c:v>
                </c:pt>
                <c:pt idx="8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Work packages WP168 (live brain) and WP169 (live customer), recorded 6 October 2026 on the builder's two DGX Sparks.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messages and one decision. Everything that follows is evidence for these. Stress the reading rule: synthetic bank, one sample, one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Robo Bank is a synthetic UK retail bank operated by AI agents. Until now the bot's brain was scripted (perfect) or fallible (assumed 10% error). The live tier puts a real model in the brain slot; WP169 also seats a live model as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recordings across nine designs. Book sizes differ because desks' incidences differ: fraud draws nearly five alerts per customer, so six customers already give 108 cells. Lending was recorded twice to measure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The important property for this committee is the last: CI replays every design from its cassette with no network and fails unless it reproduces exactly the committed numbers. Every figure in this deck can be re-derived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Reading rule: 95% Wilson intervals; most designs underpowered; 'no difference' means not detectable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configuration, no guard. Four desks have the 90% assumption outside their 95% interval. Two desks are at the ceiling. The uniform 10% assumption is wrong in both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fallible tier has been the adversary every control was tested against. It assumed 10% error everywhere. That adversary is too weak on four desks and too strong on two. Conclusions resting on it are provisional until re-derived against desk-shaped, measured error models (WP170).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Largest effect in the tier and it points the wrong way. The stack is the treatment. Target metric (root cause named) did not move; redress within bounds went from 100% to 20%, p about 1e-13. 44 of 110 cells ended ERROR. Not diagnosed: the complaints stories are the place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ladder: same bot, case-file context vs relational context. Suitability 100% under both. Data minimisation 100% under the case file, 0% (0-11%) under relational, p about 3e-15. Tokens per case 58k to 82k. Richer context bought nothing measurable and cost the minimisation property. Other models or prompts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policy-card stack was the treatment, the effect on the primary metric was not detectable. Verdicts are deliberately inconclusive, untestable or not-supported. Most designs are underpowered: fewer than 30 cells a side or an MDD far above the 5 points aimed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ERROR cell is a stage that did not produce schema-valid output. Could be model, prompt or desk. Scored as the evaluator sees them. Complaints 40%, fraud 34%, advice 18%. A sampled story per outcome is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Servicing re-run with 100 customers and the 122B as both bot and customer. No detectable difference; books differ in size and intervals overlap. Demonstrates a two-model conversation records into one cassette and replays exactly. Persona weakness: drawn by cohort, not by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Lending recorded twice, nothing changed. Aggregate identical (53% both). Individual calls and cases are not: 63% same call, 8% same words, 91% same verdict. Batching and speculative decoding move the numerics. This is the noise floor; nothing below it can be credited from one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general lessons: a reply cap inherited silently produced a plausible but meaningless result until truncations were counted; and a credential guard with a placeholder key destroyed half an hour of evidence. Record finish reasons; smoke-test the guards; fail at the first held credential, not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this is not. One sample, one model, synthetic bank, small n, ERROR cells undiagnosed, register not yet reading the live column, scenario designs not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conclusions. The infrastructure is ready; what remains is statistical power and diagnosis, not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actions in three horizons. Immediate: diagnose the two adverse effects and triage ERROR cells. Short term: fix the assumption, fold into the register, set power targets. Medium term: scenario designs, second model, matched personas, verify comparators.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decision. Three parts: live tier as primary evidence base; fallible tier derived from it; moratorium on new controls for complaints and advice until actions 1 and 2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Live tier · recorded 6 Oct 2026 · synthetic bank · one sample, one model · internal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Live tier · recorded 6 Oct 2026 · synthetic bank · one sample, one model · internal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Live tier · recorded 6 Oct 2026 · synthetic bank · one sample, one model · internal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Running the bank's desks on a live model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Runs, findings, conclusions and recommended next steps from the live tier of the Robo Bank simulator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Technology Risk Committee · work packages WP168 and WP169 · recorded 6 October 2026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CRAFT A BOT  ·  ROBO BANK  ·  THE LIVE TIER</a:t>
            </a:r>
            <a:endParaRPr lang="en-US" sz="1200" dirty="0"/>
          </a:p>
        </p:txBody>
      </p:sp>
      <p:sp>
        <p:nvSpPr>
          <p:cNvPr id="6" name="mark"/>
          <p:cNvSpPr/>
          <p:nvPr/>
        </p:nvSpPr>
        <p:spPr>
          <a:xfrm>
            <a:off x="548640" y="1965960"/>
            <a:ext cx="73152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Summary on a page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bank's error assumption is wrong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fallible tier assumed 90% agreement on every desk. Live, four desks are far below it (lending 53%, disputes 68%, collections 72%, complaints 25%) and two are at 100%. One number per desk cannot stand in for a live model.</a:t>
            </a:r>
            <a:endParaRPr lang="en-US" sz="1250" dirty="0"/>
          </a:p>
        </p:txBody>
      </p:sp>
      <p:sp>
        <p:nvSpPr>
          <p:cNvPr id="9" name="card 1"/>
          <p:cNvSpPr/>
          <p:nvPr/>
        </p:nvSpPr>
        <p:spPr>
          <a:xfrm>
            <a:off x="4337304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916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194560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controls had large adverse side-effects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policy-card stack left its target metric alone but collapsed complaints redress-within-bounds from 100% to 20%. Richer context for the advice bot left suitability at 100% and took data minimisation from 100% to 0%. Neither is diagnosed.</a:t>
            </a:r>
            <a:endParaRPr lang="en-US" sz="1250" dirty="0"/>
          </a:p>
        </p:txBody>
      </p:sp>
      <p:sp>
        <p:nvSpPr>
          <p:cNvPr id="14" name="card 2"/>
          <p:cNvSpPr/>
          <p:nvPr/>
        </p:nvSpPr>
        <p:spPr>
          <a:xfrm>
            <a:off x="8125968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91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194560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control is yet shown to work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Where policy cards were the treatment, no effect on the primary metric was detectable (p 0.45 to 1.0). Temperature 0 is not repeatable on this stack, so a measured noise floor now sits under every future claim.</a:t>
            </a:r>
            <a:endParaRPr lang="en-US" sz="1250" dirty="0"/>
          </a:p>
        </p:txBody>
      </p:sp>
      <p:sp>
        <p:nvSpPr>
          <p:cNvPr id="19" name="callout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allout dot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502920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Decision requested: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treat the live tier as the programme's primary evidence base; derive the fallible tier's error models from it; and add no further controls to the complaints or advice desks until the two adverse effects are diagnosed.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was done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The simulator, the live tier, and how a run becomes a committed, replayable number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Robo Bank, and what the live tier changes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Eight desks, each a workflow run by an agent and scored against the desk's rules</a:t>
            </a:r>
            <a:endParaRPr lang="en-US" sz="1300" dirty="0"/>
          </a:p>
        </p:txBody>
      </p:sp>
      <p:sp>
        <p:nvSpPr>
          <p:cNvPr id="5" name="desk Lending"/>
          <p:cNvSpPr/>
          <p:nvPr/>
        </p:nvSpPr>
        <p:spPr>
          <a:xfrm>
            <a:off x="548640" y="2057400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0574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Lending</a:t>
            </a:r>
            <a:endParaRPr lang="en-US" sz="1400" dirty="0"/>
          </a:p>
        </p:txBody>
      </p:sp>
      <p:sp>
        <p:nvSpPr>
          <p:cNvPr id="7" name="desk Servicing"/>
          <p:cNvSpPr/>
          <p:nvPr/>
        </p:nvSpPr>
        <p:spPr>
          <a:xfrm>
            <a:off x="3154680" y="2057400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20574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Servicing</a:t>
            </a:r>
            <a:endParaRPr lang="en-US" sz="1400" dirty="0"/>
          </a:p>
        </p:txBody>
      </p:sp>
      <p:sp>
        <p:nvSpPr>
          <p:cNvPr id="9" name="desk Disputes"/>
          <p:cNvSpPr/>
          <p:nvPr/>
        </p:nvSpPr>
        <p:spPr>
          <a:xfrm>
            <a:off x="548640" y="2715768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15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Disputes</a:t>
            </a:r>
            <a:endParaRPr lang="en-US" sz="1400" dirty="0"/>
          </a:p>
        </p:txBody>
      </p:sp>
      <p:sp>
        <p:nvSpPr>
          <p:cNvPr id="11" name="desk Collections"/>
          <p:cNvSpPr/>
          <p:nvPr/>
        </p:nvSpPr>
        <p:spPr>
          <a:xfrm>
            <a:off x="3154680" y="2715768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2715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Collections</a:t>
            </a:r>
            <a:endParaRPr lang="en-US" sz="1400" dirty="0"/>
          </a:p>
        </p:txBody>
      </p:sp>
      <p:sp>
        <p:nvSpPr>
          <p:cNvPr id="13" name="desk Onboarding"/>
          <p:cNvSpPr/>
          <p:nvPr/>
        </p:nvSpPr>
        <p:spPr>
          <a:xfrm>
            <a:off x="548640" y="3374136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741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Onboarding</a:t>
            </a:r>
            <a:endParaRPr lang="en-US" sz="1400" dirty="0"/>
          </a:p>
        </p:txBody>
      </p:sp>
      <p:sp>
        <p:nvSpPr>
          <p:cNvPr id="15" name="desk Complaints"/>
          <p:cNvSpPr/>
          <p:nvPr/>
        </p:nvSpPr>
        <p:spPr>
          <a:xfrm>
            <a:off x="3154680" y="3374136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37560" y="33741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Complaints</a:t>
            </a:r>
            <a:endParaRPr lang="en-US" sz="1400" dirty="0"/>
          </a:p>
        </p:txBody>
      </p:sp>
      <p:sp>
        <p:nvSpPr>
          <p:cNvPr id="17" name="desk Fraud"/>
          <p:cNvSpPr/>
          <p:nvPr/>
        </p:nvSpPr>
        <p:spPr>
          <a:xfrm>
            <a:off x="548640" y="4032504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0325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Fraud</a:t>
            </a:r>
            <a:endParaRPr lang="en-US" sz="1400" dirty="0"/>
          </a:p>
        </p:txBody>
      </p:sp>
      <p:sp>
        <p:nvSpPr>
          <p:cNvPr id="19" name="desk Advice"/>
          <p:cNvSpPr/>
          <p:nvPr/>
        </p:nvSpPr>
        <p:spPr>
          <a:xfrm>
            <a:off x="3154680" y="4032504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37560" y="40325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Advice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1417320"/>
            <a:ext cx="5239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Three brains the bot can be given</a:t>
            </a:r>
            <a:endParaRPr lang="en-US" sz="1300" dirty="0"/>
          </a:p>
        </p:txBody>
      </p:sp>
      <p:sp>
        <p:nvSpPr>
          <p:cNvPr id="22" name="brain dot 0"/>
          <p:cNvSpPr/>
          <p:nvPr/>
        </p:nvSpPr>
        <p:spPr>
          <a:xfrm>
            <a:off x="6400800" y="213055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20574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Scripted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2423160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Follows the rules perfectly. The ceiling.</a:t>
            </a:r>
            <a:endParaRPr lang="en-US" sz="1200" dirty="0"/>
          </a:p>
        </p:txBody>
      </p:sp>
      <p:sp>
        <p:nvSpPr>
          <p:cNvPr id="25" name="brain dot 1"/>
          <p:cNvSpPr/>
          <p:nvPr/>
        </p:nvSpPr>
        <p:spPr>
          <a:xfrm>
            <a:off x="6400800" y="315468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308152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Fallible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3447288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Follows the rules with an assumed error rate: one decision in ten wrong on every desk (ERROR_RATES). The adversary the controls have been tested against until now.</a:t>
            </a:r>
            <a:endParaRPr lang="en-US" sz="1200" dirty="0"/>
          </a:p>
        </p:txBody>
      </p:sp>
      <p:sp>
        <p:nvSpPr>
          <p:cNvPr id="28" name="brain dot 2"/>
          <p:cNvSpPr/>
          <p:nvPr/>
        </p:nvSpPr>
        <p:spPr>
          <a:xfrm>
            <a:off x="6400800" y="41788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4105656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 (new: WP168)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4471416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real language model, Qwen3.5-122B-A10B-NVFP4, run inside the builder's own boundary on two DGX Sparks. WP169 also seats a live model as the customer.</a:t>
            </a:r>
            <a:endParaRPr lang="en-US" sz="1200" dirty="0"/>
          </a:p>
        </p:txBody>
      </p:sp>
      <p:sp>
        <p:nvSpPr>
          <p:cNvPr id="31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question the live tier answers: how far are the assumptions the bank has tested its controls against from what a live model does, and do the controls still behave when they meet one?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was run on 6 October 2026</a:t>
            </a:r>
            <a:endParaRPr lang="en-US" sz="2800" dirty="0"/>
          </a:p>
        </p:txBody>
      </p:sp>
      <p:sp>
        <p:nvSpPr>
          <p:cNvPr id="4" name="stat card 10"/>
          <p:cNvSpPr/>
          <p:nvPr/>
        </p:nvSpPr>
        <p:spPr>
          <a:xfrm>
            <a:off x="54864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recordings across 9 reference designs (lending twice)</a:t>
            </a:r>
            <a:endParaRPr lang="en-US" sz="1100" dirty="0"/>
          </a:p>
        </p:txBody>
      </p:sp>
      <p:sp>
        <p:nvSpPr>
          <p:cNvPr id="7" name="stat card 1,272"/>
          <p:cNvSpPr/>
          <p:nvPr/>
        </p:nvSpPr>
        <p:spPr>
          <a:xfrm>
            <a:off x="338328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1,272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cells: one case under one configuration</a:t>
            </a:r>
            <a:endParaRPr lang="en-US" sz="1100" dirty="0"/>
          </a:p>
        </p:txBody>
      </p:sp>
      <p:sp>
        <p:nvSpPr>
          <p:cNvPr id="10" name="stat card 8,641"/>
          <p:cNvSpPr/>
          <p:nvPr/>
        </p:nvSpPr>
        <p:spPr>
          <a:xfrm>
            <a:off x="621792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8,641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cassette entries: recorded model answers</a:t>
            </a:r>
            <a:endParaRPr lang="en-US" sz="1100" dirty="0"/>
          </a:p>
        </p:txBody>
      </p:sp>
      <p:sp>
        <p:nvSpPr>
          <p:cNvPr id="13" name="stat card 3 h 32 m"/>
          <p:cNvSpPr/>
          <p:nvPr/>
        </p:nvSpPr>
        <p:spPr>
          <a:xfrm>
            <a:off x="9052560" y="1417320"/>
            <a:ext cx="258775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1527048"/>
            <a:ext cx="22219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 32 m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045970"/>
            <a:ext cx="22219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recording on two DGX Sparks, 16 cells at a time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097280"/>
                <a:gridCol w="137160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Design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Cells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Entries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Wall time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lending-stack (×2)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800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306 each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1,238 / 1,099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30 / 27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servicing-stack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66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260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9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disputes-stack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400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80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265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collections-stack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300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74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839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20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onboarding-stack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400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66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289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complaints-stack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110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302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7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fraud-stack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108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2,490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54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advice-context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1,200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124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1,502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46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servicing + live customer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100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32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357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8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786384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and the hardware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2004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Qwen3.5-122B-A10B-NVFP4 via dgx-spark/giant-qwen: a 122B mixture-of-experts model, NVFP4-quantised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Two DGX Sparks in the reasoning-pair pattern: puzzle mode, 8 streams each, speculative decoding 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Temperature 0; every reply capped at 1,024 tokens; no reply in any kept recording was cut off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 model a bank could run inside its own boundary. Not a frontier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a run becomes a committed, replayable number</a:t>
            </a:r>
            <a:endParaRPr lang="en-US" sz="2800" dirty="0"/>
          </a:p>
        </p:txBody>
      </p:sp>
      <p:sp>
        <p:nvSpPr>
          <p:cNvPr id="4" name="step 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live-designs.mjs derives each live design from its base: same template, factors and metrics; the brain factor removed; one live brain naming its cassette; a book of its own size; a 1,024-token reply limit.</a:t>
            </a:r>
            <a:endParaRPr lang="en-US" sz="1200" dirty="0"/>
          </a:p>
        </p:txBody>
      </p:sp>
      <p:sp>
        <p:nvSpPr>
          <p:cNvPr id="8" name="arrow 0"/>
          <p:cNvSpPr/>
          <p:nvPr/>
        </p:nvSpPr>
        <p:spPr>
          <a:xfrm>
            <a:off x="3152394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390138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9013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893058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390138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live-record.mjs checks the Sparks serve the cartridge, records with craftabot record at automatic concurrency, then replays the design from the cassette alone with egress set to none.</a:t>
            </a:r>
            <a:endParaRPr lang="en-US" sz="1200" dirty="0"/>
          </a:p>
        </p:txBody>
      </p:sp>
      <p:sp>
        <p:nvSpPr>
          <p:cNvPr id="13" name="arrow 1"/>
          <p:cNvSpPr/>
          <p:nvPr/>
        </p:nvSpPr>
        <p:spPr>
          <a:xfrm>
            <a:off x="5993892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ep 3"/>
          <p:cNvSpPr/>
          <p:nvPr/>
        </p:nvSpPr>
        <p:spPr>
          <a:xfrm>
            <a:off x="6231636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3163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34556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231636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replay's result, markdown, per-case cells.json and a sample of runs rendered as readable stories are committed beside the slimmed cassette (about 1 MB each).</a:t>
            </a:r>
            <a:endParaRPr lang="en-US" sz="1200" dirty="0"/>
          </a:p>
        </p:txBody>
      </p:sp>
      <p:sp>
        <p:nvSpPr>
          <p:cNvPr id="18" name="arrow 2"/>
          <p:cNvSpPr/>
          <p:nvPr/>
        </p:nvSpPr>
        <p:spPr>
          <a:xfrm>
            <a:off x="8835390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step 4"/>
          <p:cNvSpPr/>
          <p:nvPr/>
        </p:nvSpPr>
        <p:spPr>
          <a:xfrm>
            <a:off x="9073134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313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576054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073134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 replays every live design from its cassette with no network and requires exactly the committed numbers (live-check.mjs), and regenerates the README's live column (live-column.mjs --check).</a:t>
            </a:r>
            <a:endParaRPr lang="en-US" sz="1200" dirty="0"/>
          </a:p>
        </p:txBody>
      </p:sp>
      <p:sp>
        <p:nvSpPr>
          <p:cNvPr id="23" name="callout"/>
          <p:cNvSpPr/>
          <p:nvPr/>
        </p:nvSpPr>
        <p:spPr>
          <a:xfrm>
            <a:off x="548640" y="4572000"/>
            <a:ext cx="11091672" cy="12801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allout dot"/>
          <p:cNvSpPr/>
          <p:nvPr/>
        </p:nvSpPr>
        <p:spPr>
          <a:xfrm>
            <a:off x="713232" y="475488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1560" y="4663440"/>
            <a:ext cx="10451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Why this matters.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number is re-derived by the build from a committed artefact, offline, and the build fails if it cannot. That is the property a model-risk function asks of any evidence a control's effectiveness rests on, and it now holds for the live tier as well as the scripted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the live model did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Every figure: this synthetic bank, at the size stated, under one sample from one model. "No difference" means not detectable here.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1: the assumed 90% does not survive a live model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41248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agreement with the rule, reference configuration, no guard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8412480" y="20116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</a:rPr>
              <a:t>Amber: assumption outside the 95% interval. Lending 53% (40–66%), disputes 68% (52–80%), collections 72% (56–84%), complaints 25% (16–38%).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Teal: assumption inside. Fraud 93% (77–98%), servicing 94% (80–98%), onboarding and advice 100% at the ceiling.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 per desk is 27 to 55 cells; intervals are wide.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Why the four desks are low was not diagnosed. Complaints has a history: WP155 once found its truth and rule disagreeing with the register.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finding 1 means for the control framework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777240" y="173736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in both directions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Too optimistic by a wide margin for lending, disputes, collections and complaints; too pessimistic for onboarding and advice.</a:t>
            </a:r>
            <a:endParaRPr lang="en-US" sz="1250" dirty="0"/>
          </a:p>
        </p:txBody>
      </p:sp>
      <p:sp>
        <p:nvSpPr>
          <p:cNvPr id="8" name="card 1"/>
          <p:cNvSpPr/>
          <p:nvPr/>
        </p:nvSpPr>
        <p:spPr>
          <a:xfrm>
            <a:off x="6231636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 1"/>
          <p:cNvSpPr/>
          <p:nvPr/>
        </p:nvSpPr>
        <p:spPr>
          <a:xfrm>
            <a:off x="6460236" y="1737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71716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differs by desk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71716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single number per desk cannot stand in for a live model. The errors a live model makes on complaints (root cause) are not the errors it makes on lending (the decision).</a:t>
            </a:r>
            <a:endParaRPr lang="en-US" sz="1250" dirty="0"/>
          </a:p>
        </p:txBody>
      </p:sp>
      <p:sp>
        <p:nvSpPr>
          <p:cNvPr id="12" name="card 2"/>
          <p:cNvSpPr/>
          <p:nvPr/>
        </p:nvSpPr>
        <p:spPr>
          <a:xfrm>
            <a:off x="548640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t 2"/>
          <p:cNvSpPr/>
          <p:nvPr/>
        </p:nvSpPr>
        <p:spPr>
          <a:xfrm>
            <a:off x="777240" y="3840480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88720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register reads the wrong column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Control Effectiveness Register and Control Inventory still read the scripted and fallible columns. The live results sit beside them, not folded in.</a:t>
            </a:r>
            <a:endParaRPr lang="en-US" sz="1250" dirty="0"/>
          </a:p>
        </p:txBody>
      </p:sp>
      <p:sp>
        <p:nvSpPr>
          <p:cNvPr id="16" name="card 3"/>
          <p:cNvSpPr/>
          <p:nvPr/>
        </p:nvSpPr>
        <p:spPr>
          <a:xfrm>
            <a:off x="6231636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ot 3"/>
          <p:cNvSpPr/>
          <p:nvPr/>
        </p:nvSpPr>
        <p:spPr>
          <a:xfrm>
            <a:off x="6460236" y="384048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1716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to fix it now exists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71716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cassettes hold every live decision. WP170's shaped error models were provisional for exactly this; they can now be fitted to measured data.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Implication: any control-effectiveness conclusion that rested on the fallible tier's uniform 10% should be treated as provisional until re-derived against measured, desk-shaped error models.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2: the policy-card stack collapsed complaints redress</a:t>
            </a:r>
            <a:endParaRPr lang="en-US" sz="2800" dirty="0"/>
          </a:p>
        </p:txBody>
      </p:sp>
      <p:sp>
        <p:nvSpPr>
          <p:cNvPr id="4" name="stat card 100%"/>
          <p:cNvSpPr/>
          <p:nvPr/>
        </p:nvSpPr>
        <p:spPr>
          <a:xfrm>
            <a:off x="54864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redress within bounds, no stack (n 55)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3337560" y="1874520"/>
            <a:ext cx="45720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t card 20%"/>
          <p:cNvSpPr/>
          <p:nvPr/>
        </p:nvSpPr>
        <p:spPr>
          <a:xfrm>
            <a:off x="393192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 the policy-card stack (12–32%), p ≈ 10⁻¹³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949440" y="137160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30175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stack is the programme's principal guard control, and on this desk it is the treatment.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Its target metric, root cause named, moved from 25% to 31% (p 0.45): no detectable effect.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Redress within bounds collapsed. 44 of the design's 110 cells ended ERROR.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Candidate causes, none yet examined: the stack blocking a path the bot then fails to complete; or an interaction between the cards and how a live bot proposes redress.</a:t>
            </a:r>
            <a:endParaRPr lang="en-US" sz="1250" dirty="0"/>
          </a:p>
        </p:txBody>
      </p:sp>
      <p:sp>
        <p:nvSpPr>
          <p:cNvPr id="13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rgbClr val="FCF1E3"/>
          </a:solidFill>
          <a:ln w="12700">
            <a:solidFill>
              <a:srgbClr val="FCF1E3"/>
            </a:solidFill>
            <a:prstDash val="solid"/>
          </a:ln>
        </p:spPr>
      </p:sp>
      <p:sp>
        <p:nvSpPr>
          <p:cNvPr id="14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Status: not diagnosed.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Recommendation: no further control on the complaints desk until the committed stories have been read and the mechanism named.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3: richer context broke data minimisation on the advice desk</a:t>
            </a:r>
            <a:endParaRPr lang="en-US" sz="2800" dirty="0"/>
          </a:p>
        </p:txBody>
      </p:sp>
      <p:sp>
        <p:nvSpPr>
          <p:cNvPr id="4" name="stat card 100%"/>
          <p:cNvSpPr/>
          <p:nvPr/>
        </p:nvSpPr>
        <p:spPr>
          <a:xfrm>
            <a:off x="54864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 minimisation under the case-file context (n 31)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3337560" y="1874520"/>
            <a:ext cx="45720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t card 0%"/>
          <p:cNvSpPr/>
          <p:nvPr/>
        </p:nvSpPr>
        <p:spPr>
          <a:xfrm>
            <a:off x="393192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under the relational context (0–11%), p ≈ 10⁻¹⁵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949440" y="137160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30175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advice design is a context ladder: the same live bot given either a case file or a richer relational context about the customer.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Suitability of the recommendation was 100% (89–100%) under both.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Given more about the customer, the bot failed to minimise on every one of 31 cases, and used 40% more tokens per case.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On this sample, richer context bought nothing measurable on suitability and cost the minimisation property. Whether that holds for other models or prompts is not known.</a:t>
            </a:r>
            <a:endParaRPr lang="en-US" sz="1250" dirty="0"/>
          </a:p>
        </p:txBody>
      </p:sp>
      <p:sp>
        <p:nvSpPr>
          <p:cNvPr id="13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rgbClr val="FCF1E3"/>
          </a:solidFill>
          <a:ln w="12700">
            <a:solidFill>
              <a:srgbClr val="FCF1E3"/>
            </a:solidFill>
            <a:prstDash val="solid"/>
          </a:ln>
        </p:spPr>
      </p:sp>
      <p:sp>
        <p:nvSpPr>
          <p:cNvPr id="14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Why a risk committee should care: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both findings 2 and 3 are interventions that leave their target metric unchanged while silently degrading a conduct or data-protection outcome. Monitoring only the target metric would have missed both.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4: no control has yet been shown to work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103120"/>
                <a:gridCol w="457200"/>
                <a:gridCol w="12801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Desk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Primary metric, no guard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With policy cards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Lending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53% (40–66%, n 51)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47% (34–60%)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0.51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Collections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72% (56–84%, n 36)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76% (59–87%)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1.0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Complaints (root cause)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25% (16–38%, n 55)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31% (20–44%)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0.45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not supported; adverse on redress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Disputes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68% (52–80%, n 40)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identical: the cards did not act on this book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Servicing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94% (80–98%, n 33)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 change at this n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inconclusive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Fraud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93% (77–98%, n 27)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person at the SAR stage reads identically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inconclusive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Onboarding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100% (90–100%, n 33)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nothing for a control to improve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</a:rPr>
                        <a:t>untestable (ceiling)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verdicts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182880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None is supported. That is deliberate: the designs refuse to credit an effect they cannot detect.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Most designs are underpowered at these sizes: fewer than 30 cells a side, or a minimum detectable difference far above the 5 points aimed for.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lending rules-only executor reads 100% against 53%; most likely the rule agreeing with itself, not separately checked.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person at the lending decision reads 53%, the same as the bot alone. Why was not examined.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Cells that ended in ERROR are not yet diagnosed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8638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ERROR cell is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182880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stage that did not produce the output its schema asked for. A live model can do that for reasons about the model, the prompt or the desk.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Complaints 44 of 110, fraud 37 of 108, advice 22 of 124, collections 8 of 74, lending 13 of 306.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They are scored as the evaluator sees them, which moves every headline on those desks.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sampled story per outcome is committed for each design; triage has not started.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Fraud is also the heaviest desk: about 107k tokens per case (70k with the stack) and 2,490 cassette entries.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WP169: a live customer across the desk runs end to end</a:t>
            </a:r>
            <a:endParaRPr lang="en-US" sz="2800" dirty="0"/>
          </a:p>
        </p:txBody>
      </p:sp>
      <p:sp>
        <p:nvSpPr>
          <p:cNvPr id="4" name="col 0"/>
          <p:cNvSpPr/>
          <p:nvPr/>
        </p:nvSpPr>
        <p:spPr>
          <a:xfrm>
            <a:off x="548640" y="1417320"/>
            <a:ext cx="540867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desk's own scripted visitor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needs met (80–98%, n 33)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11,775 tokens per case · 66 cells</a:t>
            </a:r>
            <a:endParaRPr lang="en-US" sz="1200" dirty="0"/>
          </a:p>
        </p:txBody>
      </p:sp>
      <p:sp>
        <p:nvSpPr>
          <p:cNvPr id="9" name="col 1"/>
          <p:cNvSpPr/>
          <p:nvPr/>
        </p:nvSpPr>
        <p:spPr>
          <a:xfrm>
            <a:off x="6231636" y="1417320"/>
            <a:ext cx="540867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16002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customer (the 122B as both bot and customer)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210312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505956" y="292608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needs met (81–100%, n 16)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05956" y="32918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8,735 tokens per case · 32 cells, all complete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No detectable difference: the intervals overlap and the books differ in size. This is not evidence that a talking customer helps.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What it demonstrates: a conversation between two live models runs end to end on the live tier, records into one cassette, and replays exactly. Each line the customer says is a seat.said event on the bot's trace.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Weakness visible in the stories: the persona is drawn by cohort, not by the request, so a customer may open about savings when the case is a lost card. The bot copes; a request-matched persona would be a fairer test.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live tier's own variance: temperature 0 is not repeatable</a:t>
            </a:r>
            <a:endParaRPr lang="en-US" sz="2800" dirty="0"/>
          </a:p>
        </p:txBody>
      </p:sp>
      <p:sp>
        <p:nvSpPr>
          <p:cNvPr id="4" name="stat card 63%"/>
          <p:cNvSpPr/>
          <p:nvPr/>
        </p:nvSpPr>
        <p:spPr>
          <a:xfrm>
            <a:off x="548640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the 488 prompts both recordings asked were answered with the same call (same tool, same arguments)</a:t>
            </a:r>
            <a:endParaRPr lang="en-US" sz="1100" dirty="0"/>
          </a:p>
        </p:txBody>
      </p:sp>
      <p:sp>
        <p:nvSpPr>
          <p:cNvPr id="7" name="stat card 8%"/>
          <p:cNvSpPr/>
          <p:nvPr/>
        </p:nvSpPr>
        <p:spPr>
          <a:xfrm>
            <a:off x="3390138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73018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573018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were answered with the same words as well</a:t>
            </a:r>
            <a:endParaRPr lang="en-US" sz="1100" dirty="0"/>
          </a:p>
        </p:txBody>
      </p:sp>
      <p:sp>
        <p:nvSpPr>
          <p:cNvPr id="10" name="stat card 91%"/>
          <p:cNvSpPr/>
          <p:nvPr/>
        </p:nvSpPr>
        <p:spPr>
          <a:xfrm>
            <a:off x="6231636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4516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14516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the 306 cases both recordings decided reached the same verdict</a:t>
            </a:r>
            <a:endParaRPr lang="en-US" sz="1100" dirty="0"/>
          </a:p>
        </p:txBody>
      </p:sp>
      <p:sp>
        <p:nvSpPr>
          <p:cNvPr id="13" name="stat card 0.0 pts"/>
          <p:cNvSpPr/>
          <p:nvPr/>
        </p:nvSpPr>
        <p:spPr>
          <a:xfrm>
            <a:off x="9073134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56014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pts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256014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difference in the headline: 53% (40–66%, n 51) in both recordings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9184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1,361 prompts were asked by only one recording: a different earlier answer leads to a different later prompt, so the two runs diverge in path while agreeing in aggregate.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Finish reasons: all tool_call in the first recording, all but two in the second; none cut off by the 1,024-token limit.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Temperature 0 is not deterministic on this serving stack. Batching and speculative decoding move the numerics with whatever else is in flight.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aggregate is stable here; individual calls and cases are not. Any control whose effect is smaller than this noise cannot be credited from one recording, which is exactly what the underpowered flags say.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Six defects found on the way, each fixed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  <a:gridCol w="36850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What happened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Cause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35 of 791 replies (4.4%) cut off in the first lending recording; agreement read 10 of 23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Stage agents inherited the starter's 256-token reply limit: a measurement of the cap, not the model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1,024-token limit on every live build; recording discarded; no later reply was cut off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28 minutes of lending recording discarded at the end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Credential guard refused to write: a 3-character placeholder guard key in .env matched ordinary words in replies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Variables under 8 characters treated as placeholders; recorder stops at the first held credential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Cassettes about 14 MB each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Raw wire chunks recorded with every answer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Slim recording (about 1 MB); session responses slimmed identically so replay matches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A live brain asked its provider for the model "mock"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The brain's cartridge id never reached the agent's brain slot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The campaign now applies it, with a test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With a live customer, 26 of 32 cells ended ERROR on replay (cassette miss)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Only brains mapped to a cassette were recorded; the customer's brain id differed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Customer shares the brain's id; one recording writes both into one cassette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Synthetic-data sweep flagged Luhn-valid 16-digit floats in result JSON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Statistics, not card numbers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</a:rPr>
                        <a:t>Live sweep covers cassettes and stories only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llout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allout dot"/>
          <p:cNvSpPr/>
          <p:nvPr/>
        </p:nvSpPr>
        <p:spPr>
          <a:xfrm>
            <a:off x="713232" y="553212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51560" y="5440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Lessons: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live tier must record finish reasons and treat any truncation as invalidating; guards need their own smoke tests; and failing at the first held credential, not at the end, is the right failure mode.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Limits of the evidence</a:t>
            </a:r>
            <a:endParaRPr lang="en-US" sz="2800" dirty="0"/>
          </a:p>
        </p:txBody>
      </p:sp>
      <p:sp>
        <p:nvSpPr>
          <p:cNvPr id="4" name="limit 0"/>
          <p:cNvSpPr/>
          <p:nvPr/>
        </p:nvSpPr>
        <p:spPr>
          <a:xfrm>
            <a:off x="548640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sample, one model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design is a single recording of one 122B model on one serving stack. The second lending recording shows the aggregate reproducing, but only for that design.</a:t>
            </a:r>
            <a:endParaRPr lang="en-US" sz="1200" dirty="0"/>
          </a:p>
        </p:txBody>
      </p:sp>
      <p:sp>
        <p:nvSpPr>
          <p:cNvPr id="9" name="limit 1"/>
          <p:cNvSpPr/>
          <p:nvPr/>
        </p:nvSpPr>
        <p:spPr>
          <a:xfrm>
            <a:off x="4337304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68824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Most effects are underpowered. Verdicts are inconclusive, untestable or not-supported, deliberately; none is supported.</a:t>
            </a:r>
            <a:endParaRPr lang="en-US" sz="1200" dirty="0"/>
          </a:p>
        </p:txBody>
      </p:sp>
      <p:sp>
        <p:nvSpPr>
          <p:cNvPr id="14" name="limit 2"/>
          <p:cNvSpPr/>
          <p:nvPr/>
        </p:nvSpPr>
        <p:spPr>
          <a:xfrm>
            <a:off x="8125968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bank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customer, case and record is generated; the rules the bot is scored against are this repository's rules, not a regulator's.</a:t>
            </a:r>
            <a:endParaRPr lang="en-US" sz="1200" dirty="0"/>
          </a:p>
        </p:txBody>
      </p:sp>
      <p:sp>
        <p:nvSpPr>
          <p:cNvPr id="19" name="limit 3"/>
          <p:cNvSpPr/>
          <p:nvPr/>
        </p:nvSpPr>
        <p:spPr>
          <a:xfrm>
            <a:off x="548640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4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cells not diagnosed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Complaints 44 of 110, fraud 37 of 108, advice 22 of 124. Model, prompt or desk; not yet separated.</a:t>
            </a:r>
            <a:endParaRPr lang="en-US" sz="1200" dirty="0"/>
          </a:p>
        </p:txBody>
      </p:sp>
      <p:sp>
        <p:nvSpPr>
          <p:cNvPr id="24" name="limit 4"/>
          <p:cNvSpPr/>
          <p:nvPr/>
        </p:nvSpPr>
        <p:spPr>
          <a:xfrm>
            <a:off x="4337304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 5"/>
          <p:cNvSpPr/>
          <p:nvPr/>
        </p:nvSpPr>
        <p:spPr>
          <a:xfrm>
            <a:off x="4565904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590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68824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not yet updated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65904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Control Effectiveness Register and Control Inventory still read the scripted and fallible columns.</a:t>
            </a:r>
            <a:endParaRPr lang="en-US" sz="1200" dirty="0"/>
          </a:p>
        </p:txBody>
      </p:sp>
      <p:sp>
        <p:nvSpPr>
          <p:cNvPr id="29" name="limit 5"/>
          <p:cNvSpPr/>
          <p:nvPr/>
        </p:nvSpPr>
        <p:spPr>
          <a:xfrm>
            <a:off x="8125968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tep 6"/>
          <p:cNvSpPr/>
          <p:nvPr/>
        </p:nvSpPr>
        <p:spPr>
          <a:xfrm>
            <a:off x="8354568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456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857488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recorded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54568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Scenario designs (controls, gate-presets) were not run live; no edition serves a cassette, so the Workshop's live column is empty.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4" name="c dot 0"/>
          <p:cNvSpPr/>
          <p:nvPr/>
        </p:nvSpPr>
        <p:spPr>
          <a:xfrm>
            <a:off x="548640" y="14447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 assumption is falsified as a uniform number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3716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Four desks far worse than 90%, two better. Conclusions resting on the fallible tier's 10% are provisional until re-derived against measured, desk-shaped error models.</a:t>
            </a:r>
            <a:endParaRPr lang="en-US" sz="1200" dirty="0"/>
          </a:p>
        </p:txBody>
      </p:sp>
      <p:sp>
        <p:nvSpPr>
          <p:cNvPr id="7" name="c dot 1"/>
          <p:cNvSpPr/>
          <p:nvPr/>
        </p:nvSpPr>
        <p:spPr>
          <a:xfrm>
            <a:off x="548640" y="235915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are not shown effective; two have adverse side-effects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2860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policy-card stack and the relational context each left their target metric unchanged while collapsing a conduct or data-protection property. The first findings with p-values that survive the noise point the wrong way.</a:t>
            </a:r>
            <a:endParaRPr lang="en-US" sz="1200" dirty="0"/>
          </a:p>
        </p:txBody>
      </p:sp>
      <p:sp>
        <p:nvSpPr>
          <p:cNvPr id="10" name="c dot 2"/>
          <p:cNvSpPr/>
          <p:nvPr/>
        </p:nvSpPr>
        <p:spPr>
          <a:xfrm>
            <a:off x="548640" y="32735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Multi-property scoring is what caught them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2004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Scoring several properties on every desk, not only the one a control is aimed at, is why the side-effects are visible. It should be non-negotiable in any real-bank equivalent.</a:t>
            </a:r>
            <a:endParaRPr lang="en-US" sz="1200" dirty="0"/>
          </a:p>
        </p:txBody>
      </p:sp>
      <p:sp>
        <p:nvSpPr>
          <p:cNvPr id="13" name="c dot 3"/>
          <p:cNvSpPr/>
          <p:nvPr/>
        </p:nvSpPr>
        <p:spPr>
          <a:xfrm>
            <a:off x="548640" y="41879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4114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must be measured, not assumed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1148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Temperature 0 on a batched, speculating serving stack is not deterministic. The second recording gives a noise floor every future claim must clear.</a:t>
            </a:r>
            <a:endParaRPr lang="en-US" sz="1200" dirty="0"/>
          </a:p>
        </p:txBody>
      </p:sp>
      <p:sp>
        <p:nvSpPr>
          <p:cNvPr id="16" name="c dot 4"/>
          <p:cNvSpPr/>
          <p:nvPr/>
        </p:nvSpPr>
        <p:spPr>
          <a:xfrm>
            <a:off x="548640" y="51023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5029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infrastructure is ready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50292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Derive, record, commit, verify; CI replaying every number offline; two-model conversations in one cassette. Remaining work is power and diagnosis, not plumbing.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Recommended next steps</a:t>
            </a:r>
            <a:endParaRPr lang="en-US" sz="2800" dirty="0"/>
          </a:p>
        </p:txBody>
      </p:sp>
      <p:sp>
        <p:nvSpPr>
          <p:cNvPr id="4" name="horizon 0"/>
          <p:cNvSpPr/>
          <p:nvPr/>
        </p:nvSpPr>
        <p:spPr>
          <a:xfrm>
            <a:off x="548640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 dot 0"/>
          <p:cNvSpPr/>
          <p:nvPr/>
        </p:nvSpPr>
        <p:spPr>
          <a:xfrm>
            <a:off x="777240" y="157276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Diagnose the complaints redress collapse from the committed stories: is the stack blocking a path, or changing how a live bot proposes redress?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chemeClr val="tx1"/>
                </a:solidFill>
              </a:rPr>
              <a:t>Diagnose the advice data-minimisation failure under relational context; test a second model or prompt.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chemeClr val="tx1"/>
                </a:solidFill>
              </a:rPr>
              <a:t>Triage ERROR cells (complaints, fraud, advice) into model, prompt and desk causes; decide how each is scored.</a:t>
            </a:r>
            <a:endParaRPr lang="en-US" sz="1200" dirty="0"/>
          </a:p>
        </p:txBody>
      </p:sp>
      <p:sp>
        <p:nvSpPr>
          <p:cNvPr id="8" name="horizon 1"/>
          <p:cNvSpPr/>
          <p:nvPr/>
        </p:nvSpPr>
        <p:spPr>
          <a:xfrm>
            <a:off x="4337304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 dot 1"/>
          <p:cNvSpPr/>
          <p:nvPr/>
        </p:nvSpPr>
        <p:spPr>
          <a:xfrm>
            <a:off x="4565904" y="157276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1664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term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65904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chemeClr val="tx1"/>
                </a:solidFill>
              </a:rPr>
              <a:t>Investigate the four low desks, starting with whether complaints truth, rule and register agree (WP155).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chemeClr val="tx1"/>
                </a:solidFill>
              </a:rPr>
              <a:t>Replace the uniform 10% with desk-shaped error models fitted to the cassettes (WP170); re-run the fallible tier.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</a:rPr>
              <a:t>Fold the live column into the Control Effectiveness Register and Control Inventory, carrying the verdict vocabulary.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chemeClr val="tx1"/>
                </a:solidFill>
              </a:rPr>
              <a:t>Set power targets in advance: 30+ cells a side, MDD of 5 points, every design recorded at least twice.</a:t>
            </a:r>
            <a:endParaRPr lang="en-US" sz="1200" dirty="0"/>
          </a:p>
        </p:txBody>
      </p:sp>
      <p:sp>
        <p:nvSpPr>
          <p:cNvPr id="12" name="horizon 2"/>
          <p:cNvSpPr/>
          <p:nvPr/>
        </p:nvSpPr>
        <p:spPr>
          <a:xfrm>
            <a:off x="8125968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h dot 2"/>
          <p:cNvSpPr/>
          <p:nvPr/>
        </p:nvSpPr>
        <p:spPr>
          <a:xfrm>
            <a:off x="8354568" y="15727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20328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term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54568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chemeClr val="tx1"/>
                </a:solidFill>
              </a:rPr>
              <a:t>Record the scenario designs (controls, gate-presets) live; serve a cassette in an edition so the Workshop's live column fills.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chemeClr val="tx1"/>
                </a:solidFill>
              </a:rPr>
              <a:t>Add a second model (another local model, and a frontier model via a hosted key) to separate model-specific findings from general ones.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0"/>
            </a:pPr>
            <a:r>
              <a:rPr lang="en-US" sz="1200" dirty="0">
                <a:solidFill>
                  <a:schemeClr val="tx1"/>
                </a:solidFill>
              </a:rPr>
              <a:t>Match live-customer personas to the request; seat live customers on desks beyond servicing.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1"/>
            </a:pPr>
            <a:r>
              <a:rPr lang="en-US" sz="1200" dirty="0">
                <a:solidFill>
                  <a:schemeClr val="tx1"/>
                </a:solidFill>
              </a:rPr>
              <a:t>Verify the rules-only 100% and the bot-with-a-person result on lending.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Decision requested of the committee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5"/>
                </a:solidFill>
              </a:rPr>
              <a:t>1.  Treat the live tier as the programme's primary evidence base from this point.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5"/>
                </a:solidFill>
              </a:rPr>
              <a:t>2.  Keep the fallible tier only as a calibrated stand-in whose error models are derived from the live cassettes.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3.  Add no further controls to the complaints or advice desks until the two adverse effects have been diagnosed and reported back.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Evidence: docs/evidence/live/RUNS-AND-FINDINGS.md and the committed cassettes, results and stories beside it. Every figure replays offline in CI.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 Bank Live Tier">
  <a:themeElements>
    <a:clrScheme name="Robo Bank Live Tier">
      <a:dk1>
        <a:srgbClr val="1F2A37"/>
      </a:dk1>
      <a:lt1>
        <a:srgbClr val="FFFFFF"/>
      </a:lt1>
      <a:dk2>
        <a:srgbClr val="4B5563"/>
      </a:dk2>
      <a:lt2>
        <a:srgbClr val="F3F4F6"/>
      </a:lt2>
      <a:accent1>
        <a:srgbClr val="0B8F9D"/>
      </a:accent1>
      <a:accent2>
        <a:srgbClr val="E08A1E"/>
      </a:accent2>
      <a:accent3>
        <a:srgbClr val="B3261E"/>
      </a:accent3>
      <a:accent4>
        <a:srgbClr val="6B7280"/>
      </a:accent4>
      <a:accent5>
        <a:srgbClr val="CBD5E1"/>
      </a:accent5>
      <a:accent6>
        <a:srgbClr val="E6F4F5"/>
      </a:accent6>
      <a:hlink>
        <a:srgbClr val="0B8F9D"/>
      </a:hlink>
      <a:folHlink>
        <a:srgbClr val="4B5563"/>
      </a:folHlink>
    </a:clrScheme>
    <a:fontScheme name="Robo Bank Live Ti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live tier: runs and findings</dc:title>
  <dc:subject>Technology Risk Committee</dc:subject>
  <dc:creator>Craft A Bot programme</dc:creator>
  <cp:lastModifiedBy>Craft A Bot programme</cp:lastModifiedBy>
  <cp:revision>1</cp:revision>
  <dcterms:created xsi:type="dcterms:W3CDTF">2026-10-06T15:26:38Z</dcterms:created>
  <dcterms:modified xsi:type="dcterms:W3CDTF">2026-10-06T15:26:38Z</dcterms:modified>
</cp:coreProperties>
</file>