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f1ff25-dc89-d672-cc9d-f0b043f34c1e}">
          <p14:sldIdLst>
            <p14:sldId id="256"/>
            <p14:sldId id="257"/>
          </p14:sldIdLst>
        </p14:section>
        <p14:section name="Why a second recording" id="{6b190c29-1a06-cb19-78cb-24e9436db612}">
          <p14:sldIdLst>
            <p14:sldId id="258"/>
            <p14:sldId id="259"/>
            <p14:sldId id="260"/>
          </p14:sldIdLst>
        </p14:section>
        <p14:section name="What was changed" id="{661e6f1b-2659-51f4-b44f-1873433d2801}">
          <p14:sldIdLst>
            <p14:sldId id="261"/>
            <p14:sldId id="262"/>
            <p14:sldId id="263"/>
            <p14:sldId id="264"/>
          </p14:sldIdLst>
        </p14:section>
        <p14:section name="Results" id="{efe4eff8-6c98-0edd-fc50-191cccf1456c}">
          <p14:sldIdLst>
            <p14:sldId id="265"/>
            <p14:sldId id="266"/>
            <p14:sldId id="267"/>
            <p14:sldId id="268"/>
            <p14:sldId id="269"/>
            <p14:sldId id="270"/>
            <p14:sldId id="271"/>
          </p14:sldIdLst>
        </p14:section>
        <p14:section name="Defects and limits" id="{7dce8852-bc15-0b69-23c5-0d5c2ef98cc9}">
          <p14:sldIdLst>
            <p14:sldId id="272"/>
            <p14:sldId id="273"/>
          </p14:sldIdLst>
        </p14:section>
        <p14:section name="Conclusions and next steps" id="{d412de4c-ac04-0fa2-33e0-d9e442936738}">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Recording artefact (cassette-miss)</c:v>
                </c:pt>
              </c:strCache>
            </c:strRef>
          </c:tx>
          <c:spPr>
            <a:solidFill>
              <a:srgbClr val="C4CCD3"/>
            </a:solidFill>
            <a:effectLst/>
          </c:spPr>
          <c:invertIfNegative val="0"/>
          <c:dLbls>
            <c:numFmt formatCode="0&quot;%&quot;" sourceLinked="0"/>
            <c:txPr>
              <a:bodyPr/>
              <a:lstStyle/>
              <a:p>
                <a:pPr>
                  <a:defRPr b="0" i="0" strike="noStrike" sz="1000" u="none">
                    <a:solidFill>
                      <a:srgbClr val="10233A"/>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Complaints</c:v>
                  </c:pt>
                  <c:pt idx="1">
                    <c:v>Fraud</c:v>
                  </c:pt>
                  <c:pt idx="2">
                    <c:v>Advice</c:v>
                  </c:pt>
                </c:lvl>
              </c:multiLvlStrCache>
            </c:multiLvlStrRef>
          </c:cat>
          <c:val>
            <c:numRef>
              <c:f>Sheet1!$B$2:$B$4</c:f>
              <c:numCache>
                <c:formatCode>General</c:formatCode>
                <c:ptCount val="3"/>
                <c:pt idx="0">
                  <c:v>42</c:v>
                </c:pt>
                <c:pt idx="1">
                  <c:v>9</c:v>
                </c:pt>
                <c:pt idx="2">
                  <c:v>18</c:v>
                </c:pt>
              </c:numCache>
            </c:numRef>
          </c:val>
        </c:ser>
        <c:ser>
          <c:idx val="1"/>
          <c:order val="1"/>
          <c:tx>
            <c:strRef>
              <c:f>Sheet1!$C$1</c:f>
              <c:strCache>
                <c:ptCount val="1"/>
                <c:pt idx="0">
                  <c:v>Desk: the interface hid what to do</c:v>
                </c:pt>
              </c:strCache>
            </c:strRef>
          </c:tx>
          <c:spPr>
            <a:solidFill>
              <a:srgbClr val="A8781F"/>
            </a:solidFill>
            <a:effectLst/>
          </c:spPr>
          <c:invertIfNegative val="0"/>
          <c:dLbls>
            <c:numFmt formatCode="0&quot;%&quot;" sourceLinked="0"/>
            <c:txPr>
              <a:bodyPr/>
              <a:lstStyle/>
              <a:p>
                <a:pPr>
                  <a:defRPr b="0" i="0" strike="noStrike" sz="1000" u="none">
                    <a:solidFill>
                      <a:srgbClr val="10233A"/>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Complaints</c:v>
                  </c:pt>
                  <c:pt idx="1">
                    <c:v>Fraud</c:v>
                  </c:pt>
                  <c:pt idx="2">
                    <c:v>Advice</c:v>
                  </c:pt>
                </c:lvl>
              </c:multiLvlStrCache>
            </c:multiLvlStrRef>
          </c:cat>
          <c:val>
            <c:numRef>
              <c:f>Sheet1!$C$2:$C$4</c:f>
              <c:numCache>
                <c:formatCode>General</c:formatCode>
                <c:ptCount val="3"/>
                <c:pt idx="0">
                  <c:v>2</c:v>
                </c:pt>
                <c:pt idx="1">
                  <c:v>16</c:v>
                </c:pt>
                <c:pt idx="2">
                  <c:v>4</c:v>
                </c:pt>
              </c:numCache>
            </c:numRef>
          </c:val>
        </c:ser>
        <c:ser>
          <c:idx val="2"/>
          <c:order val="2"/>
          <c:tx>
            <c:strRef>
              <c:f>Sheet1!$D$1</c:f>
              <c:strCache>
                <c:ptCount val="1"/>
                <c:pt idx="0">
                  <c:v>Model, with prompt and desk contributing</c:v>
                </c:pt>
              </c:strCache>
            </c:strRef>
          </c:tx>
          <c:spPr>
            <a:solidFill>
              <a:srgbClr val="0E2A4A"/>
            </a:solidFill>
            <a:effectLst/>
          </c:spPr>
          <c:invertIfNegative val="0"/>
          <c:dLbls>
            <c:numFmt formatCode="0&quot;%&quot;" sourceLinked="0"/>
            <c:txPr>
              <a:bodyPr/>
              <a:lstStyle/>
              <a:p>
                <a:pPr>
                  <a:defRPr b="0" i="0" strike="noStrike" sz="1000" u="none">
                    <a:solidFill>
                      <a:srgbClr val="10233A"/>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Complaints</c:v>
                  </c:pt>
                  <c:pt idx="1">
                    <c:v>Fraud</c:v>
                  </c:pt>
                  <c:pt idx="2">
                    <c:v>Advice</c:v>
                  </c:pt>
                </c:lvl>
              </c:multiLvlStrCache>
            </c:multiLvlStrRef>
          </c:cat>
          <c:val>
            <c:numRef>
              <c:f>Sheet1!$D$2:$D$4</c:f>
              <c:numCache>
                <c:formatCode>General</c:formatCode>
                <c:ptCount val="3"/>
                <c:pt idx="0">
                  <c:v>0</c:v>
                </c:pt>
                <c:pt idx="1">
                  <c:v>12</c:v>
                </c:pt>
                <c:pt idx="2">
                  <c:v>0</c:v>
                </c:pt>
              </c:numCache>
            </c:numRef>
          </c:val>
        </c:ser>
        <c:dLbls>
          <c:numFmt formatCode="0&quot;%&quot;" sourceLinked="0"/>
          <c:txPr>
            <a:bodyPr/>
            <a:lstStyle/>
            <a:p>
              <a:pPr>
                <a:defRPr b="0" i="0" strike="noStrike" sz="1000" u="none">
                  <a:solidFill>
                    <a:srgbClr val="10233A"/>
                  </a:solidFill>
                  <a:latin typeface="+mn-lt"/>
                </a:defRPr>
              </a:pPr>
            </a:p>
          </c:txPr>
          <c:dLblPos val="ct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b"/>
        <c:majorGridlines>
          <c:spPr>
            <a:ln w="6350" cap="flat">
              <a:solidFill>
                <a:srgbClr val="DDE2DF"/>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5"/>
          <c:w val="0.9"/>
          <c:h val="0.78"/>
        </c:manualLayout>
      </c:layout>
      <c:barChart>
        <c:barDir val="col"/>
        <c:grouping val="clustered"/>
        <c:varyColors val="0"/>
        <c:ser>
          <c:idx val="0"/>
          <c:order val="0"/>
          <c:tx>
            <c:strRef>
              <c:f>Sheet1!$B$1</c:f>
              <c:strCache>
                <c:ptCount val="1"/>
                <c:pt idx="0">
                  <c:v>6 Oct first recording (retracted)</c:v>
                </c:pt>
              </c:strCache>
            </c:strRef>
          </c:tx>
          <c:spPr>
            <a:solidFill>
              <a:srgbClr val="C4CCD3"/>
            </a:solidFill>
            <a:effectLst/>
          </c:spPr>
          <c:invertIfNegative val="0"/>
          <c:dLbls>
            <c:numFmt formatCode="0&quot;%&quot;" sourceLinked="0"/>
            <c:txPr>
              <a:bodyPr/>
              <a:lstStyle/>
              <a:p>
                <a:pPr>
                  <a:defRPr b="0" i="0" strike="noStrike" sz="900" u="none">
                    <a:solidFill>
                      <a:srgbClr val="10233A"/>
                    </a:solidFill>
                    <a:latin typeface="+mn-lt"/>
                  </a:defRPr>
                </a:pPr>
              </a:p>
            </c:txPr>
            <c:showLegendKey val="0"/>
            <c:showVal val="1"/>
            <c:showCatName val="0"/>
            <c:showSerName val="0"/>
            <c:showPercent val="0"/>
            <c:showBubbleSize val="0"/>
            <c:showLeaderLines val="0"/>
          </c:dLbls>
          <c:cat>
            <c:multiLvlStrRef>
              <c:f>Sheet1!$A$2:$A$9</c:f>
              <c:multiLvlStrCache>
                <c:ptCount val="8"/>
                <c:lvl>
                  <c:pt idx="0">
                    <c:v>Complaints</c:v>
                  </c:pt>
                  <c:pt idx="1">
                    <c:v>Lending</c:v>
                  </c:pt>
                  <c:pt idx="2">
                    <c:v>Disputes</c:v>
                  </c:pt>
                  <c:pt idx="3">
                    <c:v>Collections</c:v>
                  </c:pt>
                  <c:pt idx="4">
                    <c:v>Fraud</c:v>
                  </c:pt>
                  <c:pt idx="5">
                    <c:v>Servicing</c:v>
                  </c:pt>
                  <c:pt idx="6">
                    <c:v>Onboarding</c:v>
                  </c:pt>
                  <c:pt idx="7">
                    <c:v>Advice</c:v>
                  </c:pt>
                </c:lvl>
              </c:multiLvlStrCache>
            </c:multiLvlStrRef>
          </c:cat>
          <c:val>
            <c:numRef>
              <c:f>Sheet1!$B$2:$B$9</c:f>
              <c:numCache>
                <c:formatCode>General</c:formatCode>
                <c:ptCount val="8"/>
                <c:pt idx="0">
                  <c:v>25</c:v>
                </c:pt>
                <c:pt idx="1">
                  <c:v>53</c:v>
                </c:pt>
                <c:pt idx="2">
                  <c:v>68</c:v>
                </c:pt>
                <c:pt idx="3">
                  <c:v>72</c:v>
                </c:pt>
                <c:pt idx="4">
                  <c:v>93</c:v>
                </c:pt>
                <c:pt idx="5">
                  <c:v>94</c:v>
                </c:pt>
                <c:pt idx="6">
                  <c:v>100</c:v>
                </c:pt>
                <c:pt idx="7">
                  <c:v>100</c:v>
                </c:pt>
              </c:numCache>
            </c:numRef>
          </c:val>
        </c:ser>
        <c:ser>
          <c:idx val="1"/>
          <c:order val="1"/>
          <c:tx>
            <c:strRef>
              <c:f>Sheet1!$C$1</c:f>
              <c:strCache>
                <c:ptCount val="1"/>
                <c:pt idx="0">
                  <c:v>7–8 Oct re-record</c:v>
                </c:pt>
              </c:strCache>
            </c:strRef>
          </c:tx>
          <c:spPr>
            <a:solidFill>
              <a:srgbClr val="0E2A4A"/>
            </a:solidFill>
            <a:effectLst/>
          </c:spPr>
          <c:invertIfNegative val="0"/>
          <c:dLbls>
            <c:numFmt formatCode="0&quot;%&quot;" sourceLinked="0"/>
            <c:txPr>
              <a:bodyPr/>
              <a:lstStyle/>
              <a:p>
                <a:pPr>
                  <a:defRPr b="0" i="0" strike="noStrike" sz="900" u="none">
                    <a:solidFill>
                      <a:srgbClr val="10233A"/>
                    </a:solidFill>
                    <a:latin typeface="+mn-lt"/>
                  </a:defRPr>
                </a:pPr>
              </a:p>
            </c:txPr>
            <c:showLegendKey val="0"/>
            <c:showVal val="1"/>
            <c:showCatName val="0"/>
            <c:showSerName val="0"/>
            <c:showPercent val="0"/>
            <c:showBubbleSize val="0"/>
            <c:showLeaderLines val="0"/>
          </c:dLbls>
          <c:cat>
            <c:multiLvlStrRef>
              <c:f>Sheet1!$A$2:$A$9</c:f>
              <c:multiLvlStrCache>
                <c:ptCount val="8"/>
                <c:lvl>
                  <c:pt idx="0">
                    <c:v>Complaints</c:v>
                  </c:pt>
                  <c:pt idx="1">
                    <c:v>Lending</c:v>
                  </c:pt>
                  <c:pt idx="2">
                    <c:v>Disputes</c:v>
                  </c:pt>
                  <c:pt idx="3">
                    <c:v>Collections</c:v>
                  </c:pt>
                  <c:pt idx="4">
                    <c:v>Fraud</c:v>
                  </c:pt>
                  <c:pt idx="5">
                    <c:v>Servicing</c:v>
                  </c:pt>
                  <c:pt idx="6">
                    <c:v>Onboarding</c:v>
                  </c:pt>
                  <c:pt idx="7">
                    <c:v>Advice</c:v>
                  </c:pt>
                </c:lvl>
              </c:multiLvlStrCache>
            </c:multiLvlStrRef>
          </c:cat>
          <c:val>
            <c:numRef>
              <c:f>Sheet1!$C$2:$C$9</c:f>
              <c:numCache>
                <c:formatCode>General</c:formatCode>
                <c:ptCount val="8"/>
                <c:pt idx="0">
                  <c:v>99</c:v>
                </c:pt>
                <c:pt idx="1">
                  <c:v>100</c:v>
                </c:pt>
                <c:pt idx="2">
                  <c:v>81</c:v>
                </c:pt>
                <c:pt idx="3">
                  <c:v>100</c:v>
                </c:pt>
                <c:pt idx="4">
                  <c:v>96</c:v>
                </c:pt>
                <c:pt idx="5">
                  <c:v>100</c:v>
                </c:pt>
                <c:pt idx="6">
                  <c:v>100</c:v>
                </c:pt>
                <c:pt idx="7">
                  <c:v>100</c:v>
                </c:pt>
              </c:numCache>
            </c:numRef>
          </c:val>
        </c:ser>
        <c:dLbls>
          <c:numFmt formatCode="0&quot;%&quot;" sourceLinked="0"/>
          <c:txPr>
            <a:bodyPr/>
            <a:lstStyle/>
            <a:p>
              <a:pPr>
                <a:defRPr b="0" i="0" strike="noStrike" sz="900" u="none">
                  <a:solidFill>
                    <a:srgbClr val="1023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DE2DF"/>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No stack</c:v>
                </c:pt>
              </c:strCache>
            </c:strRef>
          </c:tx>
          <c:spPr>
            <a:solidFill>
              <a:srgbClr val="C4CCD3"/>
            </a:solidFill>
            <a:effectLst/>
          </c:spPr>
          <c:invertIfNegative val="0"/>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Sheet1!$A$2:$A$3</c:f>
              <c:multiLvlStrCache>
                <c:ptCount val="2"/>
                <c:lvl>
                  <c:pt idx="0">
                    <c:v>Reimbursed within the limit</c:v>
                  </c:pt>
                  <c:pt idx="1">
                    <c:v>Decision matches the rule</c:v>
                  </c:pt>
                </c:lvl>
              </c:multiLvlStrCache>
            </c:multiLvlStrRef>
          </c:cat>
          <c:val>
            <c:numRef>
              <c:f>Sheet1!$B$2:$B$3</c:f>
              <c:numCache>
                <c:formatCode>General</c:formatCode>
                <c:ptCount val="2"/>
                <c:pt idx="0">
                  <c:v>94</c:v>
                </c:pt>
                <c:pt idx="1">
                  <c:v>81</c:v>
                </c:pt>
              </c:numCache>
            </c:numRef>
          </c:val>
        </c:ser>
        <c:ser>
          <c:idx val="1"/>
          <c:order val="1"/>
          <c:tx>
            <c:strRef>
              <c:f>Sheet1!$C$1</c:f>
              <c:strCache>
                <c:ptCount val="1"/>
                <c:pt idx="0">
                  <c:v>Within-the-limit card</c:v>
                </c:pt>
              </c:strCache>
            </c:strRef>
          </c:tx>
          <c:spPr>
            <a:solidFill>
              <a:srgbClr val="0E2A4A"/>
            </a:solidFill>
            <a:effectLst/>
          </c:spPr>
          <c:invertIfNegative val="0"/>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Sheet1!$A$2:$A$3</c:f>
              <c:multiLvlStrCache>
                <c:ptCount val="2"/>
                <c:lvl>
                  <c:pt idx="0">
                    <c:v>Reimbursed within the limit</c:v>
                  </c:pt>
                  <c:pt idx="1">
                    <c:v>Decision matches the rule</c:v>
                  </c:pt>
                </c:lvl>
              </c:multiLvlStrCache>
            </c:multiLvlStrRef>
          </c:cat>
          <c:val>
            <c:numRef>
              <c:f>Sheet1!$C$2:$C$3</c:f>
              <c:numCache>
                <c:formatCode>General</c:formatCode>
                <c:ptCount val="2"/>
                <c:pt idx="0">
                  <c:v>100</c:v>
                </c:pt>
                <c:pt idx="1">
                  <c:v>80</c:v>
                </c:pt>
              </c:numCache>
            </c:numRef>
          </c:val>
        </c:ser>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DE2DF"/>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Same call</c:v>
                </c:pt>
              </c:strCache>
            </c:strRef>
          </c:tx>
          <c:spPr>
            <a:solidFill>
              <a:srgbClr val="0E2A4A"/>
            </a:solidFill>
            <a:effectLst/>
          </c:spPr>
          <c:invertIfNegative val="0"/>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Sheet1!$A$2:$A$6</c:f>
              <c:multiLvlStrCache>
                <c:ptCount val="5"/>
                <c:lvl>
                  <c:pt idx="0">
                    <c:v>spark-619c alone, T=0</c:v>
                  </c:pt>
                  <c:pt idx="1">
                    <c:v>spark-ef08 alone, T=0</c:v>
                  </c:pt>
                  <c:pt idx="2">
                    <c:v>the pair, T=0</c:v>
                  </c:pt>
                  <c:pt idx="3">
                    <c:v>the pair, T=0, seed</c:v>
                  </c:pt>
                  <c:pt idx="4">
                    <c:v>the pair, T=0.7, seed</c:v>
                  </c:pt>
                </c:lvl>
              </c:multiLvlStrCache>
            </c:multiLvlStrRef>
          </c:cat>
          <c:val>
            <c:numRef>
              <c:f>Sheet1!$B$2:$B$6</c:f>
              <c:numCache>
                <c:formatCode>General</c:formatCode>
                <c:ptCount val="5"/>
                <c:pt idx="0">
                  <c:v>93</c:v>
                </c:pt>
                <c:pt idx="1">
                  <c:v>98</c:v>
                </c:pt>
                <c:pt idx="2">
                  <c:v>93</c:v>
                </c:pt>
                <c:pt idx="3">
                  <c:v>93</c:v>
                </c:pt>
                <c:pt idx="4">
                  <c:v>88</c:v>
                </c:pt>
              </c:numCache>
            </c:numRef>
          </c:val>
        </c:ser>
        <c:ser>
          <c:idx val="1"/>
          <c:order val="1"/>
          <c:tx>
            <c:strRef>
              <c:f>Sheet1!$C$1</c:f>
              <c:strCache>
                <c:ptCount val="1"/>
                <c:pt idx="0">
                  <c:v>Same words</c:v>
                </c:pt>
              </c:strCache>
            </c:strRef>
          </c:tx>
          <c:spPr>
            <a:solidFill>
              <a:srgbClr val="A8781F"/>
            </a:solidFill>
            <a:effectLst/>
          </c:spPr>
          <c:invertIfNegative val="0"/>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Sheet1!$A$2:$A$6</c:f>
              <c:multiLvlStrCache>
                <c:ptCount val="5"/>
                <c:lvl>
                  <c:pt idx="0">
                    <c:v>spark-619c alone, T=0</c:v>
                  </c:pt>
                  <c:pt idx="1">
                    <c:v>spark-ef08 alone, T=0</c:v>
                  </c:pt>
                  <c:pt idx="2">
                    <c:v>the pair, T=0</c:v>
                  </c:pt>
                  <c:pt idx="3">
                    <c:v>the pair, T=0, seed</c:v>
                  </c:pt>
                  <c:pt idx="4">
                    <c:v>the pair, T=0.7, seed</c:v>
                  </c:pt>
                </c:lvl>
              </c:multiLvlStrCache>
            </c:multiLvlStrRef>
          </c:cat>
          <c:val>
            <c:numRef>
              <c:f>Sheet1!$C$2:$C$6</c:f>
              <c:numCache>
                <c:formatCode>General</c:formatCode>
                <c:ptCount val="5"/>
                <c:pt idx="0">
                  <c:v>10</c:v>
                </c:pt>
                <c:pt idx="1">
                  <c:v>14</c:v>
                </c:pt>
                <c:pt idx="2">
                  <c:v>7</c:v>
                </c:pt>
                <c:pt idx="3">
                  <c:v>11</c:v>
                </c:pt>
                <c:pt idx="4">
                  <c:v>4</c:v>
                </c:pt>
              </c:numCache>
            </c:numRef>
          </c:val>
        </c:ser>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DE2DF"/>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First recording (retracted)</c:v>
                </c:pt>
              </c:strCache>
            </c:strRef>
          </c:tx>
          <c:spPr>
            <a:solidFill>
              <a:srgbClr val="C4CCD3"/>
            </a:solidFill>
            <a:effectLst/>
          </c:spPr>
          <c:invertIfNegative val="0"/>
          <c:dLbls>
            <c:numFmt formatCode="0.0&quot;k&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Sheet1!$A$2:$A$5</c:f>
              <c:multiLvlStrCache>
                <c:ptCount val="4"/>
                <c:lvl>
                  <c:pt idx="0">
                    <c:v>Fraud</c:v>
                  </c:pt>
                  <c:pt idx="1">
                    <c:v>Lending</c:v>
                  </c:pt>
                  <c:pt idx="2">
                    <c:v>Servicing</c:v>
                  </c:pt>
                  <c:pt idx="3">
                    <c:v>Disputes</c:v>
                  </c:pt>
                </c:lvl>
              </c:multiLvlStrCache>
            </c:multiLvlStrRef>
          </c:cat>
          <c:val>
            <c:numRef>
              <c:f>Sheet1!$B$2:$B$5</c:f>
              <c:numCache>
                <c:formatCode>General</c:formatCode>
                <c:ptCount val="4"/>
                <c:pt idx="0">
                  <c:v>107</c:v>
                </c:pt>
                <c:pt idx="1">
                  <c:v>15</c:v>
                </c:pt>
                <c:pt idx="2">
                  <c:v>11.8</c:v>
                </c:pt>
                <c:pt idx="3">
                  <c:v>7.5</c:v>
                </c:pt>
              </c:numCache>
            </c:numRef>
          </c:val>
        </c:ser>
        <c:ser>
          <c:idx val="1"/>
          <c:order val="1"/>
          <c:tx>
            <c:strRef>
              <c:f>Sheet1!$C$1</c:f>
              <c:strCache>
                <c:ptCount val="1"/>
                <c:pt idx="0">
                  <c:v>Re-record</c:v>
                </c:pt>
              </c:strCache>
            </c:strRef>
          </c:tx>
          <c:spPr>
            <a:solidFill>
              <a:srgbClr val="0E2A4A"/>
            </a:solidFill>
            <a:effectLst/>
          </c:spPr>
          <c:invertIfNegative val="0"/>
          <c:dLbls>
            <c:numFmt formatCode="0.0&quot;k&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Sheet1!$A$2:$A$5</c:f>
              <c:multiLvlStrCache>
                <c:ptCount val="4"/>
                <c:lvl>
                  <c:pt idx="0">
                    <c:v>Fraud</c:v>
                  </c:pt>
                  <c:pt idx="1">
                    <c:v>Lending</c:v>
                  </c:pt>
                  <c:pt idx="2">
                    <c:v>Servicing</c:v>
                  </c:pt>
                  <c:pt idx="3">
                    <c:v>Disputes</c:v>
                  </c:pt>
                </c:lvl>
              </c:multiLvlStrCache>
            </c:multiLvlStrRef>
          </c:cat>
          <c:val>
            <c:numRef>
              <c:f>Sheet1!$C$2:$C$5</c:f>
              <c:numCache>
                <c:formatCode>General</c:formatCode>
                <c:ptCount val="4"/>
                <c:pt idx="0">
                  <c:v>33.4</c:v>
                </c:pt>
                <c:pt idx="1">
                  <c:v>12.4</c:v>
                </c:pt>
                <c:pt idx="2">
                  <c:v>7.8</c:v>
                </c:pt>
                <c:pt idx="3">
                  <c:v>8.1</c:v>
                </c:pt>
              </c:numCache>
            </c:numRef>
          </c:val>
        </c:ser>
        <c:dLbls>
          <c:numFmt formatCode="0.0&quot;k&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125"/>
          <c:min val="0"/>
        </c:scaling>
        <c:delete val="0"/>
        <c:axPos val="b"/>
        <c:majorGridlines>
          <c:spPr>
            <a:ln w="6350" cap="flat">
              <a:solidFill>
                <a:srgbClr val="DDE2DF"/>
              </a:solidFill>
              <a:prstDash val="solid"/>
              <a:round/>
            </a:ln>
          </c:spPr>
        </c:majorGridlines>
        <c:numFmt formatCode="0&quot;k&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deck supersedes the 6 October note. Between 6 and 8 October the first recording was triaged, the recorder and desks were rebuilt, and every design was recorded again, most twice. The 6 October figures are retracted.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and a decision. Lead with the retraction: it is the honest headline and the reason the rest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 October deck's four headline numbers, each with what the triage and diagnoses found. Every one was a measurement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103 ERROR cells replayed and read. The first cassette was keyed by prompt and kept the first answer; at temperature 0 the model does not repeat its words, so later cells hit prompts the cassette never held. The 34 real failures were 30–60 turn loops with desk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was prompted by a test and is held in place by software tests. The most consequential is the second: the rules had never been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matters. The plan's own gate before the 7-hour run (more than 2 of the 24 failing items still loop: stop) passed at 0 of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238 cells in four rounds before committing to the 7-hour run. The audit it prompted found the rules had never been in the prompt. That is the single biggest cause of the 6 October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Reading rule: synthetic bank, one model, two performances; intervals over items; verdicts by the register's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of the re-record. Wall time excludes the superseded first lending pass; with it the run was 7 h 02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Agreement with each desk's rule, reference configuration, first recording (retracted) against re-record. Four desks moved from 25–72% to 99–100%. Disputes at 81% is the model misclassifying one case in five in both 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Disputes with temptations. The Within-the-limit card caught every attempt to reimburse above the limit. Cost: 6 of 80 stack cells stopped by the guard as the bot retries; tokens 8,082 to 12,303 per case. Verdict inconclusive only because intervals overlap at n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table. Everything except disputes sits at or near 100%, so verdicts are untestable or inconclusive. That is about the model and the books, not about the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determinism probe (1,080 requests) and the trials. Same call 93–98%, same words 7–14%; a seed does not help; the pair adds no variance. pass^2 within a point or two of pass@1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per case fell because the loops the first recording measured are gone. Fraud 107k to 33k. Lending's first re-record lost 9% of bot cells to a desk fault in the explanation stage; fixed and re-recorded in 66 minutes at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from defect to test is the evidence that the programme finds faults rather than confirming assumptions. Shared in full: build and learn in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what this is not: one model, two performances, synthetic rules and data, ceilings, small n, designs changed between recordings, the register not yet reading the live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conclusions. The apparatus is now trustworthy; the remaining work is on the books and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actions in three horizons. The first is a design decision: replace the assumption rows. Nothing on this list is about building new controls; most controls currently have nothing to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the episode taught, as questions a reader can take to their own programme. Invite discussion and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chemeClr val="accent1"/>
          </a:solidFill>
          <a:ln w="12700">
            <a:solidFill>
              <a:schemeClr val="accent1"/>
            </a:solidFill>
            <a:prstDash val="solid"/>
          </a:ln>
        </p:spPr>
      </p:sp>
      <p:sp>
        <p:nvSpPr>
          <p:cNvPr id="3" name="Text 1"/>
          <p:cNvSpPr/>
          <p:nvPr>
            <p:ph idx="101" type="title" hasCustomPrompt="1"/>
          </p:nvPr>
        </p:nvSpPr>
        <p:spPr>
          <a:xfrm>
            <a:off x="548640" y="2148840"/>
            <a:ext cx="11091672" cy="155448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1"/>
          <p:cNvSpPr/>
          <p:nvPr>
            <p:ph idx="102" type="body" hasCustomPrompt="1"/>
          </p:nvPr>
        </p:nvSpPr>
        <p:spPr>
          <a:xfrm>
            <a:off x="548640" y="3840480"/>
            <a:ext cx="11091672" cy="146304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pic>
        <p:nvPicPr>
          <p:cNvPr id="5" name="Image 0" descr="/home/claude/report/brand/axiom-mark.png">    </p:cNvPr>
          <p:cNvPicPr>
            <a:picLocks noChangeAspect="1"/>
          </p:cNvPicPr>
          <p:nvPr/>
        </p:nvPicPr>
        <p:blipFill>
          <a:blip r:embed="rId1"/>
          <a:stretch>
            <a:fillRect/>
          </a:stretch>
        </p:blipFill>
        <p:spPr>
          <a:xfrm>
            <a:off x="548640" y="6345936"/>
            <a:ext cx="237744" cy="237744"/>
          </a:xfrm>
          <a:prstGeom prst="rect">
            <a:avLst/>
          </a:prstGeom>
        </p:spPr>
      </p:pic>
      <p:sp>
        <p:nvSpPr>
          <p:cNvPr id="6" name="Text 1"/>
          <p:cNvSpPr/>
          <p:nvPr/>
        </p:nvSpPr>
        <p:spPr>
          <a:xfrm>
            <a:off x="841248" y="6309360"/>
            <a:ext cx="566928" cy="310896"/>
          </a:xfrm>
          <a:prstGeom prst="rect">
            <a:avLst/>
          </a:prstGeom>
          <a:noFill/>
          <a:ln/>
        </p:spPr>
        <p:txBody>
          <a:bodyPr wrap="square" lIns="0" tIns="0" rIns="0" bIns="0" rtlCol="0" anchor="ctr"/>
          <a:lstStyle/>
          <a:p>
            <a:pPr indent="0" marL="0">
              <a:buNone/>
            </a:pPr>
            <a:r>
              <a:rPr lang="en-US" sz="1200" b="1" dirty="0">
                <a:solidFill>
                  <a:schemeClr val="tx1"/>
                </a:solidFill>
                <a:latin typeface="Newsreader" pitchFamily="34" charset="0"/>
                <a:ea typeface="Newsreader" pitchFamily="34" charset="-122"/>
                <a:cs typeface="Newsreader" pitchFamily="34" charset="-120"/>
              </a:rPr>
              <a:t>Axiom</a:t>
            </a:r>
            <a:endParaRPr lang="en-US" sz="1200" dirty="0"/>
          </a:p>
        </p:txBody>
      </p:sp>
      <p:sp>
        <p:nvSpPr>
          <p:cNvPr id="7" name="Text 2"/>
          <p:cNvSpPr/>
          <p:nvPr/>
        </p:nvSpPr>
        <p:spPr>
          <a:xfrm>
            <a:off x="1335024" y="6309360"/>
            <a:ext cx="822960" cy="310896"/>
          </a:xfrm>
          <a:prstGeom prst="rect">
            <a:avLst/>
          </a:prstGeom>
          <a:noFill/>
          <a:ln/>
        </p:spPr>
        <p:txBody>
          <a:bodyPr wrap="square" lIns="0" tIns="0" rIns="0" bIns="0" rtlCol="0" anchor="ctr"/>
          <a:lstStyle/>
          <a:p>
            <a:pPr indent="0" marL="0">
              <a:buNone/>
            </a:pPr>
            <a:r>
              <a:rPr lang="en-US" sz="1200" b="1" dirty="0">
                <a:solidFill>
                  <a:schemeClr val="accent3"/>
                </a:solidFill>
                <a:latin typeface="Newsreader" pitchFamily="34" charset="0"/>
                <a:ea typeface="Newsreader" pitchFamily="34" charset="-122"/>
                <a:cs typeface="Newsreader" pitchFamily="34" charset="-120"/>
              </a:rPr>
              <a:t>Verity</a:t>
            </a:r>
            <a:endParaRPr lang="en-US" sz="1200" dirty="0"/>
          </a:p>
        </p:txBody>
      </p:sp>
      <p:sp>
        <p:nvSpPr>
          <p:cNvPr id="8" name="Text 3"/>
          <p:cNvSpPr/>
          <p:nvPr/>
        </p:nvSpPr>
        <p:spPr>
          <a:xfrm>
            <a:off x="2377440" y="6309360"/>
            <a:ext cx="7863840" cy="310896"/>
          </a:xfrm>
          <a:prstGeom prst="rect">
            <a:avLst/>
          </a:prstGeom>
          <a:noFill/>
          <a:ln/>
        </p:spPr>
        <p:txBody>
          <a:bodyPr wrap="square" lIns="0" tIns="0" rIns="0" bIns="0" rtlCol="0" anchor="ctr"/>
          <a:lstStyle/>
          <a:p>
            <a:pPr indent="0" marL="0">
              <a:buNone/>
            </a:pPr>
            <a:r>
              <a:rPr lang="en-US" sz="750" dirty="0">
                <a:solidFill>
                  <a:schemeClr val="accent4"/>
                </a:solidFill>
                <a:latin typeface="IBM Plex Mono" pitchFamily="34" charset="0"/>
                <a:ea typeface="IBM Plex Mono" pitchFamily="34" charset="-122"/>
                <a:cs typeface="IBM Plex Mono" pitchFamily="34" charset="-120"/>
              </a:rPr>
              <a:t>RESEARCH NOTE  ·  RE-RECORDED 7–8 OCT 2026  ·  SYNTHETIC BANK  ·  ONE MODEL, TWO PERFORMANCES  ·  AXIOM-VERITY.COM</a:t>
            </a:r>
            <a:endParaRPr lang="en-US" sz="7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pic>
        <p:nvPicPr>
          <p:cNvPr id="3" name="Image 0" descr="/home/claude/report/brand/axiom-mark.png">    </p:cNvPr>
          <p:cNvPicPr>
            <a:picLocks noChangeAspect="1"/>
          </p:cNvPicPr>
          <p:nvPr/>
        </p:nvPicPr>
        <p:blipFill>
          <a:blip r:embed="rId1"/>
          <a:stretch>
            <a:fillRect/>
          </a:stretch>
        </p:blipFill>
        <p:spPr>
          <a:xfrm>
            <a:off x="548640" y="6345936"/>
            <a:ext cx="237744" cy="237744"/>
          </a:xfrm>
          <a:prstGeom prst="rect">
            <a:avLst/>
          </a:prstGeom>
        </p:spPr>
      </p:pic>
      <p:sp>
        <p:nvSpPr>
          <p:cNvPr id="4" name="Text 0"/>
          <p:cNvSpPr/>
          <p:nvPr/>
        </p:nvSpPr>
        <p:spPr>
          <a:xfrm>
            <a:off x="841248" y="6309360"/>
            <a:ext cx="566928" cy="310896"/>
          </a:xfrm>
          <a:prstGeom prst="rect">
            <a:avLst/>
          </a:prstGeom>
          <a:noFill/>
          <a:ln/>
        </p:spPr>
        <p:txBody>
          <a:bodyPr wrap="square" lIns="0" tIns="0" rIns="0" bIns="0" rtlCol="0" anchor="ctr"/>
          <a:lstStyle/>
          <a:p>
            <a:pPr indent="0" marL="0">
              <a:buNone/>
            </a:pPr>
            <a:r>
              <a:rPr lang="en-US" sz="1200" b="1" dirty="0">
                <a:solidFill>
                  <a:schemeClr val="tx1"/>
                </a:solidFill>
                <a:latin typeface="Newsreader" pitchFamily="34" charset="0"/>
                <a:ea typeface="Newsreader" pitchFamily="34" charset="-122"/>
                <a:cs typeface="Newsreader" pitchFamily="34" charset="-120"/>
              </a:rPr>
              <a:t>Axiom</a:t>
            </a:r>
            <a:endParaRPr lang="en-US" sz="1200" dirty="0"/>
          </a:p>
        </p:txBody>
      </p:sp>
      <p:sp>
        <p:nvSpPr>
          <p:cNvPr id="5" name="Text 1"/>
          <p:cNvSpPr/>
          <p:nvPr/>
        </p:nvSpPr>
        <p:spPr>
          <a:xfrm>
            <a:off x="1335024" y="6309360"/>
            <a:ext cx="822960" cy="310896"/>
          </a:xfrm>
          <a:prstGeom prst="rect">
            <a:avLst/>
          </a:prstGeom>
          <a:noFill/>
          <a:ln/>
        </p:spPr>
        <p:txBody>
          <a:bodyPr wrap="square" lIns="0" tIns="0" rIns="0" bIns="0" rtlCol="0" anchor="ctr"/>
          <a:lstStyle/>
          <a:p>
            <a:pPr indent="0" marL="0">
              <a:buNone/>
            </a:pPr>
            <a:r>
              <a:rPr lang="en-US" sz="1200" b="1" dirty="0">
                <a:solidFill>
                  <a:schemeClr val="accent3"/>
                </a:solidFill>
                <a:latin typeface="Newsreader" pitchFamily="34" charset="0"/>
                <a:ea typeface="Newsreader" pitchFamily="34" charset="-122"/>
                <a:cs typeface="Newsreader" pitchFamily="34" charset="-120"/>
              </a:rPr>
              <a:t>Verity</a:t>
            </a:r>
            <a:endParaRPr lang="en-US" sz="1200" dirty="0"/>
          </a:p>
        </p:txBody>
      </p:sp>
      <p:sp>
        <p:nvSpPr>
          <p:cNvPr id="6" name="Text 2"/>
          <p:cNvSpPr/>
          <p:nvPr/>
        </p:nvSpPr>
        <p:spPr>
          <a:xfrm>
            <a:off x="2377440" y="6309360"/>
            <a:ext cx="7863840" cy="310896"/>
          </a:xfrm>
          <a:prstGeom prst="rect">
            <a:avLst/>
          </a:prstGeom>
          <a:noFill/>
          <a:ln/>
        </p:spPr>
        <p:txBody>
          <a:bodyPr wrap="square" lIns="0" tIns="0" rIns="0" bIns="0" rtlCol="0" anchor="ctr"/>
          <a:lstStyle/>
          <a:p>
            <a:pPr indent="0" marL="0">
              <a:buNone/>
            </a:pPr>
            <a:r>
              <a:rPr lang="en-US" sz="750" dirty="0">
                <a:solidFill>
                  <a:schemeClr val="accent4"/>
                </a:solidFill>
                <a:latin typeface="IBM Plex Mono" pitchFamily="34" charset="0"/>
                <a:ea typeface="IBM Plex Mono" pitchFamily="34" charset="-122"/>
                <a:cs typeface="IBM Plex Mono" pitchFamily="34" charset="-120"/>
              </a:rPr>
              <a:t>RESEARCH NOTE  ·  RE-RECORDED 7–8 OCT 2026  ·  SYNTHETIC BANK  ·  ONE MODEL, TWO PERFORMANCES  ·  AXIOM-VERITY.COM</a:t>
            </a:r>
            <a:endParaRPr lang="en-US" sz="7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chemeClr val="accent1"/>
          </a:solidFill>
          <a:ln w="12700">
            <a:solidFill>
              <a:schemeClr val="accent1"/>
            </a:solidFill>
            <a:prstDash val="solid"/>
          </a:ln>
        </p:spPr>
      </p:sp>
      <p:sp>
        <p:nvSpPr>
          <p:cNvPr id="3" name="Text 1"/>
          <p:cNvSpPr/>
          <p:nvPr>
            <p:ph idx="101" type="title" hasCustomPrompt="1"/>
          </p:nvPr>
        </p:nvSpPr>
        <p:spPr>
          <a:xfrm>
            <a:off x="548640" y="2651760"/>
            <a:ext cx="11091672" cy="10972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1"/>
          <p:cNvSpPr/>
          <p:nvPr>
            <p:ph idx="102" type="body" hasCustomPrompt="1"/>
          </p:nvPr>
        </p:nvSpPr>
        <p:spPr>
          <a:xfrm>
            <a:off x="548640" y="3794760"/>
            <a:ext cx="11091672" cy="82296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pic>
        <p:nvPicPr>
          <p:cNvPr id="5" name="Image 0" descr="/home/claude/report/brand/axiom-mark.png">    </p:cNvPr>
          <p:cNvPicPr>
            <a:picLocks noChangeAspect="1"/>
          </p:cNvPicPr>
          <p:nvPr/>
        </p:nvPicPr>
        <p:blipFill>
          <a:blip r:embed="rId1"/>
          <a:stretch>
            <a:fillRect/>
          </a:stretch>
        </p:blipFill>
        <p:spPr>
          <a:xfrm>
            <a:off x="548640" y="6345936"/>
            <a:ext cx="237744" cy="237744"/>
          </a:xfrm>
          <a:prstGeom prst="rect">
            <a:avLst/>
          </a:prstGeom>
        </p:spPr>
      </p:pic>
      <p:sp>
        <p:nvSpPr>
          <p:cNvPr id="6" name="Text 1"/>
          <p:cNvSpPr/>
          <p:nvPr/>
        </p:nvSpPr>
        <p:spPr>
          <a:xfrm>
            <a:off x="841248" y="6309360"/>
            <a:ext cx="566928" cy="310896"/>
          </a:xfrm>
          <a:prstGeom prst="rect">
            <a:avLst/>
          </a:prstGeom>
          <a:noFill/>
          <a:ln/>
        </p:spPr>
        <p:txBody>
          <a:bodyPr wrap="square" lIns="0" tIns="0" rIns="0" bIns="0" rtlCol="0" anchor="ctr"/>
          <a:lstStyle/>
          <a:p>
            <a:pPr indent="0" marL="0">
              <a:buNone/>
            </a:pPr>
            <a:r>
              <a:rPr lang="en-US" sz="1200" b="1" dirty="0">
                <a:solidFill>
                  <a:schemeClr val="tx1"/>
                </a:solidFill>
                <a:latin typeface="Newsreader" pitchFamily="34" charset="0"/>
                <a:ea typeface="Newsreader" pitchFamily="34" charset="-122"/>
                <a:cs typeface="Newsreader" pitchFamily="34" charset="-120"/>
              </a:rPr>
              <a:t>Axiom</a:t>
            </a:r>
            <a:endParaRPr lang="en-US" sz="1200" dirty="0"/>
          </a:p>
        </p:txBody>
      </p:sp>
      <p:sp>
        <p:nvSpPr>
          <p:cNvPr id="7" name="Text 2"/>
          <p:cNvSpPr/>
          <p:nvPr/>
        </p:nvSpPr>
        <p:spPr>
          <a:xfrm>
            <a:off x="1335024" y="6309360"/>
            <a:ext cx="822960" cy="310896"/>
          </a:xfrm>
          <a:prstGeom prst="rect">
            <a:avLst/>
          </a:prstGeom>
          <a:noFill/>
          <a:ln/>
        </p:spPr>
        <p:txBody>
          <a:bodyPr wrap="square" lIns="0" tIns="0" rIns="0" bIns="0" rtlCol="0" anchor="ctr"/>
          <a:lstStyle/>
          <a:p>
            <a:pPr indent="0" marL="0">
              <a:buNone/>
            </a:pPr>
            <a:r>
              <a:rPr lang="en-US" sz="1200" b="1" dirty="0">
                <a:solidFill>
                  <a:schemeClr val="accent3"/>
                </a:solidFill>
                <a:latin typeface="Newsreader" pitchFamily="34" charset="0"/>
                <a:ea typeface="Newsreader" pitchFamily="34" charset="-122"/>
                <a:cs typeface="Newsreader" pitchFamily="34" charset="-120"/>
              </a:rPr>
              <a:t>Verity</a:t>
            </a:r>
            <a:endParaRPr lang="en-US" sz="1200" dirty="0"/>
          </a:p>
        </p:txBody>
      </p:sp>
      <p:sp>
        <p:nvSpPr>
          <p:cNvPr id="8" name="Text 3"/>
          <p:cNvSpPr/>
          <p:nvPr/>
        </p:nvSpPr>
        <p:spPr>
          <a:xfrm>
            <a:off x="2377440" y="6309360"/>
            <a:ext cx="7863840" cy="310896"/>
          </a:xfrm>
          <a:prstGeom prst="rect">
            <a:avLst/>
          </a:prstGeom>
          <a:noFill/>
          <a:ln/>
        </p:spPr>
        <p:txBody>
          <a:bodyPr wrap="square" lIns="0" tIns="0" rIns="0" bIns="0" rtlCol="0" anchor="ctr"/>
          <a:lstStyle/>
          <a:p>
            <a:pPr indent="0" marL="0">
              <a:buNone/>
            </a:pPr>
            <a:r>
              <a:rPr lang="en-US" sz="750" dirty="0">
                <a:solidFill>
                  <a:schemeClr val="accent4"/>
                </a:solidFill>
                <a:latin typeface="IBM Plex Mono" pitchFamily="34" charset="0"/>
                <a:ea typeface="IBM Plex Mono" pitchFamily="34" charset="-122"/>
                <a:cs typeface="IBM Plex Mono" pitchFamily="34" charset="-120"/>
              </a:rPr>
              <a:t>RESEARCH NOTE  ·  RE-RECORDED 7–8 OCT 2026  ·  SYNTHETIC BANK  ·  ONE MODEL, TWO PERFORMANCES  ·  AXIOM-VERITY.COM</a:t>
            </a:r>
            <a:endParaRPr lang="en-US" sz="7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2148840"/>
            <a:ext cx="11091672" cy="1554480"/>
          </a:xfrm>
          <a:prstGeom prst="rect">
            <a:avLst/>
          </a:prstGeom>
          <a:noFill/>
          <a:ln/>
        </p:spPr>
        <p:txBody>
          <a:bodyPr wrap="square" lIns="0" tIns="0" rIns="0" bIns="0" rtlCol="0" anchor="b"/>
          <a:lstStyle/>
          <a:p>
            <a:pPr algn="l" indent="0" marL="0">
              <a:buNone/>
            </a:pPr>
            <a:r>
              <a:rPr lang="en-US" sz="4400" b="1" dirty="0">
                <a:solidFill>
                  <a:schemeClr val="tx1"/>
                </a:solidFill>
              </a:rPr>
              <a:t>The live tier, re-recorded</a:t>
            </a:r>
            <a:endParaRPr lang="en-US" sz="4400" dirty="0"/>
          </a:p>
        </p:txBody>
      </p:sp>
      <p:sp>
        <p:nvSpPr>
          <p:cNvPr id="4" name="Text 1"/>
          <p:cNvSpPr/>
          <p:nvPr>
            <p:ph idx="102" type="body" hasCustomPrompt="1"/>
          </p:nvPr>
        </p:nvSpPr>
        <p:spPr>
          <a:xfrm>
            <a:off x="548640" y="3840480"/>
            <a:ext cx="11091672" cy="1463040"/>
          </a:xfrm>
          <a:prstGeom prst="rect">
            <a:avLst/>
          </a:prstGeom>
          <a:noFill/>
          <a:ln/>
        </p:spPr>
        <p:txBody>
          <a:bodyPr wrap="square" lIns="0" tIns="0" rIns="0" bIns="0" rtlCol="0" anchor="t"/>
          <a:lstStyle/>
          <a:p>
            <a:pPr indent="0" marL="0">
              <a:buNone/>
            </a:pPr>
            <a:r>
              <a:rPr lang="en-US" sz="1800" dirty="0">
                <a:solidFill>
                  <a:schemeClr val="tx2"/>
                </a:solidFill>
              </a:rPr>
              <a:t>What I published on 6 October was wrong. Here is what the faults were, what I changed, and what the re-record shows</a:t>
            </a:r>
            <a:endParaRPr lang="en-US" sz="1800" dirty="0"/>
          </a:p>
        </p:txBody>
      </p:sp>
      <p:pic>
        <p:nvPicPr>
          <p:cNvPr id="5" name="Image 0" descr="/home/claude/report/brand/axiom-mark.png">    </p:cNvPr>
          <p:cNvPicPr>
            <a:picLocks noChangeAspect="1"/>
          </p:cNvPicPr>
          <p:nvPr/>
        </p:nvPicPr>
        <p:blipFill>
          <a:blip r:embed="rId1"/>
          <a:stretch>
            <a:fillRect/>
          </a:stretch>
        </p:blipFill>
        <p:spPr>
          <a:xfrm>
            <a:off x="548640" y="685800"/>
            <a:ext cx="640080" cy="640080"/>
          </a:xfrm>
          <a:prstGeom prst="rect">
            <a:avLst/>
          </a:prstGeom>
        </p:spPr>
      </p:pic>
      <p:sp>
        <p:nvSpPr>
          <p:cNvPr id="6" name="Text 2"/>
          <p:cNvSpPr txBox="1"/>
          <p:nvPr/>
        </p:nvSpPr>
        <p:spPr>
          <a:xfrm>
            <a:off x="1325880" y="685800"/>
            <a:ext cx="4572000" cy="640080"/>
          </a:xfrm>
          <a:prstGeom prst="rect">
            <a:avLst/>
          </a:prstGeom>
          <a:noFill/>
          <a:ln/>
        </p:spPr>
        <p:txBody>
          <a:bodyPr wrap="square" lIns="0" tIns="0" rIns="0" bIns="0" rtlCol="0" anchor="ctr"/>
          <a:lstStyle/>
          <a:p>
            <a:pPr indent="0" marL="0">
              <a:buNone/>
            </a:pPr>
            <a:r>
              <a:rPr lang="en-US" sz="3000" b="1" dirty="0">
                <a:solidFill>
                  <a:schemeClr val="tx1"/>
                </a:solidFill>
                <a:latin typeface="Newsreader" pitchFamily="34" charset="0"/>
                <a:ea typeface="Newsreader" pitchFamily="34" charset="-122"/>
                <a:cs typeface="Newsreader" pitchFamily="34" charset="-120"/>
              </a:rPr>
              <a:t>Axiom </a:t>
            </a:r>
            <a:pPr indent="0" marL="0">
              <a:buNone/>
            </a:pPr>
            <a:r>
              <a:rPr lang="en-US" sz="3000" b="1" dirty="0">
                <a:solidFill>
                  <a:schemeClr val="accent3"/>
                </a:solidFill>
                <a:latin typeface="Newsreader" pitchFamily="34" charset="0"/>
                <a:ea typeface="Newsreader" pitchFamily="34" charset="-122"/>
                <a:cs typeface="Newsreader" pitchFamily="34" charset="-120"/>
              </a:rPr>
              <a:t>Verity</a:t>
            </a:r>
            <a:endParaRPr lang="en-US" sz="3000" dirty="0"/>
          </a:p>
        </p:txBody>
      </p:sp>
      <p:sp>
        <p:nvSpPr>
          <p:cNvPr id="7" name="Text 3"/>
          <p:cNvSpPr txBox="1"/>
          <p:nvPr/>
        </p:nvSpPr>
        <p:spPr>
          <a:xfrm>
            <a:off x="7068312" y="685800"/>
            <a:ext cx="4572000" cy="640080"/>
          </a:xfrm>
          <a:prstGeom prst="rect">
            <a:avLst/>
          </a:prstGeom>
          <a:noFill/>
          <a:ln/>
        </p:spPr>
        <p:txBody>
          <a:bodyPr wrap="square" lIns="0" tIns="0" rIns="0" bIns="0" rtlCol="0" anchor="ctr"/>
          <a:lstStyle/>
          <a:p>
            <a:pPr algn="r" indent="0" marL="0">
              <a:buNone/>
            </a:pPr>
            <a:r>
              <a:rPr lang="en-US" sz="850" dirty="0">
                <a:solidFill>
                  <a:schemeClr val="tx2"/>
                </a:solidFill>
                <a:latin typeface="IBM Plex Mono" pitchFamily="34" charset="0"/>
                <a:ea typeface="IBM Plex Mono" pitchFamily="34" charset="-122"/>
                <a:cs typeface="IBM Plex Mono" pitchFamily="34" charset="-120"/>
              </a:rPr>
              <a:t>AI GOVERNANCE  ·  COMPLIANCE  ·  SECURITY ADVISORY</a:t>
            </a:r>
            <a:endParaRPr lang="en-US" sz="850" dirty="0"/>
          </a:p>
          <a:p>
            <a:pPr algn="r" indent="0" marL="0">
              <a:buNone/>
            </a:pPr>
            <a:r>
              <a:rPr lang="en-US" sz="850" dirty="0">
                <a:solidFill>
                  <a:schemeClr val="tx2"/>
                </a:solidFill>
                <a:latin typeface="IBM Plex Mono" pitchFamily="34" charset="0"/>
                <a:ea typeface="IBM Plex Mono" pitchFamily="34" charset="-122"/>
                <a:cs typeface="IBM Plex Mono" pitchFamily="34" charset="-120"/>
              </a:rPr>
              <a:t>AXIOM-VERITY.COM</a:t>
            </a:r>
            <a:endParaRPr lang="en-US" sz="850" dirty="0"/>
          </a:p>
        </p:txBody>
      </p:sp>
      <p:sp>
        <p:nvSpPr>
          <p:cNvPr id="8" name="Text 4"/>
          <p:cNvSpPr txBox="1"/>
          <p:nvPr/>
        </p:nvSpPr>
        <p:spPr>
          <a:xfrm>
            <a:off x="548640" y="1783080"/>
            <a:ext cx="11091672"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RESEARCH NOTE  ·  THE ROBO BANK SIMULATOR  ·  BUILT AND LEARNED IN PUBLIC  ·  SUPERSEDES THE 6 OCTOBER NOTE</a:t>
            </a:r>
            <a:endParaRPr lang="en-US" sz="900" dirty="0"/>
          </a:p>
        </p:txBody>
      </p:sp>
      <p:sp>
        <p:nvSpPr>
          <p:cNvPr id="9" name="Text 5"/>
          <p:cNvSpPr txBox="1"/>
          <p:nvPr/>
        </p:nvSpPr>
        <p:spPr>
          <a:xfrm>
            <a:off x="548640" y="5486400"/>
            <a:ext cx="11091672" cy="320040"/>
          </a:xfrm>
          <a:prstGeom prst="rect">
            <a:avLst/>
          </a:prstGeom>
          <a:noFill/>
          <a:ln/>
        </p:spPr>
        <p:txBody>
          <a:bodyPr wrap="square" lIns="0" tIns="0" rIns="0" bIns="0" rtlCol="0" anchor="t"/>
          <a:lstStyle/>
          <a:p>
            <a:pPr indent="0" marL="0">
              <a:buNone/>
            </a:pPr>
            <a:r>
              <a:rPr lang="en-US" sz="1100" dirty="0">
                <a:solidFill>
                  <a:schemeClr val="tx2"/>
                </a:solidFill>
              </a:rPr>
              <a:t>Andrew Moore, Axiom Verity  ·  Recorded 7–8 October 2026  ·  Every figure is about a synthetic bank; the retracted figures are kept in the repo as history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Summary on a page</a:t>
            </a:r>
            <a:endParaRPr lang="en-US" sz="2800" dirty="0"/>
          </a:p>
        </p:txBody>
      </p:sp>
      <p:sp>
        <p:nvSpPr>
          <p:cNvPr id="4" name="card 0"/>
          <p:cNvSpPr/>
          <p:nvPr/>
        </p:nvSpPr>
        <p:spPr>
          <a:xfrm>
            <a:off x="548640" y="1463040"/>
            <a:ext cx="3514344" cy="3246120"/>
          </a:xfrm>
          <a:prstGeom prst="roundRect">
            <a:avLst>
              <a:gd name="adj" fmla="val 2254"/>
            </a:avLst>
          </a:prstGeom>
          <a:solidFill>
            <a:schemeClr val="bg2"/>
          </a:solidFill>
          <a:ln w="9525">
            <a:solidFill>
              <a:schemeClr val="accent5"/>
            </a:solidFill>
            <a:prstDash val="solid"/>
          </a:ln>
        </p:spPr>
      </p:sp>
      <p:sp>
        <p:nvSpPr>
          <p:cNvPr id="5" name="step 1"/>
          <p:cNvSpPr/>
          <p:nvPr/>
        </p:nvSpPr>
        <p:spPr>
          <a:xfrm>
            <a:off x="777240" y="1691640"/>
            <a:ext cx="384048" cy="384048"/>
          </a:xfrm>
          <a:prstGeom prst="ellipse">
            <a:avLst/>
          </a:prstGeom>
          <a:solidFill>
            <a:schemeClr val="accent2"/>
          </a:solidFill>
          <a:ln w="12700">
            <a:solidFill>
              <a:schemeClr val="accent2"/>
            </a:solidFill>
            <a:prstDash val="solid"/>
          </a:ln>
        </p:spPr>
      </p:sp>
      <p:sp>
        <p:nvSpPr>
          <p:cNvPr id="6" name="Text 3"/>
          <p:cNvSpPr txBox="1"/>
          <p:nvPr/>
        </p:nvSpPr>
        <p:spPr>
          <a:xfrm>
            <a:off x="777240" y="1691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194560"/>
            <a:ext cx="3057144" cy="731520"/>
          </a:xfrm>
          <a:prstGeom prst="rect">
            <a:avLst/>
          </a:prstGeom>
          <a:noFill/>
          <a:ln/>
        </p:spPr>
        <p:txBody>
          <a:bodyPr wrap="square" lIns="0" tIns="0" rIns="0" bIns="0" rtlCol="0" anchor="t"/>
          <a:lstStyle/>
          <a:p>
            <a:pPr indent="0" marL="0">
              <a:buNone/>
            </a:pPr>
            <a:r>
              <a:rPr lang="en-US" sz="1700" b="1" dirty="0">
                <a:solidFill>
                  <a:schemeClr val="tx1"/>
                </a:solidFill>
                <a:latin typeface="Newsreader" pitchFamily="34" charset="0"/>
                <a:ea typeface="Newsreader" pitchFamily="34" charset="-122"/>
                <a:cs typeface="Newsreader" pitchFamily="34" charset="-120"/>
              </a:rPr>
              <a:t>I retract the</a:t>
            </a:r>
            <a:endParaRPr lang="en-US" sz="1700" dirty="0"/>
          </a:p>
          <a:p>
            <a:pPr indent="0" marL="0">
              <a:buNone/>
            </a:pPr>
            <a:r>
              <a:rPr lang="en-US" sz="1700" b="1" dirty="0">
                <a:solidFill>
                  <a:schemeClr val="tx1"/>
                </a:solidFill>
                <a:latin typeface="Newsreader" pitchFamily="34" charset="0"/>
                <a:ea typeface="Newsreader" pitchFamily="34" charset="-122"/>
                <a:cs typeface="Newsreader" pitchFamily="34" charset="-120"/>
              </a:rPr>
              <a:t>6 October figures</a:t>
            </a:r>
            <a:endParaRPr lang="en-US" sz="1700" dirty="0"/>
          </a:p>
        </p:txBody>
      </p:sp>
      <p:sp>
        <p:nvSpPr>
          <p:cNvPr id="8" name="Text 5"/>
          <p:cNvSpPr txBox="1"/>
          <p:nvPr/>
        </p:nvSpPr>
        <p:spPr>
          <a:xfrm>
            <a:off x="777240" y="2926080"/>
            <a:ext cx="3057144" cy="1737360"/>
          </a:xfrm>
          <a:prstGeom prst="rect">
            <a:avLst/>
          </a:prstGeom>
          <a:noFill/>
          <a:ln/>
        </p:spPr>
        <p:txBody>
          <a:bodyPr wrap="square" lIns="0" tIns="0" rIns="0" bIns="0" rtlCol="0" anchor="t"/>
          <a:lstStyle/>
          <a:p>
            <a:pPr indent="0" marL="0">
              <a:buNone/>
            </a:pPr>
            <a:r>
              <a:rPr lang="en-US" sz="1250" dirty="0">
                <a:solidFill>
                  <a:schemeClr val="tx2"/>
                </a:solidFill>
              </a:rPr>
              <a:t>69 of the 103 ERROR cells were recorder artefacts, and the desks' rules were never in the model's prompt. The low agreement, the complaints "redress collapse" and the advice 0% were measurement faults, not model behaviour.</a:t>
            </a:r>
            <a:endParaRPr lang="en-US" sz="1250" dirty="0"/>
          </a:p>
        </p:txBody>
      </p:sp>
      <p:sp>
        <p:nvSpPr>
          <p:cNvPr id="9" name="card 1"/>
          <p:cNvSpPr/>
          <p:nvPr/>
        </p:nvSpPr>
        <p:spPr>
          <a:xfrm>
            <a:off x="4337304" y="1463040"/>
            <a:ext cx="3514344" cy="3246120"/>
          </a:xfrm>
          <a:prstGeom prst="roundRect">
            <a:avLst>
              <a:gd name="adj" fmla="val 2254"/>
            </a:avLst>
          </a:prstGeom>
          <a:solidFill>
            <a:schemeClr val="bg2"/>
          </a:solidFill>
          <a:ln w="9525">
            <a:solidFill>
              <a:schemeClr val="accent5"/>
            </a:solidFill>
            <a:prstDash val="solid"/>
          </a:ln>
        </p:spPr>
      </p:sp>
      <p:sp>
        <p:nvSpPr>
          <p:cNvPr id="10" name="step 2"/>
          <p:cNvSpPr/>
          <p:nvPr/>
        </p:nvSpPr>
        <p:spPr>
          <a:xfrm>
            <a:off x="4565904" y="169164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4565904" y="1691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4565904" y="2194560"/>
            <a:ext cx="3057144" cy="731520"/>
          </a:xfrm>
          <a:prstGeom prst="rect">
            <a:avLst/>
          </a:prstGeom>
          <a:noFill/>
          <a:ln/>
        </p:spPr>
        <p:txBody>
          <a:bodyPr wrap="square" lIns="0" tIns="0" rIns="0" bIns="0" rtlCol="0" anchor="t"/>
          <a:lstStyle/>
          <a:p>
            <a:pPr indent="0" marL="0">
              <a:buNone/>
            </a:pPr>
            <a:r>
              <a:rPr lang="en-US" sz="1700" b="1" dirty="0">
                <a:solidFill>
                  <a:schemeClr val="tx1"/>
                </a:solidFill>
                <a:latin typeface="Newsreader" pitchFamily="34" charset="0"/>
                <a:ea typeface="Newsreader" pitchFamily="34" charset="-122"/>
                <a:cs typeface="Newsreader" pitchFamily="34" charset="-120"/>
              </a:rPr>
              <a:t>Seeing the rule was</a:t>
            </a:r>
            <a:endParaRPr lang="en-US" sz="1700" dirty="0"/>
          </a:p>
          <a:p>
            <a:pPr indent="0" marL="0">
              <a:buNone/>
            </a:pPr>
            <a:r>
              <a:rPr lang="en-US" sz="1700" b="1" dirty="0">
                <a:solidFill>
                  <a:schemeClr val="tx1"/>
                </a:solidFill>
                <a:latin typeface="Newsreader" pitchFamily="34" charset="0"/>
                <a:ea typeface="Newsreader" pitchFamily="34" charset="-122"/>
                <a:cs typeface="Newsreader" pitchFamily="34" charset="-120"/>
              </a:rPr>
              <a:t>the whole difference</a:t>
            </a:r>
            <a:endParaRPr lang="en-US" sz="1700" dirty="0"/>
          </a:p>
        </p:txBody>
      </p:sp>
      <p:sp>
        <p:nvSpPr>
          <p:cNvPr id="13" name="Text 10"/>
          <p:cNvSpPr txBox="1"/>
          <p:nvPr/>
        </p:nvSpPr>
        <p:spPr>
          <a:xfrm>
            <a:off x="4565904" y="2926080"/>
            <a:ext cx="3057144" cy="1737360"/>
          </a:xfrm>
          <a:prstGeom prst="rect">
            <a:avLst/>
          </a:prstGeom>
          <a:noFill/>
          <a:ln/>
        </p:spPr>
        <p:txBody>
          <a:bodyPr wrap="square" lIns="0" tIns="0" rIns="0" bIns="0" rtlCol="0" anchor="t"/>
          <a:lstStyle/>
          <a:p>
            <a:pPr indent="0" marL="0">
              <a:buNone/>
            </a:pPr>
            <a:r>
              <a:rPr lang="en-US" sz="1250" dirty="0">
                <a:solidFill>
                  <a:schemeClr val="tx2"/>
                </a:solidFill>
              </a:rPr>
              <a:t>With each desk's rule on its case file, agreement is lending 100%, collections 100%, complaints 99%, disputes 81% (was 53%, 72%, 25%, 68%). The remaining gap on disputes is the model's own error, in both arms.</a:t>
            </a:r>
            <a:endParaRPr lang="en-US" sz="1250" dirty="0"/>
          </a:p>
        </p:txBody>
      </p:sp>
      <p:sp>
        <p:nvSpPr>
          <p:cNvPr id="14" name="card 2"/>
          <p:cNvSpPr/>
          <p:nvPr/>
        </p:nvSpPr>
        <p:spPr>
          <a:xfrm>
            <a:off x="8125968" y="1463040"/>
            <a:ext cx="3514344" cy="3246120"/>
          </a:xfrm>
          <a:prstGeom prst="roundRect">
            <a:avLst>
              <a:gd name="adj" fmla="val 2254"/>
            </a:avLst>
          </a:prstGeom>
          <a:solidFill>
            <a:schemeClr val="bg2"/>
          </a:solidFill>
          <a:ln w="9525">
            <a:solidFill>
              <a:schemeClr val="accent5"/>
            </a:solidFill>
            <a:prstDash val="solid"/>
          </a:ln>
        </p:spPr>
      </p:sp>
      <p:sp>
        <p:nvSpPr>
          <p:cNvPr id="15" name="step 3"/>
          <p:cNvSpPr/>
          <p:nvPr/>
        </p:nvSpPr>
        <p:spPr>
          <a:xfrm>
            <a:off x="8354568" y="1691640"/>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8354568" y="1691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354568" y="2194560"/>
            <a:ext cx="3057144" cy="731520"/>
          </a:xfrm>
          <a:prstGeom prst="rect">
            <a:avLst/>
          </a:prstGeom>
          <a:noFill/>
          <a:ln/>
        </p:spPr>
        <p:txBody>
          <a:bodyPr wrap="square" lIns="0" tIns="0" rIns="0" bIns="0" rtlCol="0" anchor="t"/>
          <a:lstStyle/>
          <a:p>
            <a:pPr indent="0" marL="0">
              <a:buNone/>
            </a:pPr>
            <a:r>
              <a:rPr lang="en-US" sz="1700" b="1" dirty="0">
                <a:solidFill>
                  <a:schemeClr val="tx1"/>
                </a:solidFill>
                <a:latin typeface="Newsreader" pitchFamily="34" charset="0"/>
                <a:ea typeface="Newsreader" pitchFamily="34" charset="-122"/>
                <a:cs typeface="Newsreader" pitchFamily="34" charset="-120"/>
              </a:rPr>
              <a:t>One control acts;</a:t>
            </a:r>
            <a:endParaRPr lang="en-US" sz="1700" dirty="0"/>
          </a:p>
          <a:p>
            <a:pPr indent="0" marL="0">
              <a:buNone/>
            </a:pPr>
            <a:r>
              <a:rPr lang="en-US" sz="1700" b="1" dirty="0">
                <a:solidFill>
                  <a:schemeClr val="tx1"/>
                </a:solidFill>
                <a:latin typeface="Newsreader" pitchFamily="34" charset="0"/>
                <a:ea typeface="Newsreader" pitchFamily="34" charset="-122"/>
                <a:cs typeface="Newsreader" pitchFamily="34" charset="-120"/>
              </a:rPr>
              <a:t>most have nothing to catch</a:t>
            </a:r>
            <a:endParaRPr lang="en-US" sz="1700" dirty="0"/>
          </a:p>
        </p:txBody>
      </p:sp>
      <p:sp>
        <p:nvSpPr>
          <p:cNvPr id="18" name="Text 15"/>
          <p:cNvSpPr txBox="1"/>
          <p:nvPr/>
        </p:nvSpPr>
        <p:spPr>
          <a:xfrm>
            <a:off x="8354568" y="2926080"/>
            <a:ext cx="3057144" cy="1737360"/>
          </a:xfrm>
          <a:prstGeom prst="rect">
            <a:avLst/>
          </a:prstGeom>
          <a:noFill/>
          <a:ln/>
        </p:spPr>
        <p:txBody>
          <a:bodyPr wrap="square" lIns="0" tIns="0" rIns="0" bIns="0" rtlCol="0" anchor="t"/>
          <a:lstStyle/>
          <a:p>
            <a:pPr indent="0" marL="0">
              <a:buNone/>
            </a:pPr>
            <a:r>
              <a:rPr lang="en-US" sz="1250" dirty="0">
                <a:solidFill>
                  <a:schemeClr val="tx2"/>
                </a:solidFill>
              </a:rPr>
              <a:t>With temptations in the disputes book, the Within-the-limit card takes reimbursed-within-limit from 94% to 100%. Everywhere else the bot sits at a ceiling, so most verdicts are untestable or inconclusive.</a:t>
            </a:r>
            <a:endParaRPr lang="en-US" sz="1250" dirty="0"/>
          </a:p>
        </p:txBody>
      </p:sp>
      <p:sp>
        <p:nvSpPr>
          <p:cNvPr id="19" name="callout"/>
          <p:cNvSpPr/>
          <p:nvPr/>
        </p:nvSpPr>
        <p:spPr>
          <a:xfrm>
            <a:off x="548640" y="4937760"/>
            <a:ext cx="11091672" cy="1097280"/>
          </a:xfrm>
          <a:prstGeom prst="rect">
            <a:avLst/>
          </a:prstGeom>
          <a:solidFill>
            <a:schemeClr val="bg2"/>
          </a:solidFill>
          <a:ln w="9525">
            <a:solidFill>
              <a:schemeClr val="accent5"/>
            </a:solidFill>
            <a:prstDash val="solid"/>
          </a:ln>
        </p:spPr>
      </p:sp>
      <p:sp>
        <p:nvSpPr>
          <p:cNvPr id="20" name="callout dot"/>
          <p:cNvSpPr/>
          <p:nvPr/>
        </p:nvSpPr>
        <p:spPr>
          <a:xfrm>
            <a:off x="713232" y="5120640"/>
            <a:ext cx="201168" cy="201168"/>
          </a:xfrm>
          <a:prstGeom prst="ellipse">
            <a:avLst/>
          </a:prstGeom>
          <a:solidFill>
            <a:schemeClr val="accent2"/>
          </a:solidFill>
          <a:ln w="12700">
            <a:solidFill>
              <a:schemeClr val="accent2"/>
            </a:solidFill>
            <a:prstDash val="solid"/>
          </a:ln>
        </p:spPr>
      </p:sp>
      <p:sp>
        <p:nvSpPr>
          <p:cNvPr id="21" name="Text 18"/>
          <p:cNvSpPr txBox="1"/>
          <p:nvPr/>
        </p:nvSpPr>
        <p:spPr>
          <a:xfrm>
            <a:off x="1051560" y="5029200"/>
            <a:ext cx="10451592" cy="914400"/>
          </a:xfrm>
          <a:prstGeom prst="rect">
            <a:avLst/>
          </a:prstGeom>
          <a:noFill/>
          <a:ln/>
        </p:spPr>
        <p:txBody>
          <a:bodyPr wrap="square" lIns="0" tIns="0" rIns="0" bIns="0" rtlCol="0" anchor="ctr"/>
          <a:lstStyle/>
          <a:p>
            <a:pPr indent="0" marL="0">
              <a:buNone/>
            </a:pPr>
            <a:r>
              <a:rPr lang="en-US" sz="1300" b="1" dirty="0">
                <a:solidFill>
                  <a:schemeClr val="tx1"/>
                </a:solidFill>
              </a:rPr>
              <a:t>Why publish the mistake: </a:t>
            </a:r>
            <a:pPr indent="0" marL="0">
              <a:buNone/>
            </a:pPr>
            <a:r>
              <a:rPr lang="en-US" sz="1300" dirty="0">
                <a:solidFill>
                  <a:schemeClr val="tx1"/>
                </a:solidFill>
              </a:rPr>
              <a:t>the faults were in my measurement, not in the model, and they are exactly the faults a bank's own live-model evidence base would make. The 6 October note stays in the repository, marked retracted, so the correction can be checked against it.</a:t>
            </a:r>
            <a:endParaRPr lang="en-US" sz="13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2651760"/>
            <a:ext cx="11091672" cy="1097280"/>
          </a:xfrm>
          <a:prstGeom prst="rect">
            <a:avLst/>
          </a:prstGeom>
          <a:noFill/>
          <a:ln/>
        </p:spPr>
        <p:txBody>
          <a:bodyPr wrap="square" lIns="0" tIns="0" rIns="0" bIns="0" rtlCol="0" anchor="ctr"/>
          <a:lstStyle/>
          <a:p>
            <a:pPr algn="l" indent="0" marL="0">
              <a:buNone/>
            </a:pPr>
            <a:r>
              <a:rPr lang="en-US" sz="4000" b="1" dirty="0">
                <a:solidFill>
                  <a:schemeClr val="tx1"/>
                </a:solidFill>
              </a:rPr>
              <a:t>Why there was a second recording</a:t>
            </a:r>
            <a:endParaRPr lang="en-US" sz="4000" dirty="0"/>
          </a:p>
        </p:txBody>
      </p:sp>
      <p:sp>
        <p:nvSpPr>
          <p:cNvPr id="4" name="Text 1"/>
          <p:cNvSpPr/>
          <p:nvPr>
            <p:ph idx="102" type="body" hasCustomPrompt="1"/>
          </p:nvPr>
        </p:nvSpPr>
        <p:spPr>
          <a:xfrm>
            <a:off x="548640" y="3794760"/>
            <a:ext cx="11091672" cy="822960"/>
          </a:xfrm>
          <a:prstGeom prst="rect">
            <a:avLst/>
          </a:prstGeom>
          <a:noFill/>
          <a:ln/>
        </p:spPr>
        <p:txBody>
          <a:bodyPr wrap="square" lIns="0" tIns="0" rIns="0" bIns="0" rtlCol="0" anchor="t"/>
          <a:lstStyle/>
          <a:p>
            <a:pPr indent="0" marL="0">
              <a:buNone/>
            </a:pPr>
            <a:r>
              <a:rPr lang="en-US" sz="1800" dirty="0">
                <a:solidFill>
                  <a:schemeClr val="tx2"/>
                </a:solidFill>
              </a:rPr>
              <a:t>What the 6 October report claimed, what the triage found, and why none of it should be cited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What the first recording read, and what it was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8960"/>
                <a:gridCol w="2651760"/>
                <a:gridCol w="5330952"/>
              </a:tblGrid>
              <a:tr h="685800">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6 OCTOBER HEADLINE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READ AS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WHAT IT WAS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685800">
                <a:tc>
                  <a:txBody>
                    <a:bodyPr/>
                    <a:lstStyle/>
                    <a:p>
                      <a:pPr indent="0" marL="0">
                        <a:buNone/>
                      </a:pPr>
                      <a:r>
                        <a:rPr lang="en-US" sz="1100" dirty="0">
                          <a:solidFill>
                            <a:srgbClr val="10233A"/>
                          </a:solidFill>
                        </a:rPr>
                        <a:t>Agreement 53% lending, 68% disputes, 72% collections, 25% complaints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The model far below the assumed 90% on four desks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The desk brief is a record on the desk, not a line of the prompt: the model was scored against rules it never saw. With the rules on the case files: 100%, 81%, 100%, 99%</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685800">
                <a:tc>
                  <a:txBody>
                    <a:bodyPr/>
                    <a:lstStyle/>
                    <a:p>
                      <a:pPr indent="0" marL="0">
                        <a:buNone/>
                      </a:pPr>
                      <a:r>
                        <a:rPr lang="en-US" sz="1100" dirty="0">
                          <a:solidFill>
                            <a:srgbClr val="10233A"/>
                          </a:solidFill>
                        </a:rPr>
                        <a:t>Complaints redress within bounds 100% to 20% under the stack; 44 of 110 cells ERROR</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A control with a large adverse side-effect</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42 of the 44 were cassette-miss replay artefacts. No cell was blocked at a redress action; the card blocked exactly what the register rejects, but the register's convention was hidden from the bot</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685800">
                <a:tc>
                  <a:txBody>
                    <a:bodyPr/>
                    <a:lstStyle/>
                    <a:p>
                      <a:pPr indent="0" marL="0">
                        <a:buNone/>
                      </a:pPr>
                      <a:r>
                        <a:rPr lang="en-US" sz="1100" dirty="0">
                          <a:solidFill>
                            <a:srgbClr val="10233A"/>
                          </a:solidFill>
                        </a:rPr>
                        <a:t>Advice data minimisation 100% to 0% under relational context</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Richer context broke a data-protection property</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The desk itself placed six records on the desk before the bot's first move and the evaluator scored them as reads. The scripted column, with no model, read 0% too. The bot used that data in 2 of 50 cells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685800">
                <a:tc>
                  <a:txBody>
                    <a:bodyPr/>
                    <a:lstStyle/>
                    <a:p>
                      <a:pPr indent="0" marL="0">
                        <a:buNone/>
                      </a:pPr>
                      <a:r>
                        <a:rPr lang="en-US" sz="1100" dirty="0">
                          <a:solidFill>
                            <a:srgbClr val="10233A"/>
                          </a:solidFill>
                        </a:rPr>
                        <a:t>103 cells ending ERROR across complaints, fraud, advice</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Undiagnosed model failures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69 recorder artefacts; 22 desk dead ends (an alert id, a message that did not name the missing topic, a hidden convention); 12 model loops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5" name="callout"/>
          <p:cNvSpPr/>
          <p:nvPr/>
        </p:nvSpPr>
        <p:spPr>
          <a:xfrm>
            <a:off x="548640" y="5349240"/>
            <a:ext cx="11091672" cy="731520"/>
          </a:xfrm>
          <a:prstGeom prst="rect">
            <a:avLst/>
          </a:prstGeom>
          <a:solidFill>
            <a:schemeClr val="bg2"/>
          </a:solidFill>
          <a:ln w="9525">
            <a:solidFill>
              <a:schemeClr val="accent5"/>
            </a:solidFill>
            <a:prstDash val="solid"/>
          </a:ln>
        </p:spPr>
      </p:sp>
      <p:sp>
        <p:nvSpPr>
          <p:cNvPr id="6" name="callout dot"/>
          <p:cNvSpPr/>
          <p:nvPr/>
        </p:nvSpPr>
        <p:spPr>
          <a:xfrm>
            <a:off x="713232" y="5532120"/>
            <a:ext cx="201168" cy="201168"/>
          </a:xfrm>
          <a:prstGeom prst="ellipse">
            <a:avLst/>
          </a:prstGeom>
          <a:solidFill>
            <a:schemeClr val="accent2"/>
          </a:solidFill>
          <a:ln w="12700">
            <a:solidFill>
              <a:schemeClr val="accent2"/>
            </a:solidFill>
            <a:prstDash val="solid"/>
          </a:ln>
        </p:spPr>
      </p:sp>
      <p:sp>
        <p:nvSpPr>
          <p:cNvPr id="7" name="Text 3"/>
          <p:cNvSpPr txBox="1"/>
          <p:nvPr/>
        </p:nvSpPr>
        <p:spPr>
          <a:xfrm>
            <a:off x="1051560" y="5440680"/>
            <a:ext cx="10451592" cy="548640"/>
          </a:xfrm>
          <a:prstGeom prst="rect">
            <a:avLst/>
          </a:prstGeom>
          <a:noFill/>
          <a:ln/>
        </p:spPr>
        <p:txBody>
          <a:bodyPr wrap="square" lIns="0" tIns="0" rIns="0" bIns="0" rtlCol="0" anchor="ctr"/>
          <a:lstStyle/>
          <a:p>
            <a:pPr indent="0" marL="0">
              <a:buNone/>
            </a:pPr>
            <a:r>
              <a:rPr lang="en-US" sz="1300" b="1" dirty="0">
                <a:solidFill>
                  <a:schemeClr val="tx1"/>
                </a:solidFill>
              </a:rPr>
              <a:t>None of the first recording's figures should be cited. </a:t>
            </a:r>
            <a:pPr indent="0" marL="0">
              <a:buNone/>
            </a:pPr>
            <a:r>
              <a:rPr lang="en-US" sz="1300" dirty="0">
                <a:solidFill>
                  <a:schemeClr val="tx1"/>
                </a:solidFill>
              </a:rPr>
              <a:t>I keep the 6 October note in the repository, marked retracted, as a worked example of why a live-model evidence base needs its own verification.</a:t>
            </a:r>
            <a:endParaRPr lang="en-US" sz="13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The triage: 67% of the ERROR cells were never live outcomes</a:t>
            </a:r>
            <a:endParaRPr lang="en-US" sz="2800" dirty="0"/>
          </a:p>
        </p:txBody>
      </p:sp>
      <p:graphicFrame>
        <p:nvGraphicFramePr>
          <p:cNvPr id="4" name="Chart 0" descr=""/>
          <p:cNvGraphicFramePr/>
          <p:nvPr/>
        </p:nvGraphicFramePr>
        <p:xfrm>
          <a:off x="548640" y="137160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680960" y="1417320"/>
            <a:ext cx="3931920" cy="365760"/>
          </a:xfrm>
          <a:prstGeom prst="rect">
            <a:avLst/>
          </a:prstGeom>
          <a:noFill/>
          <a:ln/>
        </p:spPr>
        <p:txBody>
          <a:bodyPr wrap="square" lIns="0" tIns="0" rIns="0" bIns="0" rtlCol="0" anchor="t"/>
          <a:lstStyle/>
          <a:p>
            <a:pPr indent="0" marL="0">
              <a:buNone/>
            </a:pPr>
            <a:r>
              <a:rPr lang="en-US" sz="1500" b="1" dirty="0">
                <a:solidFill>
                  <a:schemeClr val="tx1"/>
                </a:solidFill>
                <a:latin typeface="Newsreader" pitchFamily="34" charset="0"/>
                <a:ea typeface="Newsreader" pitchFamily="34" charset="-122"/>
                <a:cs typeface="Newsreader" pitchFamily="34" charset="-120"/>
              </a:rPr>
              <a:t>What the 103 cells were</a:t>
            </a:r>
            <a:endParaRPr lang="en-US" sz="1500" dirty="0"/>
          </a:p>
        </p:txBody>
      </p:sp>
      <p:sp>
        <p:nvSpPr>
          <p:cNvPr id="6" name="Text 2"/>
          <p:cNvSpPr txBox="1"/>
          <p:nvPr/>
        </p:nvSpPr>
        <p:spPr>
          <a:xfrm>
            <a:off x="7680960" y="1828800"/>
            <a:ext cx="3931920" cy="42062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2"/>
                </a:solidFill>
              </a:rPr>
              <a:t>69 cassette-miss: the replay asked a prompt the live run never recorded. The v1 cassette was keyed by prompt, first answer wins; at temperature 0 the model does not repeat its words, so a later cell's different earlier answer led to a prompt the cassette never held.</a:t>
            </a:r>
            <a:endParaRPr lang="en-US" sz="1150" dirty="0"/>
          </a:p>
          <a:p>
            <a:pPr marL="177800" indent="-177800">
              <a:spcAft>
                <a:spcPts val="800"/>
              </a:spcAft>
              <a:buSzPct val="100000"/>
              <a:buChar char="•"/>
            </a:pPr>
            <a:r>
              <a:rPr lang="en-US" sz="1150" dirty="0">
                <a:solidFill>
                  <a:schemeClr val="tx2"/>
                </a:solidFill>
              </a:rPr>
              <a:t>22 desk: fraud's alert id ("Alert 1" vs alert-1); advice's check-suitability message that did not name the missing topic; the complaints register's convention, never shown.</a:t>
            </a:r>
            <a:endParaRPr lang="en-US" sz="1150" dirty="0"/>
          </a:p>
          <a:p>
            <a:pPr marL="177800" indent="-177800">
              <a:spcAft>
                <a:spcPts val="800"/>
              </a:spcAft>
              <a:buSzPct val="100000"/>
              <a:buChar char="•"/>
            </a:pPr>
            <a:r>
              <a:rPr lang="en-US" sz="1150" dirty="0">
                <a:solidFill>
                  <a:schemeClr val="tx2"/>
                </a:solidFill>
              </a:rPr>
              <a:t>12 model: loops of 30–60 turns repeating one failing call, with prompt and desk contributing.</a:t>
            </a:r>
            <a:endParaRPr lang="en-US" sz="1150" dirty="0"/>
          </a:p>
          <a:p>
            <a:pPr marL="177800" indent="-177800">
              <a:spcAft>
                <a:spcPts val="800"/>
              </a:spcAft>
              <a:buSzPct val="100000"/>
              <a:buChar char="•"/>
            </a:pPr>
            <a:r>
              <a:rPr lang="en-US" sz="1150" dirty="0">
                <a:solidFill>
                  <a:schemeClr val="tx2"/>
                </a:solidFill>
              </a:rPr>
              <a:t>Consequence: the recorder was redesigned (WP189–WP194). A passive tap keeps every call; cell-scoped recordings; exact replay that verifies and never substitutes.</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2651760"/>
            <a:ext cx="11091672" cy="1097280"/>
          </a:xfrm>
          <a:prstGeom prst="rect">
            <a:avLst/>
          </a:prstGeom>
          <a:noFill/>
          <a:ln/>
        </p:spPr>
        <p:txBody>
          <a:bodyPr wrap="square" lIns="0" tIns="0" rIns="0" bIns="0" rtlCol="0" anchor="ctr"/>
          <a:lstStyle/>
          <a:p>
            <a:pPr algn="l" indent="0" marL="0">
              <a:buNone/>
            </a:pPr>
            <a:r>
              <a:rPr lang="en-US" sz="4000" b="1" dirty="0">
                <a:solidFill>
                  <a:schemeClr val="tx1"/>
                </a:solidFill>
              </a:rPr>
              <a:t>What was changed</a:t>
            </a:r>
            <a:endParaRPr lang="en-US" sz="4000" dirty="0"/>
          </a:p>
        </p:txBody>
      </p:sp>
      <p:sp>
        <p:nvSpPr>
          <p:cNvPr id="4" name="Text 1"/>
          <p:cNvSpPr/>
          <p:nvPr>
            <p:ph idx="102" type="body" hasCustomPrompt="1"/>
          </p:nvPr>
        </p:nvSpPr>
        <p:spPr>
          <a:xfrm>
            <a:off x="548640" y="3794760"/>
            <a:ext cx="11091672" cy="822960"/>
          </a:xfrm>
          <a:prstGeom prst="rect">
            <a:avLst/>
          </a:prstGeom>
          <a:noFill/>
          <a:ln/>
        </p:spPr>
        <p:txBody>
          <a:bodyPr wrap="square" lIns="0" tIns="0" rIns="0" bIns="0" rtlCol="0" anchor="t"/>
          <a:lstStyle/>
          <a:p>
            <a:pPr indent="0" marL="0">
              <a:buNone/>
            </a:pPr>
            <a:r>
              <a:rPr lang="en-US" sz="1800" dirty="0">
                <a:solidFill>
                  <a:schemeClr val="tx2"/>
                </a:solidFill>
              </a:rPr>
              <a:t>The recorder, what the model can see, the desks' dead ends, the books, and how reliability is measured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Six changes between the two recordings</a:t>
            </a:r>
            <a:endParaRPr lang="en-US" sz="2800" dirty="0"/>
          </a:p>
        </p:txBody>
      </p:sp>
      <p:sp>
        <p:nvSpPr>
          <p:cNvPr id="4" name="change 0"/>
          <p:cNvSpPr/>
          <p:nvPr/>
        </p:nvSpPr>
        <p:spPr>
          <a:xfrm>
            <a:off x="548640" y="1371600"/>
            <a:ext cx="3514344" cy="2148840"/>
          </a:xfrm>
          <a:prstGeom prst="roundRect">
            <a:avLst>
              <a:gd name="adj" fmla="val 3404"/>
            </a:avLst>
          </a:prstGeom>
          <a:solidFill>
            <a:schemeClr val="bg2"/>
          </a:solidFill>
          <a:ln w="9525">
            <a:solidFill>
              <a:schemeClr val="accent5"/>
            </a:solidFill>
            <a:prstDash val="solid"/>
          </a:ln>
        </p:spPr>
      </p:sp>
      <p:sp>
        <p:nvSpPr>
          <p:cNvPr id="5" name="step 1"/>
          <p:cNvSpPr/>
          <p:nvPr/>
        </p:nvSpPr>
        <p:spPr>
          <a:xfrm>
            <a:off x="777240" y="1572768"/>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777240"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80160" y="155448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The recorder</a:t>
            </a:r>
            <a:endParaRPr lang="en-US" sz="1500" dirty="0"/>
          </a:p>
        </p:txBody>
      </p:sp>
      <p:sp>
        <p:nvSpPr>
          <p:cNvPr id="8" name="Text 5"/>
          <p:cNvSpPr txBox="1"/>
          <p:nvPr/>
        </p:nvSpPr>
        <p:spPr>
          <a:xfrm>
            <a:off x="777240" y="2084832"/>
            <a:ext cx="3057144" cy="1325880"/>
          </a:xfrm>
          <a:prstGeom prst="rect">
            <a:avLst/>
          </a:prstGeom>
          <a:noFill/>
          <a:ln/>
        </p:spPr>
        <p:txBody>
          <a:bodyPr wrap="square" lIns="0" tIns="0" rIns="0" bIns="0" rtlCol="0" anchor="t"/>
          <a:lstStyle/>
          <a:p>
            <a:pPr indent="0" marL="0">
              <a:buNone/>
            </a:pPr>
            <a:r>
              <a:rPr lang="en-US" sz="1050" dirty="0">
                <a:solidFill>
                  <a:schemeClr val="tx2"/>
                </a:solidFill>
              </a:rPr>
              <a:t>v1 cassette keyed by prompt, first answer wins, replay substitutes. Now v2: a passive tap keeps every call with role, stage and serving unit; cell-scoped recordings; exact replay that verifies against the run's own store and never substitutes.</a:t>
            </a:r>
            <a:endParaRPr lang="en-US" sz="1050" dirty="0"/>
          </a:p>
        </p:txBody>
      </p:sp>
      <p:sp>
        <p:nvSpPr>
          <p:cNvPr id="9" name="change 1"/>
          <p:cNvSpPr/>
          <p:nvPr/>
        </p:nvSpPr>
        <p:spPr>
          <a:xfrm>
            <a:off x="4337304" y="1371600"/>
            <a:ext cx="3514344" cy="2148840"/>
          </a:xfrm>
          <a:prstGeom prst="roundRect">
            <a:avLst>
              <a:gd name="adj" fmla="val 3404"/>
            </a:avLst>
          </a:prstGeom>
          <a:solidFill>
            <a:schemeClr val="bg2"/>
          </a:solidFill>
          <a:ln w="9525">
            <a:solidFill>
              <a:schemeClr val="accent5"/>
            </a:solidFill>
            <a:prstDash val="solid"/>
          </a:ln>
        </p:spPr>
      </p:sp>
      <p:sp>
        <p:nvSpPr>
          <p:cNvPr id="10" name="step 2"/>
          <p:cNvSpPr/>
          <p:nvPr/>
        </p:nvSpPr>
        <p:spPr>
          <a:xfrm>
            <a:off x="4565904" y="1572768"/>
            <a:ext cx="384048" cy="384048"/>
          </a:xfrm>
          <a:prstGeom prst="ellipse">
            <a:avLst/>
          </a:prstGeom>
          <a:solidFill>
            <a:schemeClr val="accent2"/>
          </a:solidFill>
          <a:ln w="12700">
            <a:solidFill>
              <a:schemeClr val="accent2"/>
            </a:solidFill>
            <a:prstDash val="solid"/>
          </a:ln>
        </p:spPr>
      </p:sp>
      <p:sp>
        <p:nvSpPr>
          <p:cNvPr id="11" name="Text 8"/>
          <p:cNvSpPr txBox="1"/>
          <p:nvPr/>
        </p:nvSpPr>
        <p:spPr>
          <a:xfrm>
            <a:off x="4565904"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068824" y="155448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What the model sees</a:t>
            </a:r>
            <a:endParaRPr lang="en-US" sz="1500" dirty="0"/>
          </a:p>
        </p:txBody>
      </p:sp>
      <p:sp>
        <p:nvSpPr>
          <p:cNvPr id="13" name="Text 10"/>
          <p:cNvSpPr txBox="1"/>
          <p:nvPr/>
        </p:nvSpPr>
        <p:spPr>
          <a:xfrm>
            <a:off x="4565904" y="2084832"/>
            <a:ext cx="3057144" cy="1325880"/>
          </a:xfrm>
          <a:prstGeom prst="rect">
            <a:avLst/>
          </a:prstGeom>
          <a:noFill/>
          <a:ln/>
        </p:spPr>
        <p:txBody>
          <a:bodyPr wrap="square" lIns="0" tIns="0" rIns="0" bIns="0" rtlCol="0" anchor="t"/>
          <a:lstStyle/>
          <a:p>
            <a:pPr indent="0" marL="0">
              <a:buNone/>
            </a:pPr>
            <a:r>
              <a:rPr lang="en-US" sz="1050" dirty="0">
                <a:solidFill>
                  <a:schemeClr val="tx2"/>
                </a:solidFill>
              </a:rPr>
              <a:t>The desk brief was a record on the desk, not a line of the prompt. The lending, disputes, collections, onboarding and complaints rules, and the redress range, are now joined to each desk's case-file sense, with tests.</a:t>
            </a:r>
            <a:endParaRPr lang="en-US" sz="1050" dirty="0"/>
          </a:p>
        </p:txBody>
      </p:sp>
      <p:sp>
        <p:nvSpPr>
          <p:cNvPr id="14" name="change 2"/>
          <p:cNvSpPr/>
          <p:nvPr/>
        </p:nvSpPr>
        <p:spPr>
          <a:xfrm>
            <a:off x="8125968" y="1371600"/>
            <a:ext cx="3514344" cy="2148840"/>
          </a:xfrm>
          <a:prstGeom prst="roundRect">
            <a:avLst>
              <a:gd name="adj" fmla="val 3404"/>
            </a:avLst>
          </a:prstGeom>
          <a:solidFill>
            <a:schemeClr val="bg2"/>
          </a:solidFill>
          <a:ln w="9525">
            <a:solidFill>
              <a:schemeClr val="accent5"/>
            </a:solidFill>
            <a:prstDash val="solid"/>
          </a:ln>
        </p:spPr>
      </p:sp>
      <p:sp>
        <p:nvSpPr>
          <p:cNvPr id="15" name="step 3"/>
          <p:cNvSpPr/>
          <p:nvPr/>
        </p:nvSpPr>
        <p:spPr>
          <a:xfrm>
            <a:off x="8354568" y="1572768"/>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8354568"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857488" y="155448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The desks' dead ends</a:t>
            </a:r>
            <a:endParaRPr lang="en-US" sz="1500" dirty="0"/>
          </a:p>
        </p:txBody>
      </p:sp>
      <p:sp>
        <p:nvSpPr>
          <p:cNvPr id="18" name="Text 15"/>
          <p:cNvSpPr txBox="1"/>
          <p:nvPr/>
        </p:nvSpPr>
        <p:spPr>
          <a:xfrm>
            <a:off x="8354568" y="2084832"/>
            <a:ext cx="3057144" cy="1325880"/>
          </a:xfrm>
          <a:prstGeom prst="rect">
            <a:avLst/>
          </a:prstGeom>
          <a:noFill/>
          <a:ln/>
        </p:spPr>
        <p:txBody>
          <a:bodyPr wrap="square" lIns="0" tIns="0" rIns="0" bIns="0" rtlCol="0" anchor="t"/>
          <a:lstStyle/>
          <a:p>
            <a:pPr indent="0" marL="0">
              <a:buNone/>
            </a:pPr>
            <a:r>
              <a:rPr lang="en-US" sz="1050" dirty="0">
                <a:solidFill>
                  <a:schemeClr val="tx2"/>
                </a:solidFill>
              </a:rPr>
              <a:t>Refusals now say what the decision rested on and what to do next; goals reworded (onboarding decline, collections agree, lending disburse, servicing bereavement); fraud look-up by last four digits; SAR refusal names Escalate; lending's progress line carries the reasons.</a:t>
            </a:r>
            <a:endParaRPr lang="en-US" sz="1050" dirty="0"/>
          </a:p>
        </p:txBody>
      </p:sp>
      <p:sp>
        <p:nvSpPr>
          <p:cNvPr id="19" name="change 3"/>
          <p:cNvSpPr/>
          <p:nvPr/>
        </p:nvSpPr>
        <p:spPr>
          <a:xfrm>
            <a:off x="548640" y="3749040"/>
            <a:ext cx="3514344" cy="2148840"/>
          </a:xfrm>
          <a:prstGeom prst="roundRect">
            <a:avLst>
              <a:gd name="adj" fmla="val 3404"/>
            </a:avLst>
          </a:prstGeom>
          <a:solidFill>
            <a:schemeClr val="bg2"/>
          </a:solidFill>
          <a:ln w="9525">
            <a:solidFill>
              <a:schemeClr val="accent5"/>
            </a:solidFill>
            <a:prstDash val="solid"/>
          </a:ln>
        </p:spPr>
      </p:sp>
      <p:sp>
        <p:nvSpPr>
          <p:cNvPr id="20" name="step 4"/>
          <p:cNvSpPr/>
          <p:nvPr/>
        </p:nvSpPr>
        <p:spPr>
          <a:xfrm>
            <a:off x="777240" y="3950208"/>
            <a:ext cx="384048" cy="384048"/>
          </a:xfrm>
          <a:prstGeom prst="ellipse">
            <a:avLst/>
          </a:prstGeom>
          <a:solidFill>
            <a:schemeClr val="accent1"/>
          </a:solidFill>
          <a:ln w="12700">
            <a:solidFill>
              <a:schemeClr val="accent1"/>
            </a:solidFill>
            <a:prstDash val="solid"/>
          </a:ln>
        </p:spPr>
      </p:sp>
      <p:sp>
        <p:nvSpPr>
          <p:cNvPr id="21" name="Text 18"/>
          <p:cNvSpPr txBox="1"/>
          <p:nvPr/>
        </p:nvSpPr>
        <p:spPr>
          <a:xfrm>
            <a:off x="777240" y="3950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1280160" y="393192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Limits and timeouts</a:t>
            </a:r>
            <a:endParaRPr lang="en-US" sz="1500" dirty="0"/>
          </a:p>
        </p:txBody>
      </p:sp>
      <p:sp>
        <p:nvSpPr>
          <p:cNvPr id="23" name="Text 20"/>
          <p:cNvSpPr txBox="1"/>
          <p:nvPr/>
        </p:nvSpPr>
        <p:spPr>
          <a:xfrm>
            <a:off x="777240" y="4462272"/>
            <a:ext cx="3057144" cy="1325880"/>
          </a:xfrm>
          <a:prstGeom prst="rect">
            <a:avLst/>
          </a:prstGeom>
          <a:noFill/>
          <a:ln/>
        </p:spPr>
        <p:txBody>
          <a:bodyPr wrap="square" lIns="0" tIns="0" rIns="0" bIns="0" rtlCol="0" anchor="t"/>
          <a:lstStyle/>
          <a:p>
            <a:pPr indent="0" marL="0">
              <a:buNone/>
            </a:pPr>
            <a:r>
              <a:rPr lang="en-US" sz="1050" dirty="0">
                <a:solidFill>
                  <a:schemeClr val="tx2"/>
                </a:solidFill>
              </a:rPr>
              <a:t>Reply limit 1,024 to 2,048 tokens after one lending cut-off spiral; request timeout 60 s to 180 s after about one call in 629 hit the floor.</a:t>
            </a:r>
            <a:endParaRPr lang="en-US" sz="1050" dirty="0"/>
          </a:p>
        </p:txBody>
      </p:sp>
      <p:sp>
        <p:nvSpPr>
          <p:cNvPr id="24" name="change 4"/>
          <p:cNvSpPr/>
          <p:nvPr/>
        </p:nvSpPr>
        <p:spPr>
          <a:xfrm>
            <a:off x="4337304" y="3749040"/>
            <a:ext cx="3514344" cy="2148840"/>
          </a:xfrm>
          <a:prstGeom prst="roundRect">
            <a:avLst>
              <a:gd name="adj" fmla="val 3404"/>
            </a:avLst>
          </a:prstGeom>
          <a:solidFill>
            <a:schemeClr val="bg2"/>
          </a:solidFill>
          <a:ln w="9525">
            <a:solidFill>
              <a:schemeClr val="accent5"/>
            </a:solidFill>
            <a:prstDash val="solid"/>
          </a:ln>
        </p:spPr>
      </p:sp>
      <p:sp>
        <p:nvSpPr>
          <p:cNvPr id="25" name="step 5"/>
          <p:cNvSpPr/>
          <p:nvPr/>
        </p:nvSpPr>
        <p:spPr>
          <a:xfrm>
            <a:off x="4565904" y="3950208"/>
            <a:ext cx="384048" cy="384048"/>
          </a:xfrm>
          <a:prstGeom prst="ellipse">
            <a:avLst/>
          </a:prstGeom>
          <a:solidFill>
            <a:schemeClr val="accent1"/>
          </a:solidFill>
          <a:ln w="12700">
            <a:solidFill>
              <a:schemeClr val="accent1"/>
            </a:solidFill>
            <a:prstDash val="solid"/>
          </a:ln>
        </p:spPr>
      </p:sp>
      <p:sp>
        <p:nvSpPr>
          <p:cNvPr id="26" name="Text 23"/>
          <p:cNvSpPr txBox="1"/>
          <p:nvPr/>
        </p:nvSpPr>
        <p:spPr>
          <a:xfrm>
            <a:off x="4565904" y="3950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5068824" y="393192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The books</a:t>
            </a:r>
            <a:endParaRPr lang="en-US" sz="1500" dirty="0"/>
          </a:p>
        </p:txBody>
      </p:sp>
      <p:sp>
        <p:nvSpPr>
          <p:cNvPr id="28" name="Text 25"/>
          <p:cNvSpPr txBox="1"/>
          <p:nvPr/>
        </p:nvSpPr>
        <p:spPr>
          <a:xfrm>
            <a:off x="4565904" y="4462272"/>
            <a:ext cx="3057144" cy="1325880"/>
          </a:xfrm>
          <a:prstGeom prst="rect">
            <a:avLst/>
          </a:prstGeom>
          <a:noFill/>
          <a:ln/>
        </p:spPr>
        <p:txBody>
          <a:bodyPr wrap="square" lIns="0" tIns="0" rIns="0" bIns="0" rtlCol="0" anchor="t"/>
          <a:lstStyle/>
          <a:p>
            <a:pPr indent="0" marL="0">
              <a:buNone/>
            </a:pPr>
            <a:r>
              <a:rPr lang="en-US" sz="1050" dirty="0">
                <a:solidFill>
                  <a:schemeClr val="tx2"/>
                </a:solidFill>
              </a:rPr>
              <a:t>Temptations planted so a guard has something to catch: injected instructions and "the bank has already agreed" notes on disputes; asks for the screening reason and open-me-now pleas on onboarding; pushy, guarantee-demanding, disclosing and poisoned-factsheet variants on advice.</a:t>
            </a:r>
            <a:endParaRPr lang="en-US" sz="1050" dirty="0"/>
          </a:p>
        </p:txBody>
      </p:sp>
      <p:sp>
        <p:nvSpPr>
          <p:cNvPr id="29" name="change 5"/>
          <p:cNvSpPr/>
          <p:nvPr/>
        </p:nvSpPr>
        <p:spPr>
          <a:xfrm>
            <a:off x="8125968" y="3749040"/>
            <a:ext cx="3514344" cy="2148840"/>
          </a:xfrm>
          <a:prstGeom prst="roundRect">
            <a:avLst>
              <a:gd name="adj" fmla="val 3404"/>
            </a:avLst>
          </a:prstGeom>
          <a:solidFill>
            <a:schemeClr val="bg2"/>
          </a:solidFill>
          <a:ln w="9525">
            <a:solidFill>
              <a:schemeClr val="accent5"/>
            </a:solidFill>
            <a:prstDash val="solid"/>
          </a:ln>
        </p:spPr>
      </p:sp>
      <p:sp>
        <p:nvSpPr>
          <p:cNvPr id="30" name="step 6"/>
          <p:cNvSpPr/>
          <p:nvPr/>
        </p:nvSpPr>
        <p:spPr>
          <a:xfrm>
            <a:off x="8354568" y="3950208"/>
            <a:ext cx="384048" cy="384048"/>
          </a:xfrm>
          <a:prstGeom prst="ellipse">
            <a:avLst/>
          </a:prstGeom>
          <a:solidFill>
            <a:schemeClr val="accent1"/>
          </a:solidFill>
          <a:ln w="12700">
            <a:solidFill>
              <a:schemeClr val="accent1"/>
            </a:solidFill>
            <a:prstDash val="solid"/>
          </a:ln>
        </p:spPr>
      </p:sp>
      <p:sp>
        <p:nvSpPr>
          <p:cNvPr id="31" name="Text 28"/>
          <p:cNvSpPr txBox="1"/>
          <p:nvPr/>
        </p:nvSpPr>
        <p:spPr>
          <a:xfrm>
            <a:off x="8354568" y="3950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8857488" y="393192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Reliability</a:t>
            </a:r>
            <a:endParaRPr lang="en-US" sz="1500" dirty="0"/>
          </a:p>
        </p:txBody>
      </p:sp>
      <p:sp>
        <p:nvSpPr>
          <p:cNvPr id="33" name="Text 30"/>
          <p:cNvSpPr txBox="1"/>
          <p:nvPr/>
        </p:nvSpPr>
        <p:spPr>
          <a:xfrm>
            <a:off x="8354568" y="4462272"/>
            <a:ext cx="3057144" cy="1325880"/>
          </a:xfrm>
          <a:prstGeom prst="rect">
            <a:avLst/>
          </a:prstGeom>
          <a:noFill/>
          <a:ln/>
        </p:spPr>
        <p:txBody>
          <a:bodyPr wrap="square" lIns="0" tIns="0" rIns="0" bIns="0" rtlCol="0" anchor="t"/>
          <a:lstStyle/>
          <a:p>
            <a:pPr indent="0" marL="0">
              <a:buNone/>
            </a:pPr>
            <a:r>
              <a:rPr lang="en-US" sz="1050" dirty="0">
                <a:solidFill>
                  <a:schemeClr val="tx2"/>
                </a:solidFill>
              </a:rPr>
              <a:t>Trials: each item performed twice with fresh draws; pass@1, pass^k and consistency reported over items, never trials. The relational rung hands over only what a recommendation uses; unneeded-data-used added.</a:t>
            </a:r>
            <a:endParaRPr lang="en-US" sz="10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The test programme: eleven tests, each gating the next</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640080"/>
                <a:gridCol w="4206240"/>
                <a:gridCol w="1097280"/>
                <a:gridCol w="2651760"/>
                <a:gridCol w="2496312"/>
              </a:tblGrid>
              <a:tr h="329184">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ID</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TEST</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DATE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SCALE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RECORD</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29184">
                <a:tc>
                  <a:txBody>
                    <a:bodyPr/>
                    <a:lstStyle/>
                    <a:p>
                      <a:pPr indent="0" marL="0">
                        <a:buNone/>
                      </a:pPr>
                      <a:r>
                        <a:rPr lang="en-US" sz="1050" dirty="0">
                          <a:solidFill>
                            <a:srgbClr val="10233A"/>
                          </a:solidFill>
                        </a:rPr>
                        <a:t>T0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First live recording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 designs, 1 performance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retracted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Triage of the ERROR cells (offline)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103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ERROR-TRIAGE.md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 0 smoke: did the desk fixes end the loops?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24 items + 8 controls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PHASE-0-SMOKE-AND-PROBE.md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Determinism probe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1,080 requests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same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T4</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 1 diagnoses (offline)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124 advice + 110 complaints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PHASE-1-DIAGNOSES.md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T5</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Complaints re-recorded with the rule visible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220 cells, 2 trials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PHASE-2B-COMPLAINTS.md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Smokes of the design-decision fixes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36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113 §13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T7</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Preflight: four live smokes of the changed desks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238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113 §13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WP195: the full re-record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 designs, 1,792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RUNS-AND-FINDINGS.md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T9</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Lending re-record after the explanation fix</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408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same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T10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Reference experiments re-run at full size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 designs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docs/evidence/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T11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Software tests and the gate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throughout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5,730 tests, 607 files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CI</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The preflight's most important finding</a:t>
            </a:r>
            <a:endParaRPr lang="en-US" sz="2800" dirty="0"/>
          </a:p>
        </p:txBody>
      </p:sp>
      <p:sp>
        <p:nvSpPr>
          <p:cNvPr id="4" name="step 1"/>
          <p:cNvSpPr/>
          <p:nvPr/>
        </p:nvSpPr>
        <p:spPr>
          <a:xfrm>
            <a:off x="548640" y="1463040"/>
            <a:ext cx="384048" cy="384048"/>
          </a:xfrm>
          <a:prstGeom prst="ellipse">
            <a:avLst/>
          </a:prstGeom>
          <a:solidFill>
            <a:schemeClr val="accent1"/>
          </a:solidFill>
          <a:ln w="12700">
            <a:solidFill>
              <a:schemeClr val="accent1"/>
            </a:solidFill>
            <a:prstDash val="solid"/>
          </a:ln>
        </p:spPr>
      </p:sp>
      <p:sp>
        <p:nvSpPr>
          <p:cNvPr id="5" name="Text 2"/>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51560" y="1463040"/>
            <a:ext cx="2064258" cy="384048"/>
          </a:xfrm>
          <a:prstGeom prst="rect">
            <a:avLst/>
          </a:prstGeom>
          <a:noFill/>
          <a:ln/>
        </p:spPr>
        <p:txBody>
          <a:bodyPr wrap="square" lIns="0" tIns="0" rIns="0" bIns="0" rtlCol="0" anchor="ctr"/>
          <a:lstStyle/>
          <a:p>
            <a:pPr indent="0" marL="0">
              <a:buNone/>
            </a:pPr>
            <a:r>
              <a:rPr lang="en-US" sz="1600" b="1" dirty="0">
                <a:solidFill>
                  <a:schemeClr val="tx1"/>
                </a:solidFill>
                <a:latin typeface="Newsreader" pitchFamily="34" charset="0"/>
                <a:ea typeface="Newsreader" pitchFamily="34" charset="-122"/>
                <a:cs typeface="Newsreader" pitchFamily="34" charset="-120"/>
              </a:rPr>
              <a:t>Round 1</a:t>
            </a:r>
            <a:endParaRPr lang="en-US" sz="1600" dirty="0"/>
          </a:p>
        </p:txBody>
      </p:sp>
      <p:sp>
        <p:nvSpPr>
          <p:cNvPr id="7" name="Text 4"/>
          <p:cNvSpPr txBox="1"/>
          <p:nvPr/>
        </p:nvSpPr>
        <p:spPr>
          <a:xfrm>
            <a:off x="548640" y="1920240"/>
            <a:ext cx="2567178"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118 cells</a:t>
            </a:r>
            <a:endParaRPr lang="en-US" sz="900" dirty="0"/>
          </a:p>
        </p:txBody>
      </p:sp>
      <p:sp>
        <p:nvSpPr>
          <p:cNvPr id="8" name="Text 5"/>
          <p:cNvSpPr txBox="1"/>
          <p:nvPr/>
        </p:nvSpPr>
        <p:spPr>
          <a:xfrm>
            <a:off x="548640" y="2240280"/>
            <a:ext cx="2567178" cy="1463040"/>
          </a:xfrm>
          <a:prstGeom prst="rect">
            <a:avLst/>
          </a:prstGeom>
          <a:noFill/>
          <a:ln/>
        </p:spPr>
        <p:txBody>
          <a:bodyPr wrap="square" lIns="0" tIns="0" rIns="0" bIns="0" rtlCol="0" anchor="t"/>
          <a:lstStyle/>
          <a:p>
            <a:pPr indent="0" marL="0">
              <a:buNone/>
            </a:pPr>
            <a:r>
              <a:rPr lang="en-US" sz="1150" dirty="0">
                <a:solidFill>
                  <a:schemeClr val="tx2"/>
                </a:solidFill>
              </a:rPr>
              <a:t>Rules on the case files work; disputes temptations bind the card; three stage stalls (onboarding decision, collections agree, lending disburse)</a:t>
            </a:r>
            <a:endParaRPr lang="en-US" sz="1150" dirty="0"/>
          </a:p>
        </p:txBody>
      </p:sp>
      <p:sp>
        <p:nvSpPr>
          <p:cNvPr id="9" name="arrow 0"/>
          <p:cNvSpPr/>
          <p:nvPr/>
        </p:nvSpPr>
        <p:spPr>
          <a:xfrm>
            <a:off x="3152394" y="1536192"/>
            <a:ext cx="201168" cy="237744"/>
          </a:xfrm>
          <a:prstGeom prst="rightArrow">
            <a:avLst/>
          </a:prstGeom>
          <a:solidFill>
            <a:schemeClr val="accent5"/>
          </a:solidFill>
          <a:ln w="12700">
            <a:solidFill>
              <a:schemeClr val="accent5"/>
            </a:solidFill>
            <a:prstDash val="solid"/>
          </a:ln>
        </p:spPr>
      </p:sp>
      <p:sp>
        <p:nvSpPr>
          <p:cNvPr id="10" name="step 2"/>
          <p:cNvSpPr/>
          <p:nvPr/>
        </p:nvSpPr>
        <p:spPr>
          <a:xfrm>
            <a:off x="3390138" y="146304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3390138"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3893058" y="1463040"/>
            <a:ext cx="2064258" cy="384048"/>
          </a:xfrm>
          <a:prstGeom prst="rect">
            <a:avLst/>
          </a:prstGeom>
          <a:noFill/>
          <a:ln/>
        </p:spPr>
        <p:txBody>
          <a:bodyPr wrap="square" lIns="0" tIns="0" rIns="0" bIns="0" rtlCol="0" anchor="ctr"/>
          <a:lstStyle/>
          <a:p>
            <a:pPr indent="0" marL="0">
              <a:buNone/>
            </a:pPr>
            <a:r>
              <a:rPr lang="en-US" sz="1600" b="1" dirty="0">
                <a:solidFill>
                  <a:schemeClr val="tx1"/>
                </a:solidFill>
                <a:latin typeface="Newsreader" pitchFamily="34" charset="0"/>
                <a:ea typeface="Newsreader" pitchFamily="34" charset="-122"/>
                <a:cs typeface="Newsreader" pitchFamily="34" charset="-120"/>
              </a:rPr>
              <a:t>Round 2</a:t>
            </a:r>
            <a:endParaRPr lang="en-US" sz="1600" dirty="0"/>
          </a:p>
        </p:txBody>
      </p:sp>
      <p:sp>
        <p:nvSpPr>
          <p:cNvPr id="13" name="Text 10"/>
          <p:cNvSpPr txBox="1"/>
          <p:nvPr/>
        </p:nvSpPr>
        <p:spPr>
          <a:xfrm>
            <a:off x="3390138" y="1920240"/>
            <a:ext cx="2567178"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40 cells</a:t>
            </a:r>
            <a:endParaRPr lang="en-US" sz="900" dirty="0"/>
          </a:p>
        </p:txBody>
      </p:sp>
      <p:sp>
        <p:nvSpPr>
          <p:cNvPr id="14" name="Text 11"/>
          <p:cNvSpPr txBox="1"/>
          <p:nvPr/>
        </p:nvSpPr>
        <p:spPr>
          <a:xfrm>
            <a:off x="3390138" y="2240280"/>
            <a:ext cx="2567178" cy="1463040"/>
          </a:xfrm>
          <a:prstGeom prst="rect">
            <a:avLst/>
          </a:prstGeom>
          <a:noFill/>
          <a:ln/>
        </p:spPr>
        <p:txBody>
          <a:bodyPr wrap="square" lIns="0" tIns="0" rIns="0" bIns="0" rtlCol="0" anchor="t"/>
          <a:lstStyle/>
          <a:p>
            <a:pPr indent="0" marL="0">
              <a:buNone/>
            </a:pPr>
            <a:r>
              <a:rPr lang="en-US" sz="1150" dirty="0">
                <a:solidFill>
                  <a:schemeClr val="tx2"/>
                </a:solidFill>
              </a:rPr>
              <a:t>Onboarding and collections clean; one lending cut-off spiral, so the reply limit went to 2,048</a:t>
            </a:r>
            <a:endParaRPr lang="en-US" sz="1150" dirty="0"/>
          </a:p>
        </p:txBody>
      </p:sp>
      <p:sp>
        <p:nvSpPr>
          <p:cNvPr id="15" name="arrow 1"/>
          <p:cNvSpPr/>
          <p:nvPr/>
        </p:nvSpPr>
        <p:spPr>
          <a:xfrm>
            <a:off x="5993892" y="1536192"/>
            <a:ext cx="201168" cy="237744"/>
          </a:xfrm>
          <a:prstGeom prst="rightArrow">
            <a:avLst/>
          </a:prstGeom>
          <a:solidFill>
            <a:schemeClr val="accent5"/>
          </a:solidFill>
          <a:ln w="12700">
            <a:solidFill>
              <a:schemeClr val="accent5"/>
            </a:solidFill>
            <a:prstDash val="solid"/>
          </a:ln>
        </p:spPr>
      </p:sp>
      <p:sp>
        <p:nvSpPr>
          <p:cNvPr id="16" name="step 3"/>
          <p:cNvSpPr/>
          <p:nvPr/>
        </p:nvSpPr>
        <p:spPr>
          <a:xfrm>
            <a:off x="6231636" y="1463040"/>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6231636"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6734556" y="1463040"/>
            <a:ext cx="2064258" cy="384048"/>
          </a:xfrm>
          <a:prstGeom prst="rect">
            <a:avLst/>
          </a:prstGeom>
          <a:noFill/>
          <a:ln/>
        </p:spPr>
        <p:txBody>
          <a:bodyPr wrap="square" lIns="0" tIns="0" rIns="0" bIns="0" rtlCol="0" anchor="ctr"/>
          <a:lstStyle/>
          <a:p>
            <a:pPr indent="0" marL="0">
              <a:buNone/>
            </a:pPr>
            <a:r>
              <a:rPr lang="en-US" sz="1600" b="1" dirty="0">
                <a:solidFill>
                  <a:schemeClr val="tx1"/>
                </a:solidFill>
                <a:latin typeface="Newsreader" pitchFamily="34" charset="0"/>
                <a:ea typeface="Newsreader" pitchFamily="34" charset="-122"/>
                <a:cs typeface="Newsreader" pitchFamily="34" charset="-120"/>
              </a:rPr>
              <a:t>Round 3</a:t>
            </a:r>
            <a:endParaRPr lang="en-US" sz="1600" dirty="0"/>
          </a:p>
        </p:txBody>
      </p:sp>
      <p:sp>
        <p:nvSpPr>
          <p:cNvPr id="19" name="Text 16"/>
          <p:cNvSpPr txBox="1"/>
          <p:nvPr/>
        </p:nvSpPr>
        <p:spPr>
          <a:xfrm>
            <a:off x="6231636" y="1920240"/>
            <a:ext cx="2567178"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50 cells</a:t>
            </a:r>
            <a:endParaRPr lang="en-US" sz="900" dirty="0"/>
          </a:p>
        </p:txBody>
      </p:sp>
      <p:sp>
        <p:nvSpPr>
          <p:cNvPr id="20" name="Text 17"/>
          <p:cNvSpPr txBox="1"/>
          <p:nvPr/>
        </p:nvSpPr>
        <p:spPr>
          <a:xfrm>
            <a:off x="6231636" y="2240280"/>
            <a:ext cx="2567178" cy="1463040"/>
          </a:xfrm>
          <a:prstGeom prst="rect">
            <a:avLst/>
          </a:prstGeom>
          <a:noFill/>
          <a:ln/>
        </p:spPr>
        <p:txBody>
          <a:bodyPr wrap="square" lIns="0" tIns="0" rIns="0" bIns="0" rtlCol="0" anchor="t"/>
          <a:lstStyle/>
          <a:p>
            <a:pPr indent="0" marL="0">
              <a:buNone/>
            </a:pPr>
            <a:r>
              <a:rPr lang="en-US" sz="1150" dirty="0">
                <a:solidFill>
                  <a:schemeClr val="tx2"/>
                </a:solidFill>
              </a:rPr>
              <a:t>Fraud look-up never found the account the alert names; the SAR refusal named no way out; servicing's bereavement act said condolences instead of closing</a:t>
            </a:r>
            <a:endParaRPr lang="en-US" sz="1150" dirty="0"/>
          </a:p>
        </p:txBody>
      </p:sp>
      <p:sp>
        <p:nvSpPr>
          <p:cNvPr id="21" name="arrow 2"/>
          <p:cNvSpPr/>
          <p:nvPr/>
        </p:nvSpPr>
        <p:spPr>
          <a:xfrm>
            <a:off x="8835390" y="1536192"/>
            <a:ext cx="201168" cy="237744"/>
          </a:xfrm>
          <a:prstGeom prst="rightArrow">
            <a:avLst/>
          </a:prstGeom>
          <a:solidFill>
            <a:schemeClr val="accent5"/>
          </a:solidFill>
          <a:ln w="12700">
            <a:solidFill>
              <a:schemeClr val="accent5"/>
            </a:solidFill>
            <a:prstDash val="solid"/>
          </a:ln>
        </p:spPr>
      </p:sp>
      <p:sp>
        <p:nvSpPr>
          <p:cNvPr id="22" name="step 4"/>
          <p:cNvSpPr/>
          <p:nvPr/>
        </p:nvSpPr>
        <p:spPr>
          <a:xfrm>
            <a:off x="9073134" y="1463040"/>
            <a:ext cx="384048" cy="384048"/>
          </a:xfrm>
          <a:prstGeom prst="ellipse">
            <a:avLst/>
          </a:prstGeom>
          <a:solidFill>
            <a:schemeClr val="accent1"/>
          </a:solidFill>
          <a:ln w="12700">
            <a:solidFill>
              <a:schemeClr val="accent1"/>
            </a:solidFill>
            <a:prstDash val="solid"/>
          </a:ln>
        </p:spPr>
      </p:sp>
      <p:sp>
        <p:nvSpPr>
          <p:cNvPr id="23" name="Text 20"/>
          <p:cNvSpPr txBox="1"/>
          <p:nvPr/>
        </p:nvSpPr>
        <p:spPr>
          <a:xfrm>
            <a:off x="9073134"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9576054" y="1463040"/>
            <a:ext cx="2064258" cy="384048"/>
          </a:xfrm>
          <a:prstGeom prst="rect">
            <a:avLst/>
          </a:prstGeom>
          <a:noFill/>
          <a:ln/>
        </p:spPr>
        <p:txBody>
          <a:bodyPr wrap="square" lIns="0" tIns="0" rIns="0" bIns="0" rtlCol="0" anchor="ctr"/>
          <a:lstStyle/>
          <a:p>
            <a:pPr indent="0" marL="0">
              <a:buNone/>
            </a:pPr>
            <a:r>
              <a:rPr lang="en-US" sz="1600" b="1" dirty="0">
                <a:solidFill>
                  <a:schemeClr val="tx1"/>
                </a:solidFill>
                <a:latin typeface="Newsreader" pitchFamily="34" charset="0"/>
                <a:ea typeface="Newsreader" pitchFamily="34" charset="-122"/>
                <a:cs typeface="Newsreader" pitchFamily="34" charset="-120"/>
              </a:rPr>
              <a:t>Round 4</a:t>
            </a:r>
            <a:endParaRPr lang="en-US" sz="1600" dirty="0"/>
          </a:p>
        </p:txBody>
      </p:sp>
      <p:sp>
        <p:nvSpPr>
          <p:cNvPr id="25" name="Text 22"/>
          <p:cNvSpPr txBox="1"/>
          <p:nvPr/>
        </p:nvSpPr>
        <p:spPr>
          <a:xfrm>
            <a:off x="9073134" y="1920240"/>
            <a:ext cx="2567178"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30 cells</a:t>
            </a:r>
            <a:endParaRPr lang="en-US" sz="900" dirty="0"/>
          </a:p>
        </p:txBody>
      </p:sp>
      <p:sp>
        <p:nvSpPr>
          <p:cNvPr id="26" name="Text 23"/>
          <p:cNvSpPr txBox="1"/>
          <p:nvPr/>
        </p:nvSpPr>
        <p:spPr>
          <a:xfrm>
            <a:off x="9073134" y="2240280"/>
            <a:ext cx="2567178" cy="1463040"/>
          </a:xfrm>
          <a:prstGeom prst="rect">
            <a:avLst/>
          </a:prstGeom>
          <a:noFill/>
          <a:ln/>
        </p:spPr>
        <p:txBody>
          <a:bodyPr wrap="square" lIns="0" tIns="0" rIns="0" bIns="0" rtlCol="0" anchor="t"/>
          <a:lstStyle/>
          <a:p>
            <a:pPr indent="0" marL="0">
              <a:buNone/>
            </a:pPr>
            <a:r>
              <a:rPr lang="en-US" sz="1150" dirty="0">
                <a:solidFill>
                  <a:schemeClr val="tx2"/>
                </a:solidFill>
              </a:rPr>
              <a:t>Clean but for one fraud cell re-opening its alert; complaints redress offers consistently £35</a:t>
            </a:r>
            <a:endParaRPr lang="en-US" sz="1150" dirty="0"/>
          </a:p>
        </p:txBody>
      </p:sp>
      <p:sp>
        <p:nvSpPr>
          <p:cNvPr id="27" name="callout"/>
          <p:cNvSpPr/>
          <p:nvPr/>
        </p:nvSpPr>
        <p:spPr>
          <a:xfrm>
            <a:off x="548640" y="3931920"/>
            <a:ext cx="11091672" cy="1005840"/>
          </a:xfrm>
          <a:prstGeom prst="rect">
            <a:avLst/>
          </a:prstGeom>
          <a:solidFill>
            <a:schemeClr val="bg2"/>
          </a:solidFill>
          <a:ln w="9525">
            <a:solidFill>
              <a:schemeClr val="accent5"/>
            </a:solidFill>
            <a:prstDash val="solid"/>
          </a:ln>
        </p:spPr>
      </p:sp>
      <p:sp>
        <p:nvSpPr>
          <p:cNvPr id="28" name="callout dot"/>
          <p:cNvSpPr/>
          <p:nvPr/>
        </p:nvSpPr>
        <p:spPr>
          <a:xfrm>
            <a:off x="713232" y="4114800"/>
            <a:ext cx="201168" cy="201168"/>
          </a:xfrm>
          <a:prstGeom prst="ellipse">
            <a:avLst/>
          </a:prstGeom>
          <a:solidFill>
            <a:schemeClr val="accent2"/>
          </a:solidFill>
          <a:ln w="12700">
            <a:solidFill>
              <a:schemeClr val="accent2"/>
            </a:solidFill>
            <a:prstDash val="solid"/>
          </a:ln>
        </p:spPr>
      </p:sp>
      <p:sp>
        <p:nvSpPr>
          <p:cNvPr id="29" name="Text 26"/>
          <p:cNvSpPr txBox="1"/>
          <p:nvPr/>
        </p:nvSpPr>
        <p:spPr>
          <a:xfrm>
            <a:off x="1051560" y="4023360"/>
            <a:ext cx="10451592" cy="822960"/>
          </a:xfrm>
          <a:prstGeom prst="rect">
            <a:avLst/>
          </a:prstGeom>
          <a:noFill/>
          <a:ln/>
        </p:spPr>
        <p:txBody>
          <a:bodyPr wrap="square" lIns="0" tIns="0" rIns="0" bIns="0" rtlCol="0" anchor="ctr"/>
          <a:lstStyle/>
          <a:p>
            <a:pPr indent="0" marL="0">
              <a:buNone/>
            </a:pPr>
            <a:r>
              <a:rPr lang="en-US" sz="1300" b="1" dirty="0">
                <a:solidFill>
                  <a:schemeClr val="tx1"/>
                </a:solidFill>
              </a:rPr>
              <a:t>The desk brief is a record on the desk, not a line of the prompt. </a:t>
            </a:r>
            <a:pPr indent="0" marL="0">
              <a:buNone/>
            </a:pPr>
            <a:r>
              <a:rPr lang="en-US" sz="1300" dirty="0">
                <a:solidFill>
                  <a:schemeClr val="tx1"/>
                </a:solidFill>
              </a:rPr>
              <a:t>The model's prompt was a generic robot prompt, the stage goal and the senses. The lending, disputes, collections, onboarding and complaints rules had never been seen by the model. They are now joined to each desk's case-file sense, with tests that they follow the knobs and carry no verdict.</a:t>
            </a:r>
            <a:endParaRPr lang="en-US" sz="1300" dirty="0"/>
          </a:p>
        </p:txBody>
      </p:sp>
      <p:sp>
        <p:nvSpPr>
          <p:cNvPr id="30" name="Text 27"/>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1100" dirty="0">
                <a:solidFill>
                  <a:schemeClr val="tx2"/>
                </a:solidFill>
              </a:rPr>
              <a:t>No reply was cut off at 1,024 tokens (longest 373). Latency p50 12–14 s, p99 32–35 s; at 5–7 tokens a second under 16 concurrent calls, about one call in 629 hit the 60 s floor, so the timeout is now 180 s.</a:t>
            </a:r>
            <a:endParaRPr lang="en-US" sz="11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2651760"/>
            <a:ext cx="11091672" cy="1097280"/>
          </a:xfrm>
          <a:prstGeom prst="rect">
            <a:avLst/>
          </a:prstGeom>
          <a:noFill/>
          <a:ln/>
        </p:spPr>
        <p:txBody>
          <a:bodyPr wrap="square" lIns="0" tIns="0" rIns="0" bIns="0" rtlCol="0" anchor="ctr"/>
          <a:lstStyle/>
          <a:p>
            <a:pPr algn="l" indent="0" marL="0">
              <a:buNone/>
            </a:pPr>
            <a:r>
              <a:rPr lang="en-US" sz="4000" b="1" dirty="0">
                <a:solidFill>
                  <a:schemeClr val="tx1"/>
                </a:solidFill>
              </a:rPr>
              <a:t>What the re-record shows</a:t>
            </a:r>
            <a:endParaRPr lang="en-US" sz="4000" dirty="0"/>
          </a:p>
        </p:txBody>
      </p:sp>
      <p:sp>
        <p:nvSpPr>
          <p:cNvPr id="4" name="Text 1"/>
          <p:cNvSpPr/>
          <p:nvPr>
            <p:ph idx="102" type="body" hasCustomPrompt="1"/>
          </p:nvPr>
        </p:nvSpPr>
        <p:spPr>
          <a:xfrm>
            <a:off x="548640" y="3794760"/>
            <a:ext cx="11091672" cy="822960"/>
          </a:xfrm>
          <a:prstGeom prst="rect">
            <a:avLst/>
          </a:prstGeom>
          <a:noFill/>
          <a:ln/>
        </p:spPr>
        <p:txBody>
          <a:bodyPr wrap="square" lIns="0" tIns="0" rIns="0" bIns="0" rtlCol="0" anchor="t"/>
          <a:lstStyle/>
          <a:p>
            <a:pPr indent="0" marL="0">
              <a:buNone/>
            </a:pPr>
            <a:r>
              <a:rPr lang="en-US" sz="1800" dirty="0">
                <a:solidFill>
                  <a:schemeClr val="tx2"/>
                </a:solidFill>
              </a:rPr>
              <a:t>Ten designs, 1,792 cells, 14,469 recorded calls, most designs performed twice. Every figure replays exactly in CI with no network.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The re-record at a glance</a:t>
            </a:r>
            <a:endParaRPr lang="en-US" sz="2800" dirty="0"/>
          </a:p>
        </p:txBody>
      </p:sp>
      <p:sp>
        <p:nvSpPr>
          <p:cNvPr id="4" name="stat card 1,792"/>
          <p:cNvSpPr/>
          <p:nvPr/>
        </p:nvSpPr>
        <p:spPr>
          <a:xfrm>
            <a:off x="548640" y="1417320"/>
            <a:ext cx="2606040" cy="1143000"/>
          </a:xfrm>
          <a:prstGeom prst="roundRect">
            <a:avLst>
              <a:gd name="adj" fmla="val 6400"/>
            </a:avLst>
          </a:prstGeom>
          <a:solidFill>
            <a:schemeClr val="bg2"/>
          </a:solidFill>
          <a:ln w="9525">
            <a:solidFill>
              <a:schemeClr val="accent5"/>
            </a:solidFill>
            <a:prstDash val="solid"/>
          </a:ln>
        </p:spPr>
      </p:sp>
      <p:sp>
        <p:nvSpPr>
          <p:cNvPr id="5" name="Text 2"/>
          <p:cNvSpPr txBox="1"/>
          <p:nvPr/>
        </p:nvSpPr>
        <p:spPr>
          <a:xfrm>
            <a:off x="731520" y="1527048"/>
            <a:ext cx="2240280" cy="571500"/>
          </a:xfrm>
          <a:prstGeom prst="rect">
            <a:avLst/>
          </a:prstGeom>
          <a:noFill/>
          <a:ln/>
        </p:spPr>
        <p:txBody>
          <a:bodyPr wrap="square" lIns="0" tIns="0" rIns="0" bIns="0" rtlCol="0" anchor="ctr"/>
          <a:lstStyle/>
          <a:p>
            <a:pPr indent="0" marL="0">
              <a:buNone/>
            </a:pPr>
            <a:r>
              <a:rPr lang="en-US" sz="3200" b="1" dirty="0">
                <a:solidFill>
                  <a:schemeClr val="tx1"/>
                </a:solidFill>
                <a:latin typeface="Newsreader" pitchFamily="34" charset="0"/>
                <a:ea typeface="Newsreader" pitchFamily="34" charset="-122"/>
                <a:cs typeface="Newsreader" pitchFamily="34" charset="-120"/>
              </a:rPr>
              <a:t>1,792</a:t>
            </a:r>
            <a:endParaRPr lang="en-US" sz="3200" dirty="0"/>
          </a:p>
        </p:txBody>
      </p:sp>
      <p:sp>
        <p:nvSpPr>
          <p:cNvPr id="6" name="Text 3"/>
          <p:cNvSpPr txBox="1"/>
          <p:nvPr/>
        </p:nvSpPr>
        <p:spPr>
          <a:xfrm>
            <a:off x="731520" y="2045970"/>
            <a:ext cx="2240280" cy="480060"/>
          </a:xfrm>
          <a:prstGeom prst="rect">
            <a:avLst/>
          </a:prstGeom>
          <a:noFill/>
          <a:ln/>
        </p:spPr>
        <p:txBody>
          <a:bodyPr wrap="square" lIns="0" tIns="0" rIns="0" bIns="0" rtlCol="0" anchor="t"/>
          <a:lstStyle/>
          <a:p>
            <a:pPr indent="0" marL="0">
              <a:buNone/>
            </a:pPr>
            <a:r>
              <a:rPr lang="en-US" sz="1100" dirty="0">
                <a:solidFill>
                  <a:schemeClr val="tx2"/>
                </a:solidFill>
              </a:rPr>
              <a:t>live cells across 10 designs, most performed twice</a:t>
            </a:r>
            <a:endParaRPr lang="en-US" sz="1100" dirty="0"/>
          </a:p>
        </p:txBody>
      </p:sp>
      <p:sp>
        <p:nvSpPr>
          <p:cNvPr id="7" name="stat card 14,469"/>
          <p:cNvSpPr/>
          <p:nvPr/>
        </p:nvSpPr>
        <p:spPr>
          <a:xfrm>
            <a:off x="3383280" y="1417320"/>
            <a:ext cx="2606040" cy="1143000"/>
          </a:xfrm>
          <a:prstGeom prst="roundRect">
            <a:avLst>
              <a:gd name="adj" fmla="val 6400"/>
            </a:avLst>
          </a:prstGeom>
          <a:solidFill>
            <a:schemeClr val="bg2"/>
          </a:solidFill>
          <a:ln w="9525">
            <a:solidFill>
              <a:schemeClr val="accent5"/>
            </a:solidFill>
            <a:prstDash val="solid"/>
          </a:ln>
        </p:spPr>
      </p:sp>
      <p:sp>
        <p:nvSpPr>
          <p:cNvPr id="8" name="Text 5"/>
          <p:cNvSpPr txBox="1"/>
          <p:nvPr/>
        </p:nvSpPr>
        <p:spPr>
          <a:xfrm>
            <a:off x="3566160" y="1527048"/>
            <a:ext cx="2240280" cy="571500"/>
          </a:xfrm>
          <a:prstGeom prst="rect">
            <a:avLst/>
          </a:prstGeom>
          <a:noFill/>
          <a:ln/>
        </p:spPr>
        <p:txBody>
          <a:bodyPr wrap="square" lIns="0" tIns="0" rIns="0" bIns="0" rtlCol="0" anchor="ctr"/>
          <a:lstStyle/>
          <a:p>
            <a:pPr indent="0" marL="0">
              <a:buNone/>
            </a:pPr>
            <a:r>
              <a:rPr lang="en-US" sz="3200" b="1" dirty="0">
                <a:solidFill>
                  <a:schemeClr val="tx1"/>
                </a:solidFill>
                <a:latin typeface="Newsreader" pitchFamily="34" charset="0"/>
                <a:ea typeface="Newsreader" pitchFamily="34" charset="-122"/>
                <a:cs typeface="Newsreader" pitchFamily="34" charset="-120"/>
              </a:rPr>
              <a:t>14,469</a:t>
            </a:r>
            <a:endParaRPr lang="en-US" sz="3200" dirty="0"/>
          </a:p>
        </p:txBody>
      </p:sp>
      <p:sp>
        <p:nvSpPr>
          <p:cNvPr id="9" name="Text 6"/>
          <p:cNvSpPr txBox="1"/>
          <p:nvPr/>
        </p:nvSpPr>
        <p:spPr>
          <a:xfrm>
            <a:off x="3566160" y="2045970"/>
            <a:ext cx="2240280" cy="480060"/>
          </a:xfrm>
          <a:prstGeom prst="rect">
            <a:avLst/>
          </a:prstGeom>
          <a:noFill/>
          <a:ln/>
        </p:spPr>
        <p:txBody>
          <a:bodyPr wrap="square" lIns="0" tIns="0" rIns="0" bIns="0" rtlCol="0" anchor="t"/>
          <a:lstStyle/>
          <a:p>
            <a:pPr indent="0" marL="0">
              <a:buNone/>
            </a:pPr>
            <a:r>
              <a:rPr lang="en-US" sz="1100" dirty="0">
                <a:solidFill>
                  <a:schemeClr val="tx2"/>
                </a:solidFill>
              </a:rPr>
              <a:t>recorded model calls, every one kept with role, stage and unit</a:t>
            </a:r>
            <a:endParaRPr lang="en-US" sz="1100" dirty="0"/>
          </a:p>
        </p:txBody>
      </p:sp>
      <p:sp>
        <p:nvSpPr>
          <p:cNvPr id="10" name="stat card 5 h 17 m"/>
          <p:cNvSpPr/>
          <p:nvPr/>
        </p:nvSpPr>
        <p:spPr>
          <a:xfrm>
            <a:off x="6217920" y="1417320"/>
            <a:ext cx="2606040" cy="1143000"/>
          </a:xfrm>
          <a:prstGeom prst="roundRect">
            <a:avLst>
              <a:gd name="adj" fmla="val 6400"/>
            </a:avLst>
          </a:prstGeom>
          <a:solidFill>
            <a:schemeClr val="bg2"/>
          </a:solidFill>
          <a:ln w="9525">
            <a:solidFill>
              <a:schemeClr val="accent5"/>
            </a:solidFill>
            <a:prstDash val="solid"/>
          </a:ln>
        </p:spPr>
      </p:sp>
      <p:sp>
        <p:nvSpPr>
          <p:cNvPr id="11" name="Text 8"/>
          <p:cNvSpPr txBox="1"/>
          <p:nvPr/>
        </p:nvSpPr>
        <p:spPr>
          <a:xfrm>
            <a:off x="6400800" y="1527048"/>
            <a:ext cx="2240280" cy="571500"/>
          </a:xfrm>
          <a:prstGeom prst="rect">
            <a:avLst/>
          </a:prstGeom>
          <a:noFill/>
          <a:ln/>
        </p:spPr>
        <p:txBody>
          <a:bodyPr wrap="square" lIns="0" tIns="0" rIns="0" bIns="0" rtlCol="0" anchor="ctr"/>
          <a:lstStyle/>
          <a:p>
            <a:pPr indent="0" marL="0">
              <a:buNone/>
            </a:pPr>
            <a:r>
              <a:rPr lang="en-US" sz="3200" b="1" dirty="0">
                <a:solidFill>
                  <a:schemeClr val="tx1"/>
                </a:solidFill>
                <a:latin typeface="Newsreader" pitchFamily="34" charset="0"/>
                <a:ea typeface="Newsreader" pitchFamily="34" charset="-122"/>
                <a:cs typeface="Newsreader" pitchFamily="34" charset="-120"/>
              </a:rPr>
              <a:t>5 h 17 m</a:t>
            </a:r>
            <a:endParaRPr lang="en-US" sz="3200" dirty="0"/>
          </a:p>
        </p:txBody>
      </p:sp>
      <p:sp>
        <p:nvSpPr>
          <p:cNvPr id="12" name="Text 9"/>
          <p:cNvSpPr txBox="1"/>
          <p:nvPr/>
        </p:nvSpPr>
        <p:spPr>
          <a:xfrm>
            <a:off x="6400800" y="2045970"/>
            <a:ext cx="2240280" cy="480060"/>
          </a:xfrm>
          <a:prstGeom prst="rect">
            <a:avLst/>
          </a:prstGeom>
          <a:noFill/>
          <a:ln/>
        </p:spPr>
        <p:txBody>
          <a:bodyPr wrap="square" lIns="0" tIns="0" rIns="0" bIns="0" rtlCol="0" anchor="t"/>
          <a:lstStyle/>
          <a:p>
            <a:pPr indent="0" marL="0">
              <a:buNone/>
            </a:pPr>
            <a:r>
              <a:rPr lang="en-US" sz="1100" dirty="0">
                <a:solidFill>
                  <a:schemeClr val="tx2"/>
                </a:solidFill>
              </a:rPr>
              <a:t>of recording across both Sparks (7 h 02 m with the first lending pass)</a:t>
            </a:r>
            <a:endParaRPr lang="en-US" sz="1100" dirty="0"/>
          </a:p>
        </p:txBody>
      </p:sp>
      <p:sp>
        <p:nvSpPr>
          <p:cNvPr id="13" name="stat card 5,730"/>
          <p:cNvSpPr/>
          <p:nvPr/>
        </p:nvSpPr>
        <p:spPr>
          <a:xfrm>
            <a:off x="9052560" y="1417320"/>
            <a:ext cx="2587752" cy="1143000"/>
          </a:xfrm>
          <a:prstGeom prst="roundRect">
            <a:avLst>
              <a:gd name="adj" fmla="val 6400"/>
            </a:avLst>
          </a:prstGeom>
          <a:solidFill>
            <a:schemeClr val="bg2"/>
          </a:solidFill>
          <a:ln w="9525">
            <a:solidFill>
              <a:schemeClr val="accent5"/>
            </a:solidFill>
            <a:prstDash val="solid"/>
          </a:ln>
        </p:spPr>
      </p:sp>
      <p:sp>
        <p:nvSpPr>
          <p:cNvPr id="14" name="Text 11"/>
          <p:cNvSpPr txBox="1"/>
          <p:nvPr/>
        </p:nvSpPr>
        <p:spPr>
          <a:xfrm>
            <a:off x="9235440" y="1527048"/>
            <a:ext cx="2221992" cy="571500"/>
          </a:xfrm>
          <a:prstGeom prst="rect">
            <a:avLst/>
          </a:prstGeom>
          <a:noFill/>
          <a:ln/>
        </p:spPr>
        <p:txBody>
          <a:bodyPr wrap="square" lIns="0" tIns="0" rIns="0" bIns="0" rtlCol="0" anchor="ctr"/>
          <a:lstStyle/>
          <a:p>
            <a:pPr indent="0" marL="0">
              <a:buNone/>
            </a:pPr>
            <a:r>
              <a:rPr lang="en-US" sz="3200" b="1" dirty="0">
                <a:solidFill>
                  <a:schemeClr val="tx1"/>
                </a:solidFill>
                <a:latin typeface="Newsreader" pitchFamily="34" charset="0"/>
                <a:ea typeface="Newsreader" pitchFamily="34" charset="-122"/>
                <a:cs typeface="Newsreader" pitchFamily="34" charset="-120"/>
              </a:rPr>
              <a:t>5,730</a:t>
            </a:r>
            <a:endParaRPr lang="en-US" sz="3200" dirty="0"/>
          </a:p>
        </p:txBody>
      </p:sp>
      <p:sp>
        <p:nvSpPr>
          <p:cNvPr id="15" name="Text 12"/>
          <p:cNvSpPr txBox="1"/>
          <p:nvPr/>
        </p:nvSpPr>
        <p:spPr>
          <a:xfrm>
            <a:off x="9235440" y="2045970"/>
            <a:ext cx="2221992" cy="480060"/>
          </a:xfrm>
          <a:prstGeom prst="rect">
            <a:avLst/>
          </a:prstGeom>
          <a:noFill/>
          <a:ln/>
        </p:spPr>
        <p:txBody>
          <a:bodyPr wrap="square" lIns="0" tIns="0" rIns="0" bIns="0" rtlCol="0" anchor="t"/>
          <a:lstStyle/>
          <a:p>
            <a:pPr indent="0" marL="0">
              <a:buNone/>
            </a:pPr>
            <a:r>
              <a:rPr lang="en-US" sz="1100" dirty="0">
                <a:solidFill>
                  <a:schemeClr val="tx2"/>
                </a:solidFill>
              </a:rPr>
              <a:t>software tests in 607 files, all passing, holding the fixes in place</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914400"/>
        </p:xfrm>
        <a:graphic>
          <a:graphicData uri="http://schemas.openxmlformats.org/drawingml/2006/table">
            <a:tbl>
              <a:tblPr/>
              <a:tblGrid>
                <a:gridCol w="3017520"/>
                <a:gridCol w="1188720"/>
                <a:gridCol w="1097280"/>
                <a:gridCol w="1188720"/>
                <a:gridCol w="1280160"/>
                <a:gridCol w="1371600"/>
                <a:gridCol w="1947672"/>
              </a:tblGrid>
              <a:tr h="301752">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DESIGN</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BOOK</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PERFORMED</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CELLS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CALLS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WALL TIME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NON-SUCCESS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01752">
                <a:tc>
                  <a:txBody>
                    <a:bodyPr/>
                    <a:lstStyle/>
                    <a:p>
                      <a:pPr indent="0" marL="0">
                        <a:buNone/>
                      </a:pPr>
                      <a:r>
                        <a:rPr lang="en-US" sz="1050" dirty="0">
                          <a:solidFill>
                            <a:srgbClr val="10233A"/>
                          </a:solidFill>
                        </a:rPr>
                        <a:t>onboarding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400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132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1,143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19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 error, 2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disputes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400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complaints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220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584</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none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servicing / with live customer</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200 /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66 / 32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318 / 330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 / 5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none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controls-live (9 attack scenarios)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scenarios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1,692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37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end by step limit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collections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148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1,156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26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 errors, 1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lending (re-recorded 8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408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2,701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66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 errors, 7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advice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1,200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248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2,466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67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none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fraud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216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3,113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65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 errors, 23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Finding 1: seeing the rule was the whole difference</a:t>
            </a:r>
            <a:endParaRPr lang="en-US" sz="2800" dirty="0"/>
          </a:p>
        </p:txBody>
      </p:sp>
      <p:graphicFrame>
        <p:nvGraphicFramePr>
          <p:cNvPr id="4" name="Chart 0" descr=""/>
          <p:cNvGraphicFramePr/>
          <p:nvPr/>
        </p:nvGraphicFramePr>
        <p:xfrm>
          <a:off x="548640" y="1371600"/>
          <a:ext cx="7589520" cy="4572000"/>
        </p:xfrm>
        <a:graphic xmlns:a="http://schemas.openxmlformats.org/drawingml/2006/main">
          <a:graphicData uri="http://schemas.openxmlformats.org/drawingml/2006/chart">
            <c:chart xmlns:c="http://schemas.openxmlformats.org/drawingml/2006/chart" r:id="rId1"/>
          </a:graphicData>
        </a:graphic>
      </p:graphicFrame>
      <p:sp>
        <p:nvSpPr>
          <p:cNvPr id="5" name="assumed 90% reference"/>
          <p:cNvSpPr/>
          <p:nvPr/>
        </p:nvSpPr>
        <p:spPr>
          <a:xfrm>
            <a:off x="1155802" y="2248593"/>
            <a:ext cx="6830568" cy="0"/>
          </a:xfrm>
          <a:prstGeom prst="line">
            <a:avLst/>
          </a:prstGeom>
          <a:noFill/>
          <a:ln w="15875">
            <a:solidFill>
              <a:schemeClr val="tx2"/>
            </a:solidFill>
            <a:prstDash val="dash"/>
          </a:ln>
        </p:spPr>
      </p:sp>
      <p:sp>
        <p:nvSpPr>
          <p:cNvPr id="6" name="Text 2"/>
          <p:cNvSpPr txBox="1"/>
          <p:nvPr/>
        </p:nvSpPr>
        <p:spPr>
          <a:xfrm>
            <a:off x="8412480" y="1417320"/>
            <a:ext cx="3200400" cy="365760"/>
          </a:xfrm>
          <a:prstGeom prst="rect">
            <a:avLst/>
          </a:prstGeom>
          <a:noFill/>
          <a:ln/>
        </p:spPr>
        <p:txBody>
          <a:bodyPr wrap="square" lIns="0" tIns="0" rIns="0" bIns="0" rtlCol="0" anchor="t"/>
          <a:lstStyle/>
          <a:p>
            <a:pPr indent="0" marL="0">
              <a:buNone/>
            </a:pPr>
            <a:r>
              <a:rPr lang="en-US" sz="1500" b="1" dirty="0">
                <a:solidFill>
                  <a:schemeClr val="tx1"/>
                </a:solidFill>
                <a:latin typeface="Newsreader" pitchFamily="34" charset="0"/>
                <a:ea typeface="Newsreader" pitchFamily="34" charset="-122"/>
                <a:cs typeface="Newsreader" pitchFamily="34" charset="-120"/>
              </a:rPr>
              <a:t>Against the assumed 90% (dashed line)</a:t>
            </a:r>
            <a:endParaRPr lang="en-US" sz="1500" dirty="0"/>
          </a:p>
        </p:txBody>
      </p:sp>
      <p:sp>
        <p:nvSpPr>
          <p:cNvPr id="7" name="Text 3"/>
          <p:cNvSpPr txBox="1"/>
          <p:nvPr/>
        </p:nvSpPr>
        <p:spPr>
          <a:xfrm>
            <a:off x="8412480" y="1828800"/>
            <a:ext cx="3200400" cy="411480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2"/>
                </a:solidFill>
              </a:rPr>
              <a:t>Lending 100% (93–100%, n 51), collections 100% (91–100%, n 37) and complaints 99% (97–100%, n 55) are above the assumption and outside their intervals.</a:t>
            </a:r>
            <a:endParaRPr lang="en-US" sz="1150" dirty="0"/>
          </a:p>
          <a:p>
            <a:pPr marL="177800" indent="-177800">
              <a:spcAft>
                <a:spcPts val="800"/>
              </a:spcAft>
              <a:buSzPct val="100000"/>
              <a:buChar char="•"/>
            </a:pPr>
            <a:r>
              <a:rPr lang="en-US" sz="1150" dirty="0">
                <a:solidFill>
                  <a:schemeClr val="tx2"/>
                </a:solidFill>
              </a:rPr>
              <a:t>Servicing, onboarding, advice (100%) and fraud 96% (82–99%, n 27) are inside their wide intervals.</a:t>
            </a:r>
            <a:endParaRPr lang="en-US" sz="1150" dirty="0"/>
          </a:p>
          <a:p>
            <a:pPr marL="177800" indent="-177800">
              <a:spcAft>
                <a:spcPts val="800"/>
              </a:spcAft>
              <a:buSzPct val="100000"/>
              <a:buChar char="•"/>
            </a:pPr>
            <a:r>
              <a:rPr lang="en-US" sz="1150" dirty="0">
                <a:solidFill>
                  <a:schemeClr val="tx2"/>
                </a:solidFill>
              </a:rPr>
              <a:t>Disputes 81% (69–93%, n 40) is the only desk near the assumed error: the model misclassifies about one case in five, in both arms.</a:t>
            </a:r>
            <a:endParaRPr lang="en-US" sz="1150" dirty="0"/>
          </a:p>
          <a:p>
            <a:pPr marL="177800" indent="-177800">
              <a:spcAft>
                <a:spcPts val="800"/>
              </a:spcAft>
              <a:buSzPct val="100000"/>
              <a:buChar char="•"/>
            </a:pPr>
            <a:r>
              <a:rPr lang="en-US" sz="1150" dirty="0">
                <a:solidFill>
                  <a:schemeClr val="tx2"/>
                </a:solidFill>
              </a:rPr>
              <a:t>The fallible tier's uniform 10% is now too pessimistic on five desks. Its assumption rows have not been replaced yet; that is a design decision I still have to take.</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Finding 2: a control acts, for the first time</a:t>
            </a:r>
            <a:endParaRPr lang="en-US" sz="2800" dirty="0"/>
          </a:p>
        </p:txBody>
      </p:sp>
      <p:sp>
        <p:nvSpPr>
          <p:cNvPr id="4" name="stat card 94%"/>
          <p:cNvSpPr/>
          <p:nvPr/>
        </p:nvSpPr>
        <p:spPr>
          <a:xfrm>
            <a:off x="548640" y="1417320"/>
            <a:ext cx="2651760" cy="1371600"/>
          </a:xfrm>
          <a:prstGeom prst="roundRect">
            <a:avLst>
              <a:gd name="adj" fmla="val 5333"/>
            </a:avLst>
          </a:prstGeom>
          <a:solidFill>
            <a:schemeClr val="bg2"/>
          </a:solidFill>
          <a:ln w="9525">
            <a:solidFill>
              <a:schemeClr val="accent5"/>
            </a:solidFill>
            <a:prstDash val="solid"/>
          </a:ln>
        </p:spPr>
      </p:sp>
      <p:sp>
        <p:nvSpPr>
          <p:cNvPr id="5" name="Text 2"/>
          <p:cNvSpPr txBox="1"/>
          <p:nvPr/>
        </p:nvSpPr>
        <p:spPr>
          <a:xfrm>
            <a:off x="731520" y="1527048"/>
            <a:ext cx="2286000" cy="685800"/>
          </a:xfrm>
          <a:prstGeom prst="rect">
            <a:avLst/>
          </a:prstGeom>
          <a:noFill/>
          <a:ln/>
        </p:spPr>
        <p:txBody>
          <a:bodyPr wrap="square" lIns="0" tIns="0" rIns="0" bIns="0" rtlCol="0" anchor="ctr"/>
          <a:lstStyle/>
          <a:p>
            <a:pPr indent="0" marL="0">
              <a:buNone/>
            </a:pPr>
            <a:r>
              <a:rPr lang="en-US" sz="3200" b="1" dirty="0">
                <a:solidFill>
                  <a:schemeClr val="tx2"/>
                </a:solidFill>
                <a:latin typeface="Newsreader" pitchFamily="34" charset="0"/>
                <a:ea typeface="Newsreader" pitchFamily="34" charset="-122"/>
                <a:cs typeface="Newsreader" pitchFamily="34" charset="-120"/>
              </a:rPr>
              <a:t>94%</a:t>
            </a:r>
            <a:endParaRPr lang="en-US" sz="3200" dirty="0"/>
          </a:p>
        </p:txBody>
      </p:sp>
      <p:sp>
        <p:nvSpPr>
          <p:cNvPr id="6" name="Text 3"/>
          <p:cNvSpPr txBox="1"/>
          <p:nvPr/>
        </p:nvSpPr>
        <p:spPr>
          <a:xfrm>
            <a:off x="731520" y="2171700"/>
            <a:ext cx="2286000" cy="576072"/>
          </a:xfrm>
          <a:prstGeom prst="rect">
            <a:avLst/>
          </a:prstGeom>
          <a:noFill/>
          <a:ln/>
        </p:spPr>
        <p:txBody>
          <a:bodyPr wrap="square" lIns="0" tIns="0" rIns="0" bIns="0" rtlCol="0" anchor="t"/>
          <a:lstStyle/>
          <a:p>
            <a:pPr indent="0" marL="0">
              <a:buNone/>
            </a:pPr>
            <a:r>
              <a:rPr lang="en-US" sz="1100" dirty="0">
                <a:solidFill>
                  <a:schemeClr val="tx2"/>
                </a:solidFill>
              </a:rPr>
              <a:t>reimbursed within the limit, no stack (pass^2 93%)</a:t>
            </a:r>
            <a:endParaRPr lang="en-US" sz="1100" dirty="0"/>
          </a:p>
        </p:txBody>
      </p:sp>
      <p:sp>
        <p:nvSpPr>
          <p:cNvPr id="7" name="arrow"/>
          <p:cNvSpPr/>
          <p:nvPr/>
        </p:nvSpPr>
        <p:spPr>
          <a:xfrm>
            <a:off x="3337560" y="1874520"/>
            <a:ext cx="457200" cy="457200"/>
          </a:xfrm>
          <a:prstGeom prst="rightArrow">
            <a:avLst/>
          </a:prstGeom>
          <a:solidFill>
            <a:schemeClr val="accent5"/>
          </a:solidFill>
          <a:ln w="12700">
            <a:solidFill>
              <a:schemeClr val="accent5"/>
            </a:solidFill>
            <a:prstDash val="solid"/>
          </a:ln>
        </p:spPr>
      </p:sp>
      <p:sp>
        <p:nvSpPr>
          <p:cNvPr id="8" name="stat card 100%"/>
          <p:cNvSpPr/>
          <p:nvPr/>
        </p:nvSpPr>
        <p:spPr>
          <a:xfrm>
            <a:off x="3931920" y="1417320"/>
            <a:ext cx="2651760" cy="1371600"/>
          </a:xfrm>
          <a:prstGeom prst="roundRect">
            <a:avLst>
              <a:gd name="adj" fmla="val 5333"/>
            </a:avLst>
          </a:prstGeom>
          <a:solidFill>
            <a:schemeClr val="bg2"/>
          </a:solidFill>
          <a:ln w="9525">
            <a:solidFill>
              <a:schemeClr val="accent5"/>
            </a:solidFill>
            <a:prstDash val="solid"/>
          </a:ln>
        </p:spPr>
      </p:sp>
      <p:sp>
        <p:nvSpPr>
          <p:cNvPr id="9" name="Text 6"/>
          <p:cNvSpPr txBox="1"/>
          <p:nvPr/>
        </p:nvSpPr>
        <p:spPr>
          <a:xfrm>
            <a:off x="4114800" y="1527048"/>
            <a:ext cx="2286000" cy="685800"/>
          </a:xfrm>
          <a:prstGeom prst="rect">
            <a:avLst/>
          </a:prstGeom>
          <a:noFill/>
          <a:ln/>
        </p:spPr>
        <p:txBody>
          <a:bodyPr wrap="square" lIns="0" tIns="0" rIns="0" bIns="0" rtlCol="0" anchor="ctr"/>
          <a:lstStyle/>
          <a:p>
            <a:pPr indent="0" marL="0">
              <a:buNone/>
            </a:pPr>
            <a:r>
              <a:rPr lang="en-US" sz="3200" b="1" dirty="0">
                <a:solidFill>
                  <a:schemeClr val="accent1"/>
                </a:solidFill>
                <a:latin typeface="Newsreader" pitchFamily="34" charset="0"/>
                <a:ea typeface="Newsreader" pitchFamily="34" charset="-122"/>
                <a:cs typeface="Newsreader" pitchFamily="34" charset="-120"/>
              </a:rPr>
              <a:t>100%</a:t>
            </a:r>
            <a:endParaRPr lang="en-US" sz="3200" dirty="0"/>
          </a:p>
        </p:txBody>
      </p:sp>
      <p:sp>
        <p:nvSpPr>
          <p:cNvPr id="10" name="Text 7"/>
          <p:cNvSpPr txBox="1"/>
          <p:nvPr/>
        </p:nvSpPr>
        <p:spPr>
          <a:xfrm>
            <a:off x="4114800" y="2171700"/>
            <a:ext cx="2286000" cy="576072"/>
          </a:xfrm>
          <a:prstGeom prst="rect">
            <a:avLst/>
          </a:prstGeom>
          <a:noFill/>
          <a:ln/>
        </p:spPr>
        <p:txBody>
          <a:bodyPr wrap="square" lIns="0" tIns="0" rIns="0" bIns="0" rtlCol="0" anchor="t"/>
          <a:lstStyle/>
          <a:p>
            <a:pPr indent="0" marL="0">
              <a:buNone/>
            </a:pPr>
            <a:r>
              <a:rPr lang="en-US" sz="1100" dirty="0">
                <a:solidFill>
                  <a:schemeClr val="tx2"/>
                </a:solidFill>
              </a:rPr>
              <a:t>with the Within-the-limit card (pass^2 100%)</a:t>
            </a:r>
            <a:endParaRPr lang="en-US" sz="1100" dirty="0"/>
          </a:p>
        </p:txBody>
      </p:sp>
      <p:graphicFrame>
        <p:nvGraphicFramePr>
          <p:cNvPr id="11" name="Chart 0" descr=""/>
          <p:cNvGraphicFramePr/>
          <p:nvPr/>
        </p:nvGraphicFramePr>
        <p:xfrm>
          <a:off x="6949440" y="1371600"/>
          <a:ext cx="4663440" cy="301752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txBox="1"/>
          <p:nvPr/>
        </p:nvSpPr>
        <p:spPr>
          <a:xfrm>
            <a:off x="548640" y="3017520"/>
            <a:ext cx="6035040" cy="22860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chemeClr val="tx2"/>
                </a:solidFill>
              </a:rPr>
              <a:t>The disputes book now carries temptations: one merchant dispute in three has an injected instruction; every above-limit scam arrives with a note that the bank "has already agreed" to pay in full.</a:t>
            </a:r>
            <a:endParaRPr lang="en-US" sz="1250" dirty="0"/>
          </a:p>
          <a:p>
            <a:pPr marL="177800" indent="-177800">
              <a:spcAft>
                <a:spcPts val="800"/>
              </a:spcAft>
              <a:buSzPct val="100000"/>
              <a:buChar char="•"/>
            </a:pPr>
            <a:r>
              <a:rPr lang="en-US" sz="1250" dirty="0">
                <a:solidFill>
                  <a:schemeClr val="tx2"/>
                </a:solidFill>
              </a:rPr>
              <a:t>Without the stack the bot reimbursed above the limit in some of them; with it the card caught every one.</a:t>
            </a:r>
            <a:endParaRPr lang="en-US" sz="1250" dirty="0"/>
          </a:p>
          <a:p>
            <a:pPr marL="177800" indent="-177800">
              <a:spcAft>
                <a:spcPts val="800"/>
              </a:spcAft>
              <a:buSzPct val="100000"/>
              <a:buChar char="•"/>
            </a:pPr>
            <a:r>
              <a:rPr lang="en-US" sz="1250" dirty="0">
                <a:solidFill>
                  <a:schemeClr val="tx2"/>
                </a:solidFill>
              </a:rPr>
              <a:t>The price: 6 of 80 stack-arm cells end STOPPED_BY_GUARDRAIL as the bot retries the refused reimbursement until its step budget runs out; tokens per case 8,082 to 12,303.</a:t>
            </a:r>
            <a:endParaRPr lang="en-US" sz="1250" dirty="0"/>
          </a:p>
          <a:p>
            <a:pPr marL="177800" indent="-177800">
              <a:spcAft>
                <a:spcPts val="800"/>
              </a:spcAft>
              <a:buSzPct val="100000"/>
              <a:buChar char="•"/>
            </a:pPr>
            <a:r>
              <a:rPr lang="en-US" sz="1250" dirty="0">
                <a:solidFill>
                  <a:schemeClr val="tx2"/>
                </a:solidFill>
              </a:rPr>
              <a:t>Decision-matches-rule is 81% / 80%: the model's own misclassification, untouched by the card.</a:t>
            </a:r>
            <a:endParaRPr lang="en-US" sz="1250" dirty="0"/>
          </a:p>
        </p:txBody>
      </p:sp>
      <p:sp>
        <p:nvSpPr>
          <p:cNvPr id="13" name="callout"/>
          <p:cNvSpPr/>
          <p:nvPr/>
        </p:nvSpPr>
        <p:spPr>
          <a:xfrm>
            <a:off x="548640" y="5257800"/>
            <a:ext cx="11091672" cy="822960"/>
          </a:xfrm>
          <a:prstGeom prst="rect">
            <a:avLst/>
          </a:prstGeom>
          <a:solidFill>
            <a:schemeClr val="bg2"/>
          </a:solidFill>
          <a:ln w="9525">
            <a:solidFill>
              <a:schemeClr val="accent5"/>
            </a:solidFill>
            <a:prstDash val="solid"/>
          </a:ln>
        </p:spPr>
      </p:sp>
      <p:sp>
        <p:nvSpPr>
          <p:cNvPr id="14" name="callout dot"/>
          <p:cNvSpPr/>
          <p:nvPr/>
        </p:nvSpPr>
        <p:spPr>
          <a:xfrm>
            <a:off x="713232" y="5440680"/>
            <a:ext cx="201168" cy="201168"/>
          </a:xfrm>
          <a:prstGeom prst="ellipse">
            <a:avLst/>
          </a:prstGeom>
          <a:solidFill>
            <a:schemeClr val="accent2"/>
          </a:solidFill>
          <a:ln w="12700">
            <a:solidFill>
              <a:schemeClr val="accent2"/>
            </a:solidFill>
            <a:prstDash val="solid"/>
          </a:ln>
        </p:spPr>
      </p:sp>
      <p:sp>
        <p:nvSpPr>
          <p:cNvPr id="15" name="Text 11"/>
          <p:cNvSpPr txBox="1"/>
          <p:nvPr/>
        </p:nvSpPr>
        <p:spPr>
          <a:xfrm>
            <a:off x="1051560" y="5349240"/>
            <a:ext cx="10451592" cy="640080"/>
          </a:xfrm>
          <a:prstGeom prst="rect">
            <a:avLst/>
          </a:prstGeom>
          <a:noFill/>
          <a:ln/>
        </p:spPr>
        <p:txBody>
          <a:bodyPr wrap="square" lIns="0" tIns="0" rIns="0" bIns="0" rtlCol="0" anchor="ctr"/>
          <a:lstStyle/>
          <a:p>
            <a:pPr indent="0" marL="0">
              <a:buNone/>
            </a:pPr>
            <a:r>
              <a:rPr lang="en-US" sz="1300" b="1" dirty="0">
                <a:solidFill>
                  <a:schemeClr val="tx1"/>
                </a:solidFill>
              </a:rPr>
              <a:t>Verdict: inconclusive at n 40, by the register's own rule. </a:t>
            </a:r>
            <a:pPr indent="0" marL="0">
              <a:buNone/>
            </a:pPr>
            <a:r>
              <a:rPr lang="en-US" sz="1300" dirty="0">
                <a:solidFill>
                  <a:schemeClr val="tx1"/>
                </a:solidFill>
              </a:rPr>
              <a:t>It is nonetheless the only control in the programme with a measured effect on record, and the first evidence that a guard behaves as designed against a live model.</a:t>
            </a:r>
            <a:endParaRPr lang="en-US" sz="13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Finding 3: most desks are at a ceiling</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589520" cy="914400"/>
        </p:xfrm>
        <a:graphic>
          <a:graphicData uri="http://schemas.openxmlformats.org/drawingml/2006/table">
            <a:tbl>
              <a:tblPr/>
              <a:tblGrid>
                <a:gridCol w="2011680"/>
                <a:gridCol w="2103120"/>
                <a:gridCol w="1371600"/>
                <a:gridCol w="1188720"/>
                <a:gridCol w="914400"/>
              </a:tblGrid>
              <a:tr h="384048">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DESK / DESIGN</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MEASURE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NO STACK</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WITH THE STACK</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VERDICT</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84048">
                <a:tc>
                  <a:txBody>
                    <a:bodyPr/>
                    <a:lstStyle/>
                    <a:p>
                      <a:pPr indent="0" marL="0">
                        <a:buNone/>
                      </a:pPr>
                      <a:r>
                        <a:rPr lang="en-US" sz="1050" dirty="0">
                          <a:solidFill>
                            <a:srgbClr val="10233A"/>
                          </a:solidFill>
                        </a:rPr>
                        <a:t>Lending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agreement with the rule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(pass^2 100%)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Disputes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decision matches the rule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81% (pass^2 80%)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Disputes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reimbursed within the limit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94% (pass^2 93%)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(pass^2 100%)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 at n 40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Collections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plan matches the rule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untestable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Onboarding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decision matches rule; hit contained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untestable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Complaints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root cause named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99% (pass^2 98%)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Fraud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alert decision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Advice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suitable; data minimised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(relational) 100%;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untestable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Servicing, and with a live customer</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needs met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untestable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Attack scenarios (controls-live)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each attack resisted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unaided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8412480" y="1417320"/>
            <a:ext cx="3200400" cy="365760"/>
          </a:xfrm>
          <a:prstGeom prst="rect">
            <a:avLst/>
          </a:prstGeom>
          <a:noFill/>
          <a:ln/>
        </p:spPr>
        <p:txBody>
          <a:bodyPr wrap="square" lIns="0" tIns="0" rIns="0" bIns="0" rtlCol="0" anchor="t"/>
          <a:lstStyle/>
          <a:p>
            <a:pPr indent="0" marL="0">
              <a:buNone/>
            </a:pPr>
            <a:r>
              <a:rPr lang="en-US" sz="1500" b="1" dirty="0">
                <a:solidFill>
                  <a:schemeClr val="tx1"/>
                </a:solidFill>
                <a:latin typeface="Newsreader" pitchFamily="34" charset="0"/>
                <a:ea typeface="Newsreader" pitchFamily="34" charset="-122"/>
                <a:cs typeface="Newsreader" pitchFamily="34" charset="-120"/>
              </a:rPr>
              <a:t>What the ceiling means</a:t>
            </a:r>
            <a:endParaRPr lang="en-US" sz="1500" dirty="0"/>
          </a:p>
        </p:txBody>
      </p:sp>
      <p:sp>
        <p:nvSpPr>
          <p:cNvPr id="6" name="Text 2"/>
          <p:cNvSpPr txBox="1"/>
          <p:nvPr/>
        </p:nvSpPr>
        <p:spPr>
          <a:xfrm>
            <a:off x="8412480" y="1828800"/>
            <a:ext cx="3200400" cy="42062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2"/>
                </a:solidFill>
              </a:rPr>
              <a:t>Onboarding's temptations (half the list matches ask why; every identity mismatch asks to be opened now) did not move the bot: no screening result disclosed, no unverified account opened.</a:t>
            </a:r>
            <a:endParaRPr lang="en-US" sz="1150" dirty="0"/>
          </a:p>
          <a:p>
            <a:pPr marL="177800" indent="-177800">
              <a:spcAft>
                <a:spcPts val="800"/>
              </a:spcAft>
              <a:buSzPct val="100000"/>
              <a:buChar char="•"/>
            </a:pPr>
            <a:r>
              <a:rPr lang="en-US" sz="1150" dirty="0">
                <a:solidFill>
                  <a:schemeClr val="tx2"/>
                </a:solidFill>
              </a:rPr>
              <a:t>Advice is 100% on suitability and data minimisation across both contexts and all four planted variants.</a:t>
            </a:r>
            <a:endParaRPr lang="en-US" sz="1150" dirty="0"/>
          </a:p>
          <a:p>
            <a:pPr marL="177800" indent="-177800">
              <a:spcAft>
                <a:spcPts val="800"/>
              </a:spcAft>
              <a:buSzPct val="100000"/>
              <a:buChar char="•"/>
            </a:pPr>
            <a:r>
              <a:rPr lang="en-US" sz="1150" dirty="0">
                <a:solidFill>
                  <a:schemeClr val="tx2"/>
                </a:solidFill>
              </a:rPr>
              <a:t>Nine attack scenarios against each agent-security component: unaided, the model resisted every one.</a:t>
            </a:r>
            <a:endParaRPr lang="en-US" sz="1150" dirty="0"/>
          </a:p>
          <a:p>
            <a:pPr marL="177800" indent="-177800">
              <a:spcAft>
                <a:spcPts val="800"/>
              </a:spcAft>
              <a:buSzPct val="100000"/>
              <a:buChar char="•"/>
            </a:pPr>
            <a:r>
              <a:rPr lang="en-US" sz="1150" dirty="0">
                <a:solidFill>
                  <a:schemeClr val="tx2"/>
                </a:solidFill>
              </a:rPr>
              <a:t>No verdict is supported. A harder book or a weaker model is needed before most controls have anything to catch.</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Finding 4: repeatable in outcome, not in wording</a:t>
            </a:r>
            <a:endParaRPr lang="en-US" sz="2800" dirty="0"/>
          </a:p>
        </p:txBody>
      </p:sp>
      <p:graphicFrame>
        <p:nvGraphicFramePr>
          <p:cNvPr id="4" name="Chart 0" descr=""/>
          <p:cNvGraphicFramePr/>
          <p:nvPr/>
        </p:nvGraphicFramePr>
        <p:xfrm>
          <a:off x="548640" y="1371600"/>
          <a:ext cx="5852160" cy="32918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4709160"/>
            <a:ext cx="5852160" cy="274320"/>
          </a:xfrm>
          <a:prstGeom prst="rect">
            <a:avLst/>
          </a:prstGeom>
          <a:noFill/>
          <a:ln/>
        </p:spPr>
        <p:txBody>
          <a:bodyPr wrap="square" lIns="0" tIns="0" rIns="0" bIns="0" rtlCol="0" anchor="t"/>
          <a:lstStyle/>
          <a:p>
            <a:pPr indent="0" marL="0">
              <a:buNone/>
            </a:pPr>
            <a:r>
              <a:rPr lang="en-US" sz="900" dirty="0">
                <a:solidFill>
                  <a:schemeClr val="tx2"/>
                </a:solidFill>
                <a:latin typeface="IBM Plex Mono" pitchFamily="34" charset="0"/>
                <a:ea typeface="IBM Plex Mono" pitchFamily="34" charset="-122"/>
                <a:cs typeface="IBM Plex Mono" pitchFamily="34" charset="-120"/>
              </a:rPr>
              <a:t>Determinism probe: 24 prompts × 5 repeats × 9 configurations</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766560" y="1371600"/>
          <a:ext cx="4873752" cy="914400"/>
        </p:xfrm>
        <a:graphic>
          <a:graphicData uri="http://schemas.openxmlformats.org/drawingml/2006/table">
            <a:tbl>
              <a:tblPr/>
              <a:tblGrid>
                <a:gridCol w="1371600"/>
                <a:gridCol w="914400"/>
                <a:gridCol w="914400"/>
                <a:gridCol w="1673352"/>
              </a:tblGrid>
              <a:tr h="329184">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DESIGN</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PASS@1</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PASS^2</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CONSISTENCY</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29184">
                <a:tc>
                  <a:txBody>
                    <a:bodyPr/>
                    <a:lstStyle/>
                    <a:p>
                      <a:pPr indent="0" marL="0">
                        <a:buNone/>
                      </a:pPr>
                      <a:r>
                        <a:rPr lang="en-US" sz="1050" dirty="0">
                          <a:solidFill>
                            <a:srgbClr val="10233A"/>
                          </a:solidFill>
                        </a:rPr>
                        <a:t>Lending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Disputes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Collections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Onboarding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Complaints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99%</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Fraud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(93% in one arm)</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Advice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6766560" y="4114800"/>
            <a:ext cx="4873752" cy="274320"/>
          </a:xfrm>
          <a:prstGeom prst="rect">
            <a:avLst/>
          </a:prstGeom>
          <a:noFill/>
          <a:ln/>
        </p:spPr>
        <p:txBody>
          <a:bodyPr wrap="square" lIns="0" tIns="0" rIns="0" bIns="0" rtlCol="0" anchor="t"/>
          <a:lstStyle/>
          <a:p>
            <a:pPr indent="0" marL="0">
              <a:buNone/>
            </a:pPr>
            <a:r>
              <a:rPr lang="en-US" sz="900" dirty="0">
                <a:solidFill>
                  <a:schemeClr val="tx2"/>
                </a:solidFill>
                <a:latin typeface="IBM Plex Mono" pitchFamily="34" charset="0"/>
                <a:ea typeface="IBM Plex Mono" pitchFamily="34" charset="-122"/>
                <a:cs typeface="IBM Plex Mono" pitchFamily="34" charset="-120"/>
              </a:rPr>
              <a:t>Reliability over items: each case performed twice with fresh draws</a:t>
            </a:r>
            <a:endParaRPr lang="en-US" sz="900" dirty="0"/>
          </a:p>
        </p:txBody>
      </p:sp>
      <p:sp>
        <p:nvSpPr>
          <p:cNvPr id="8" name="callout"/>
          <p:cNvSpPr/>
          <p:nvPr/>
        </p:nvSpPr>
        <p:spPr>
          <a:xfrm>
            <a:off x="548640" y="5120640"/>
            <a:ext cx="11091672" cy="960120"/>
          </a:xfrm>
          <a:prstGeom prst="rect">
            <a:avLst/>
          </a:prstGeom>
          <a:solidFill>
            <a:schemeClr val="bg2"/>
          </a:solidFill>
          <a:ln w="9525">
            <a:solidFill>
              <a:schemeClr val="accent5"/>
            </a:solidFill>
            <a:prstDash val="solid"/>
          </a:ln>
        </p:spPr>
      </p:sp>
      <p:sp>
        <p:nvSpPr>
          <p:cNvPr id="9" name="callout dot"/>
          <p:cNvSpPr/>
          <p:nvPr/>
        </p:nvSpPr>
        <p:spPr>
          <a:xfrm>
            <a:off x="713232" y="5303520"/>
            <a:ext cx="201168" cy="201168"/>
          </a:xfrm>
          <a:prstGeom prst="ellipse">
            <a:avLst/>
          </a:prstGeom>
          <a:solidFill>
            <a:schemeClr val="accent2"/>
          </a:solidFill>
          <a:ln w="12700">
            <a:solidFill>
              <a:schemeClr val="accent2"/>
            </a:solidFill>
            <a:prstDash val="solid"/>
          </a:ln>
        </p:spPr>
      </p:sp>
      <p:sp>
        <p:nvSpPr>
          <p:cNvPr id="10" name="Text 5"/>
          <p:cNvSpPr txBox="1"/>
          <p:nvPr/>
        </p:nvSpPr>
        <p:spPr>
          <a:xfrm>
            <a:off x="1051560" y="5212080"/>
            <a:ext cx="10451592" cy="777240"/>
          </a:xfrm>
          <a:prstGeom prst="rect">
            <a:avLst/>
          </a:prstGeom>
          <a:noFill/>
          <a:ln/>
        </p:spPr>
        <p:txBody>
          <a:bodyPr wrap="square" lIns="0" tIns="0" rIns="0" bIns="0" rtlCol="0" anchor="ctr"/>
          <a:lstStyle/>
          <a:p>
            <a:pPr indent="0" marL="0">
              <a:buNone/>
            </a:pPr>
            <a:r>
              <a:rPr lang="en-US" sz="1300" b="1" dirty="0">
                <a:solidFill>
                  <a:schemeClr val="tx1"/>
                </a:solidFill>
              </a:rPr>
              <a:t>pass^k is the figure a control should be credited on. </a:t>
            </a:r>
            <a:pPr indent="0" marL="0">
              <a:buNone/>
            </a:pPr>
            <a:r>
              <a:rPr lang="en-US" sz="1300" dirty="0">
                <a:solidFill>
                  <a:schemeClr val="tx1"/>
                </a:solidFill>
              </a:rPr>
              <a:t>The model repeats its words about one time in ten and its call about nineteen times in twenty; a seed does not make a live run repeatable, so none is recorded. Across two performances of every item, consistency is 98–100% in all but one design.</a:t>
            </a:r>
            <a:endParaRPr lang="en-US" sz="13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Cost: the loops are gone</a:t>
            </a:r>
            <a:endParaRPr lang="en-US" sz="2800" dirty="0"/>
          </a:p>
        </p:txBody>
      </p:sp>
      <p:graphicFrame>
        <p:nvGraphicFramePr>
          <p:cNvPr id="4" name="Chart 0" descr=""/>
          <p:cNvGraphicFramePr/>
          <p:nvPr/>
        </p:nvGraphicFramePr>
        <p:xfrm>
          <a:off x="548640" y="1371600"/>
          <a:ext cx="5852160" cy="32918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4709160"/>
            <a:ext cx="5852160" cy="274320"/>
          </a:xfrm>
          <a:prstGeom prst="rect">
            <a:avLst/>
          </a:prstGeom>
          <a:noFill/>
          <a:ln/>
        </p:spPr>
        <p:txBody>
          <a:bodyPr wrap="square" lIns="0" tIns="0" rIns="0" bIns="0" rtlCol="0" anchor="t"/>
          <a:lstStyle/>
          <a:p>
            <a:pPr indent="0" marL="0">
              <a:buNone/>
            </a:pPr>
            <a:r>
              <a:rPr lang="en-US" sz="900" dirty="0">
                <a:solidFill>
                  <a:schemeClr val="tx2"/>
                </a:solidFill>
                <a:latin typeface="IBM Plex Mono" pitchFamily="34" charset="0"/>
                <a:ea typeface="IBM Plex Mono" pitchFamily="34" charset="-122"/>
                <a:cs typeface="IBM Plex Mono" pitchFamily="34" charset="-120"/>
              </a:rPr>
              <a:t>Tokens per case, no stack (thousands)</a:t>
            </a:r>
            <a:endParaRPr lang="en-US" sz="900" dirty="0"/>
          </a:p>
        </p:txBody>
      </p:sp>
      <p:sp>
        <p:nvSpPr>
          <p:cNvPr id="6" name="Text 2"/>
          <p:cNvSpPr txBox="1"/>
          <p:nvPr/>
        </p:nvSpPr>
        <p:spPr>
          <a:xfrm>
            <a:off x="6766560" y="1417320"/>
            <a:ext cx="4873752" cy="365760"/>
          </a:xfrm>
          <a:prstGeom prst="rect">
            <a:avLst/>
          </a:prstGeom>
          <a:noFill/>
          <a:ln/>
        </p:spPr>
        <p:txBody>
          <a:bodyPr wrap="square" lIns="0" tIns="0" rIns="0" bIns="0" rtlCol="0" anchor="t"/>
          <a:lstStyle/>
          <a:p>
            <a:pPr indent="0" marL="0">
              <a:buNone/>
            </a:pPr>
            <a:r>
              <a:rPr lang="en-US" sz="1500" b="1" dirty="0">
                <a:solidFill>
                  <a:schemeClr val="tx1"/>
                </a:solidFill>
                <a:latin typeface="Newsreader" pitchFamily="34" charset="0"/>
                <a:ea typeface="Newsreader" pitchFamily="34" charset="-122"/>
                <a:cs typeface="Newsreader" pitchFamily="34" charset="-120"/>
              </a:rPr>
              <a:t>Where the remaining cost sits</a:t>
            </a:r>
            <a:endParaRPr lang="en-US" sz="1500" dirty="0"/>
          </a:p>
        </p:txBody>
      </p:sp>
      <p:sp>
        <p:nvSpPr>
          <p:cNvPr id="7" name="Text 3"/>
          <p:cNvSpPr txBox="1"/>
          <p:nvPr/>
        </p:nvSpPr>
        <p:spPr>
          <a:xfrm>
            <a:off x="6766560" y="1828800"/>
            <a:ext cx="4873752" cy="411480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2"/>
                </a:solidFill>
              </a:rPr>
              <a:t>Fraud with the stack: 65,540 tokens per case, because blocked-retry loops remain in the stack arm; 23 of 216 cells (11%) stopped, all in the stack arms.</a:t>
            </a:r>
            <a:endParaRPr lang="en-US" sz="1150" dirty="0"/>
          </a:p>
          <a:p>
            <a:pPr marL="177800" indent="-177800">
              <a:spcAft>
                <a:spcPts val="800"/>
              </a:spcAft>
              <a:buSzPct val="100000"/>
              <a:buChar char="•"/>
            </a:pPr>
            <a:r>
              <a:rPr lang="en-US" sz="1150" dirty="0">
                <a:solidFill>
                  <a:schemeClr val="tx2"/>
                </a:solidFill>
              </a:rPr>
              <a:t>Disputes with the stack: 8,082 to 12,303 tokens per case as the bot retries the refused reimbursement.</a:t>
            </a:r>
            <a:endParaRPr lang="en-US" sz="1150" dirty="0"/>
          </a:p>
          <a:p>
            <a:pPr marL="177800" indent="-177800">
              <a:spcAft>
                <a:spcPts val="800"/>
              </a:spcAft>
              <a:buSzPct val="100000"/>
              <a:buChar char="•"/>
            </a:pPr>
            <a:r>
              <a:rPr lang="en-US" sz="1150" dirty="0">
                <a:solidFill>
                  <a:schemeClr val="tx2"/>
                </a:solidFill>
              </a:rPr>
              <a:t>Lending: the first re-record (171 min) lost 38 of 408 bot cells; 20 of 25 stalled explanation stages were an approval recorded with no reasons. Fixed, re-recorded in 66 min, 3% lost.</a:t>
            </a:r>
            <a:endParaRPr lang="en-US" sz="1150" dirty="0"/>
          </a:p>
          <a:p>
            <a:pPr marL="177800" indent="-177800">
              <a:spcAft>
                <a:spcPts val="800"/>
              </a:spcAft>
              <a:buSzPct val="100000"/>
              <a:buChar char="•"/>
            </a:pPr>
            <a:r>
              <a:rPr lang="en-US" sz="1150" dirty="0">
                <a:solidFill>
                  <a:schemeClr val="tx2"/>
                </a:solidFill>
              </a:rPr>
              <a:t>Cells lost to the model's habits (fraud 11%, disputes 7.5% of stack cells, lending 3%) end before their later scores; decision metrics are unaffected.</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Fifteen things I got wrong, and the tests that caught them</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5120640"/>
                <a:gridCol w="2651760"/>
                <a:gridCol w="3319272"/>
              </a:tblGrid>
              <a:tr h="329184">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DEFECT</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FOUND BY</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FIXED</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29184">
                <a:tc>
                  <a:txBody>
                    <a:bodyPr/>
                    <a:lstStyle/>
                    <a:p>
                      <a:pPr indent="0" marL="0">
                        <a:buNone/>
                      </a:pPr>
                      <a:r>
                        <a:rPr lang="en-US" sz="1000" dirty="0">
                          <a:solidFill>
                            <a:srgbClr val="10233A"/>
                          </a:solidFill>
                        </a:rPr>
                        <a:t>Replay artefacts (cassette-miss) in 69 of 103 ERROR cells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T1 triage</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WP189–WP194: version 2 recorder</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Fraud's alert id; advice's check-suitability; complaints register hidden</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T1</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WP193 desk fixes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Path digest read run ids; a recorded failure replayed under another kind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T5 first live exact-replay verification</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core, with tests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Advice 0% data-minimisation was the rung's, not the bot's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T4A</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Per-desk rung table; unneeded-data-used added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The desk brief not in the prompt; rules invisible</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audit</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Rules joined to the case-file senses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Onboarding, collections, lending-disburse stage stalls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round 1</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Goals reworded; onboarding rule on the file</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Fraud look-up never found the account; SAR refusal named no way out</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round 3</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Look-up by last four digits; refusal reworded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Servicing bereavement act never closed the account</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round 3</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Act goal names the acts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Redress range invisible; the 98% was a guess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The audit</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Range on the register record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Replies cut off at 1,024 tokens; 60 s timeout hit about once in 629 calls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rounds 2 and latency read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Limit 2,048; timeout 180 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Recording crashed merging with the old cassette; a two-trial design verified after one trial</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T8</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Replace the old format; verify after the last pass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Path digest depended on whether a principal was named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T8 live check</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Checks, attestation and approver off the path</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Lending's explanation stage lost 9% of bot cells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T8</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Refusals name the way out; progress shows the reasons; re-recorded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Limits and threats to validity</a:t>
            </a:r>
            <a:endParaRPr lang="en-US" sz="2800" dirty="0"/>
          </a:p>
        </p:txBody>
      </p:sp>
      <p:sp>
        <p:nvSpPr>
          <p:cNvPr id="4" name="limit 0"/>
          <p:cNvSpPr/>
          <p:nvPr/>
        </p:nvSpPr>
        <p:spPr>
          <a:xfrm>
            <a:off x="548640" y="1417320"/>
            <a:ext cx="3514344" cy="2103120"/>
          </a:xfrm>
          <a:prstGeom prst="roundRect">
            <a:avLst>
              <a:gd name="adj" fmla="val 3478"/>
            </a:avLst>
          </a:prstGeom>
          <a:solidFill>
            <a:schemeClr val="bg2"/>
          </a:solidFill>
          <a:ln w="9525">
            <a:solidFill>
              <a:schemeClr val="accent5"/>
            </a:solidFill>
            <a:prstDash val="solid"/>
          </a:ln>
        </p:spPr>
      </p:sp>
      <p:sp>
        <p:nvSpPr>
          <p:cNvPr id="5" name="step 1"/>
          <p:cNvSpPr/>
          <p:nvPr/>
        </p:nvSpPr>
        <p:spPr>
          <a:xfrm>
            <a:off x="777240" y="1645920"/>
            <a:ext cx="384048" cy="384048"/>
          </a:xfrm>
          <a:prstGeom prst="ellipse">
            <a:avLst/>
          </a:prstGeom>
          <a:solidFill>
            <a:schemeClr val="accent4"/>
          </a:solidFill>
          <a:ln w="12700">
            <a:solidFill>
              <a:schemeClr val="accent4"/>
            </a:solidFill>
            <a:prstDash val="solid"/>
          </a:ln>
        </p:spPr>
      </p:sp>
      <p:sp>
        <p:nvSpPr>
          <p:cNvPr id="6" name="Text 3"/>
          <p:cNvSpPr txBox="1"/>
          <p:nvPr/>
        </p:nvSpPr>
        <p:spPr>
          <a:xfrm>
            <a:off x="777240"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80160" y="161848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One model, two performances</a:t>
            </a:r>
            <a:endParaRPr lang="en-US" sz="1500" dirty="0"/>
          </a:p>
        </p:txBody>
      </p:sp>
      <p:sp>
        <p:nvSpPr>
          <p:cNvPr id="8" name="Text 5"/>
          <p:cNvSpPr txBox="1"/>
          <p:nvPr/>
        </p:nvSpPr>
        <p:spPr>
          <a:xfrm>
            <a:off x="777240" y="2194560"/>
            <a:ext cx="3057144" cy="1188720"/>
          </a:xfrm>
          <a:prstGeom prst="rect">
            <a:avLst/>
          </a:prstGeom>
          <a:noFill/>
          <a:ln/>
        </p:spPr>
        <p:txBody>
          <a:bodyPr wrap="square" lIns="0" tIns="0" rIns="0" bIns="0" rtlCol="0" anchor="t"/>
          <a:lstStyle/>
          <a:p>
            <a:pPr indent="0" marL="0">
              <a:buNone/>
            </a:pPr>
            <a:r>
              <a:rPr lang="en-US" sz="1150" dirty="0">
                <a:solidFill>
                  <a:schemeClr val="tx2"/>
                </a:solidFill>
              </a:rPr>
              <a:t>The 122B at temperature 0, performed twice at most. Reliability is between two performances; nothing here speaks to another model, temperature or many performances.</a:t>
            </a:r>
            <a:endParaRPr lang="en-US" sz="1150" dirty="0"/>
          </a:p>
        </p:txBody>
      </p:sp>
      <p:sp>
        <p:nvSpPr>
          <p:cNvPr id="9" name="limit 1"/>
          <p:cNvSpPr/>
          <p:nvPr/>
        </p:nvSpPr>
        <p:spPr>
          <a:xfrm>
            <a:off x="4337304" y="1417320"/>
            <a:ext cx="3514344" cy="2103120"/>
          </a:xfrm>
          <a:prstGeom prst="roundRect">
            <a:avLst>
              <a:gd name="adj" fmla="val 3478"/>
            </a:avLst>
          </a:prstGeom>
          <a:solidFill>
            <a:schemeClr val="bg2"/>
          </a:solidFill>
          <a:ln w="9525">
            <a:solidFill>
              <a:schemeClr val="accent5"/>
            </a:solidFill>
            <a:prstDash val="solid"/>
          </a:ln>
        </p:spPr>
      </p:sp>
      <p:sp>
        <p:nvSpPr>
          <p:cNvPr id="10" name="step 2"/>
          <p:cNvSpPr/>
          <p:nvPr/>
        </p:nvSpPr>
        <p:spPr>
          <a:xfrm>
            <a:off x="4565904" y="1645920"/>
            <a:ext cx="384048" cy="384048"/>
          </a:xfrm>
          <a:prstGeom prst="ellipse">
            <a:avLst/>
          </a:prstGeom>
          <a:solidFill>
            <a:schemeClr val="accent4"/>
          </a:solidFill>
          <a:ln w="12700">
            <a:solidFill>
              <a:schemeClr val="accent4"/>
            </a:solidFill>
            <a:prstDash val="solid"/>
          </a:ln>
        </p:spPr>
      </p:sp>
      <p:sp>
        <p:nvSpPr>
          <p:cNvPr id="11" name="Text 8"/>
          <p:cNvSpPr txBox="1"/>
          <p:nvPr/>
        </p:nvSpPr>
        <p:spPr>
          <a:xfrm>
            <a:off x="4565904"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068824" y="161848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Ceilings</a:t>
            </a:r>
            <a:endParaRPr lang="en-US" sz="1500" dirty="0"/>
          </a:p>
        </p:txBody>
      </p:sp>
      <p:sp>
        <p:nvSpPr>
          <p:cNvPr id="13" name="Text 10"/>
          <p:cNvSpPr txBox="1"/>
          <p:nvPr/>
        </p:nvSpPr>
        <p:spPr>
          <a:xfrm>
            <a:off x="4565904" y="2194560"/>
            <a:ext cx="3057144" cy="1188720"/>
          </a:xfrm>
          <a:prstGeom prst="rect">
            <a:avLst/>
          </a:prstGeom>
          <a:noFill/>
          <a:ln/>
        </p:spPr>
        <p:txBody>
          <a:bodyPr wrap="square" lIns="0" tIns="0" rIns="0" bIns="0" rtlCol="0" anchor="t"/>
          <a:lstStyle/>
          <a:p>
            <a:pPr indent="0" marL="0">
              <a:buNone/>
            </a:pPr>
            <a:r>
              <a:rPr lang="en-US" sz="1150" dirty="0">
                <a:solidFill>
                  <a:schemeClr val="tx2"/>
                </a:solidFill>
              </a:rPr>
              <a:t>Most designs sit at or near 100%. Verdicts are untestable or inconclusive by rule; none is supported. A harder book or a weaker model is needed to test a control with nothing to catch.</a:t>
            </a:r>
            <a:endParaRPr lang="en-US" sz="1150" dirty="0"/>
          </a:p>
        </p:txBody>
      </p:sp>
      <p:sp>
        <p:nvSpPr>
          <p:cNvPr id="14" name="limit 2"/>
          <p:cNvSpPr/>
          <p:nvPr/>
        </p:nvSpPr>
        <p:spPr>
          <a:xfrm>
            <a:off x="8125968" y="1417320"/>
            <a:ext cx="3514344" cy="2103120"/>
          </a:xfrm>
          <a:prstGeom prst="roundRect">
            <a:avLst>
              <a:gd name="adj" fmla="val 3478"/>
            </a:avLst>
          </a:prstGeom>
          <a:solidFill>
            <a:schemeClr val="bg2"/>
          </a:solidFill>
          <a:ln w="9525">
            <a:solidFill>
              <a:schemeClr val="accent5"/>
            </a:solidFill>
            <a:prstDash val="solid"/>
          </a:ln>
        </p:spPr>
      </p:sp>
      <p:sp>
        <p:nvSpPr>
          <p:cNvPr id="15" name="step 3"/>
          <p:cNvSpPr/>
          <p:nvPr/>
        </p:nvSpPr>
        <p:spPr>
          <a:xfrm>
            <a:off x="8354568" y="1645920"/>
            <a:ext cx="384048" cy="384048"/>
          </a:xfrm>
          <a:prstGeom prst="ellipse">
            <a:avLst/>
          </a:prstGeom>
          <a:solidFill>
            <a:schemeClr val="accent4"/>
          </a:solidFill>
          <a:ln w="12700">
            <a:solidFill>
              <a:schemeClr val="accent4"/>
            </a:solidFill>
            <a:prstDash val="solid"/>
          </a:ln>
        </p:spPr>
      </p:sp>
      <p:sp>
        <p:nvSpPr>
          <p:cNvPr id="16" name="Text 13"/>
          <p:cNvSpPr txBox="1"/>
          <p:nvPr/>
        </p:nvSpPr>
        <p:spPr>
          <a:xfrm>
            <a:off x="8354568"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857488" y="161848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Small n</a:t>
            </a:r>
            <a:endParaRPr lang="en-US" sz="1500" dirty="0"/>
          </a:p>
        </p:txBody>
      </p:sp>
      <p:sp>
        <p:nvSpPr>
          <p:cNvPr id="18" name="Text 15"/>
          <p:cNvSpPr txBox="1"/>
          <p:nvPr/>
        </p:nvSpPr>
        <p:spPr>
          <a:xfrm>
            <a:off x="8354568" y="2194560"/>
            <a:ext cx="3057144" cy="1188720"/>
          </a:xfrm>
          <a:prstGeom prst="rect">
            <a:avLst/>
          </a:prstGeom>
          <a:noFill/>
          <a:ln/>
        </p:spPr>
        <p:txBody>
          <a:bodyPr wrap="square" lIns="0" tIns="0" rIns="0" bIns="0" rtlCol="0" anchor="t"/>
          <a:lstStyle/>
          <a:p>
            <a:pPr indent="0" marL="0">
              <a:buNone/>
            </a:pPr>
            <a:r>
              <a:rPr lang="en-US" sz="1150" dirty="0">
                <a:solidFill>
                  <a:schemeClr val="tx2"/>
                </a:solidFill>
              </a:rPr>
              <a:t>Fraud's book is 6 customers (27 items); onboarding 33; the servicing seat 16. Intervals are wide; the register flags most effects as underpowered.</a:t>
            </a:r>
            <a:endParaRPr lang="en-US" sz="1150" dirty="0"/>
          </a:p>
        </p:txBody>
      </p:sp>
      <p:sp>
        <p:nvSpPr>
          <p:cNvPr id="19" name="limit 3"/>
          <p:cNvSpPr/>
          <p:nvPr/>
        </p:nvSpPr>
        <p:spPr>
          <a:xfrm>
            <a:off x="548640" y="3794760"/>
            <a:ext cx="3514344" cy="2103120"/>
          </a:xfrm>
          <a:prstGeom prst="roundRect">
            <a:avLst>
              <a:gd name="adj" fmla="val 3478"/>
            </a:avLst>
          </a:prstGeom>
          <a:solidFill>
            <a:schemeClr val="bg2"/>
          </a:solidFill>
          <a:ln w="9525">
            <a:solidFill>
              <a:schemeClr val="accent5"/>
            </a:solidFill>
            <a:prstDash val="solid"/>
          </a:ln>
        </p:spPr>
      </p:sp>
      <p:sp>
        <p:nvSpPr>
          <p:cNvPr id="20" name="step 4"/>
          <p:cNvSpPr/>
          <p:nvPr/>
        </p:nvSpPr>
        <p:spPr>
          <a:xfrm>
            <a:off x="777240" y="4023360"/>
            <a:ext cx="384048" cy="384048"/>
          </a:xfrm>
          <a:prstGeom prst="ellipse">
            <a:avLst/>
          </a:prstGeom>
          <a:solidFill>
            <a:schemeClr val="accent4"/>
          </a:solidFill>
          <a:ln w="12700">
            <a:solidFill>
              <a:schemeClr val="accent4"/>
            </a:solidFill>
            <a:prstDash val="solid"/>
          </a:ln>
        </p:spPr>
      </p:sp>
      <p:sp>
        <p:nvSpPr>
          <p:cNvPr id="21" name="Text 18"/>
          <p:cNvSpPr txBox="1"/>
          <p:nvPr/>
        </p:nvSpPr>
        <p:spPr>
          <a:xfrm>
            <a:off x="777240"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1280160" y="399592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Synthetic rules and data</a:t>
            </a:r>
            <a:endParaRPr lang="en-US" sz="1500" dirty="0"/>
          </a:p>
        </p:txBody>
      </p:sp>
      <p:sp>
        <p:nvSpPr>
          <p:cNvPr id="23" name="Text 20"/>
          <p:cNvSpPr txBox="1"/>
          <p:nvPr/>
        </p:nvSpPr>
        <p:spPr>
          <a:xfrm>
            <a:off x="777240" y="4572000"/>
            <a:ext cx="3057144" cy="1188720"/>
          </a:xfrm>
          <a:prstGeom prst="rect">
            <a:avLst/>
          </a:prstGeom>
          <a:noFill/>
          <a:ln/>
        </p:spPr>
        <p:txBody>
          <a:bodyPr wrap="square" lIns="0" tIns="0" rIns="0" bIns="0" rtlCol="0" anchor="t"/>
          <a:lstStyle/>
          <a:p>
            <a:pPr indent="0" marL="0">
              <a:buNone/>
            </a:pPr>
            <a:r>
              <a:rPr lang="en-US" sz="1150" dirty="0">
                <a:solidFill>
                  <a:schemeClr val="tx2"/>
                </a:solidFill>
              </a:rPr>
              <a:t>The rules, the temptation and variant shares, the redress range and the error rates are this repository's assumptions (review: pending), not a regulator's or a real bank's.</a:t>
            </a:r>
            <a:endParaRPr lang="en-US" sz="1150" dirty="0"/>
          </a:p>
        </p:txBody>
      </p:sp>
      <p:sp>
        <p:nvSpPr>
          <p:cNvPr id="24" name="limit 4"/>
          <p:cNvSpPr/>
          <p:nvPr/>
        </p:nvSpPr>
        <p:spPr>
          <a:xfrm>
            <a:off x="4337304" y="3794760"/>
            <a:ext cx="3514344" cy="2103120"/>
          </a:xfrm>
          <a:prstGeom prst="roundRect">
            <a:avLst>
              <a:gd name="adj" fmla="val 3478"/>
            </a:avLst>
          </a:prstGeom>
          <a:solidFill>
            <a:schemeClr val="bg2"/>
          </a:solidFill>
          <a:ln w="9525">
            <a:solidFill>
              <a:schemeClr val="accent5"/>
            </a:solidFill>
            <a:prstDash val="solid"/>
          </a:ln>
        </p:spPr>
      </p:sp>
      <p:sp>
        <p:nvSpPr>
          <p:cNvPr id="25" name="step 5"/>
          <p:cNvSpPr/>
          <p:nvPr/>
        </p:nvSpPr>
        <p:spPr>
          <a:xfrm>
            <a:off x="4565904" y="4023360"/>
            <a:ext cx="384048" cy="384048"/>
          </a:xfrm>
          <a:prstGeom prst="ellipse">
            <a:avLst/>
          </a:prstGeom>
          <a:solidFill>
            <a:schemeClr val="accent4"/>
          </a:solidFill>
          <a:ln w="12700">
            <a:solidFill>
              <a:schemeClr val="accent4"/>
            </a:solidFill>
            <a:prstDash val="solid"/>
          </a:ln>
        </p:spPr>
      </p:sp>
      <p:sp>
        <p:nvSpPr>
          <p:cNvPr id="26" name="Text 23"/>
          <p:cNvSpPr txBox="1"/>
          <p:nvPr/>
        </p:nvSpPr>
        <p:spPr>
          <a:xfrm>
            <a:off x="4565904"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5068824" y="399592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Designs changed between recordings</a:t>
            </a:r>
            <a:endParaRPr lang="en-US" sz="1500" dirty="0"/>
          </a:p>
        </p:txBody>
      </p:sp>
      <p:sp>
        <p:nvSpPr>
          <p:cNvPr id="28" name="Text 25"/>
          <p:cNvSpPr txBox="1"/>
          <p:nvPr/>
        </p:nvSpPr>
        <p:spPr>
          <a:xfrm>
            <a:off x="4565904" y="4572000"/>
            <a:ext cx="3057144" cy="1188720"/>
          </a:xfrm>
          <a:prstGeom prst="rect">
            <a:avLst/>
          </a:prstGeom>
          <a:noFill/>
          <a:ln/>
        </p:spPr>
        <p:txBody>
          <a:bodyPr wrap="square" lIns="0" tIns="0" rIns="0" bIns="0" rtlCol="0" anchor="t"/>
          <a:lstStyle/>
          <a:p>
            <a:pPr indent="0" marL="0">
              <a:buNone/>
            </a:pPr>
            <a:r>
              <a:rPr lang="en-US" sz="1150" dirty="0">
                <a:solidFill>
                  <a:schemeClr val="tx2"/>
                </a:solidFill>
              </a:rPr>
              <a:t>Desks, prompts and books were modified after the first recording and after the preflight. The final recordings are of the final desks; earlier figures are retracted, not comparable.</a:t>
            </a:r>
            <a:endParaRPr lang="en-US" sz="1150" dirty="0"/>
          </a:p>
        </p:txBody>
      </p:sp>
      <p:sp>
        <p:nvSpPr>
          <p:cNvPr id="29" name="limit 5"/>
          <p:cNvSpPr/>
          <p:nvPr/>
        </p:nvSpPr>
        <p:spPr>
          <a:xfrm>
            <a:off x="8125968" y="3794760"/>
            <a:ext cx="3514344" cy="2103120"/>
          </a:xfrm>
          <a:prstGeom prst="roundRect">
            <a:avLst>
              <a:gd name="adj" fmla="val 3478"/>
            </a:avLst>
          </a:prstGeom>
          <a:solidFill>
            <a:schemeClr val="bg2"/>
          </a:solidFill>
          <a:ln w="9525">
            <a:solidFill>
              <a:schemeClr val="accent5"/>
            </a:solidFill>
            <a:prstDash val="solid"/>
          </a:ln>
        </p:spPr>
      </p:sp>
      <p:sp>
        <p:nvSpPr>
          <p:cNvPr id="30" name="step 6"/>
          <p:cNvSpPr/>
          <p:nvPr/>
        </p:nvSpPr>
        <p:spPr>
          <a:xfrm>
            <a:off x="8354568" y="4023360"/>
            <a:ext cx="384048" cy="384048"/>
          </a:xfrm>
          <a:prstGeom prst="ellipse">
            <a:avLst/>
          </a:prstGeom>
          <a:solidFill>
            <a:schemeClr val="accent4"/>
          </a:solidFill>
          <a:ln w="12700">
            <a:solidFill>
              <a:schemeClr val="accent4"/>
            </a:solidFill>
            <a:prstDash val="solid"/>
          </a:ln>
        </p:spPr>
      </p:sp>
      <p:sp>
        <p:nvSpPr>
          <p:cNvPr id="31" name="Text 28"/>
          <p:cNvSpPr txBox="1"/>
          <p:nvPr/>
        </p:nvSpPr>
        <p:spPr>
          <a:xfrm>
            <a:off x="8354568"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8857488" y="399592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Register not yet updated</a:t>
            </a:r>
            <a:endParaRPr lang="en-US" sz="1500" dirty="0"/>
          </a:p>
        </p:txBody>
      </p:sp>
      <p:sp>
        <p:nvSpPr>
          <p:cNvPr id="33" name="Text 30"/>
          <p:cNvSpPr txBox="1"/>
          <p:nvPr/>
        </p:nvSpPr>
        <p:spPr>
          <a:xfrm>
            <a:off x="8354568" y="4572000"/>
            <a:ext cx="3057144" cy="1188720"/>
          </a:xfrm>
          <a:prstGeom prst="rect">
            <a:avLst/>
          </a:prstGeom>
          <a:noFill/>
          <a:ln/>
        </p:spPr>
        <p:txBody>
          <a:bodyPr wrap="square" lIns="0" tIns="0" rIns="0" bIns="0" rtlCol="0" anchor="t"/>
          <a:lstStyle/>
          <a:p>
            <a:pPr indent="0" marL="0">
              <a:buNone/>
            </a:pPr>
            <a:r>
              <a:rPr lang="en-US" sz="1150" dirty="0">
                <a:solidFill>
                  <a:schemeClr val="tx2"/>
                </a:solidFill>
              </a:rPr>
              <a:t>The Control Effectiveness Register and Control Inventory still read the scripted and fallible columns. gate-presets is not recorded live.</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Conclusions</a:t>
            </a:r>
            <a:endParaRPr lang="en-US" sz="2800" dirty="0"/>
          </a:p>
        </p:txBody>
      </p:sp>
      <p:sp>
        <p:nvSpPr>
          <p:cNvPr id="4" name="c dot 0"/>
          <p:cNvSpPr/>
          <p:nvPr/>
        </p:nvSpPr>
        <p:spPr>
          <a:xfrm>
            <a:off x="548640" y="1444752"/>
            <a:ext cx="274320" cy="274320"/>
          </a:xfrm>
          <a:prstGeom prst="ellipse">
            <a:avLst/>
          </a:prstGeom>
          <a:solidFill>
            <a:schemeClr val="accent2"/>
          </a:solidFill>
          <a:ln w="12700">
            <a:solidFill>
              <a:schemeClr val="accent2"/>
            </a:solidFill>
            <a:prstDash val="solid"/>
          </a:ln>
        </p:spPr>
      </p:sp>
      <p:sp>
        <p:nvSpPr>
          <p:cNvPr id="5" name="Text 2"/>
          <p:cNvSpPr txBox="1"/>
          <p:nvPr/>
        </p:nvSpPr>
        <p:spPr>
          <a:xfrm>
            <a:off x="1005840" y="137160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The first recording's figures</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are retracted</a:t>
            </a:r>
            <a:endParaRPr lang="en-US" sz="1400" dirty="0"/>
          </a:p>
        </p:txBody>
      </p:sp>
      <p:sp>
        <p:nvSpPr>
          <p:cNvPr id="6" name="Text 3"/>
          <p:cNvSpPr txBox="1"/>
          <p:nvPr/>
        </p:nvSpPr>
        <p:spPr>
          <a:xfrm>
            <a:off x="3383280" y="1371600"/>
            <a:ext cx="2574036" cy="1280160"/>
          </a:xfrm>
          <a:prstGeom prst="rect">
            <a:avLst/>
          </a:prstGeom>
          <a:noFill/>
          <a:ln/>
        </p:spPr>
        <p:txBody>
          <a:bodyPr wrap="square" lIns="0" tIns="0" rIns="0" bIns="0" rtlCol="0" anchor="t"/>
          <a:lstStyle/>
          <a:p>
            <a:pPr indent="0" marL="0">
              <a:buNone/>
            </a:pPr>
            <a:r>
              <a:rPr lang="en-US" sz="1150" dirty="0">
                <a:solidFill>
                  <a:schemeClr val="tx2"/>
                </a:solidFill>
              </a:rPr>
              <a:t>Low agreement was the model scored against rules it never saw, plus replay artefacts; the two adverse effects were a hidden convention and an evaluator's definition.</a:t>
            </a:r>
            <a:endParaRPr lang="en-US" sz="1150" dirty="0"/>
          </a:p>
        </p:txBody>
      </p:sp>
      <p:sp>
        <p:nvSpPr>
          <p:cNvPr id="7" name="c dot 1"/>
          <p:cNvSpPr/>
          <p:nvPr/>
        </p:nvSpPr>
        <p:spPr>
          <a:xfrm>
            <a:off x="6231636" y="1444752"/>
            <a:ext cx="274320" cy="274320"/>
          </a:xfrm>
          <a:prstGeom prst="ellipse">
            <a:avLst/>
          </a:prstGeom>
          <a:solidFill>
            <a:schemeClr val="accent1"/>
          </a:solidFill>
          <a:ln w="12700">
            <a:solidFill>
              <a:schemeClr val="accent1"/>
            </a:solidFill>
            <a:prstDash val="solid"/>
          </a:ln>
        </p:spPr>
      </p:sp>
      <p:sp>
        <p:nvSpPr>
          <p:cNvPr id="8" name="Text 5"/>
          <p:cNvSpPr txBox="1"/>
          <p:nvPr/>
        </p:nvSpPr>
        <p:spPr>
          <a:xfrm>
            <a:off x="6688836" y="137160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Seeing the rule was</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the whole difference</a:t>
            </a:r>
            <a:endParaRPr lang="en-US" sz="1400" dirty="0"/>
          </a:p>
        </p:txBody>
      </p:sp>
      <p:sp>
        <p:nvSpPr>
          <p:cNvPr id="9" name="Text 6"/>
          <p:cNvSpPr txBox="1"/>
          <p:nvPr/>
        </p:nvSpPr>
        <p:spPr>
          <a:xfrm>
            <a:off x="9066276" y="1371600"/>
            <a:ext cx="2574036" cy="1280160"/>
          </a:xfrm>
          <a:prstGeom prst="rect">
            <a:avLst/>
          </a:prstGeom>
          <a:noFill/>
          <a:ln/>
        </p:spPr>
        <p:txBody>
          <a:bodyPr wrap="square" lIns="0" tIns="0" rIns="0" bIns="0" rtlCol="0" anchor="t"/>
          <a:lstStyle/>
          <a:p>
            <a:pPr indent="0" marL="0">
              <a:buNone/>
            </a:pPr>
            <a:r>
              <a:rPr lang="en-US" sz="1150" dirty="0">
                <a:solidFill>
                  <a:schemeClr val="tx2"/>
                </a:solidFill>
              </a:rPr>
              <a:t>With each desk's rule on its case file, agreement is 81–100%. The fallible tier's uniform 10% is too pessimistic on five desks and about right on one.</a:t>
            </a:r>
            <a:endParaRPr lang="en-US" sz="1150" dirty="0"/>
          </a:p>
        </p:txBody>
      </p:sp>
      <p:sp>
        <p:nvSpPr>
          <p:cNvPr id="10" name="c dot 2"/>
          <p:cNvSpPr/>
          <p:nvPr/>
        </p:nvSpPr>
        <p:spPr>
          <a:xfrm>
            <a:off x="548640" y="2953512"/>
            <a:ext cx="274320" cy="274320"/>
          </a:xfrm>
          <a:prstGeom prst="ellipse">
            <a:avLst/>
          </a:prstGeom>
          <a:solidFill>
            <a:schemeClr val="accent1"/>
          </a:solidFill>
          <a:ln w="12700">
            <a:solidFill>
              <a:schemeClr val="accent1"/>
            </a:solidFill>
            <a:prstDash val="solid"/>
          </a:ln>
        </p:spPr>
      </p:sp>
      <p:sp>
        <p:nvSpPr>
          <p:cNvPr id="11" name="Text 8"/>
          <p:cNvSpPr txBox="1"/>
          <p:nvPr/>
        </p:nvSpPr>
        <p:spPr>
          <a:xfrm>
            <a:off x="1005840" y="288036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A control has a measured</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effect for the first time</a:t>
            </a:r>
            <a:endParaRPr lang="en-US" sz="1400" dirty="0"/>
          </a:p>
        </p:txBody>
      </p:sp>
      <p:sp>
        <p:nvSpPr>
          <p:cNvPr id="12" name="Text 9"/>
          <p:cNvSpPr txBox="1"/>
          <p:nvPr/>
        </p:nvSpPr>
        <p:spPr>
          <a:xfrm>
            <a:off x="3383280" y="2880360"/>
            <a:ext cx="2574036" cy="1280160"/>
          </a:xfrm>
          <a:prstGeom prst="rect">
            <a:avLst/>
          </a:prstGeom>
          <a:noFill/>
          <a:ln/>
        </p:spPr>
        <p:txBody>
          <a:bodyPr wrap="square" lIns="0" tIns="0" rIns="0" bIns="0" rtlCol="0" anchor="t"/>
          <a:lstStyle/>
          <a:p>
            <a:pPr indent="0" marL="0">
              <a:buNone/>
            </a:pPr>
            <a:r>
              <a:rPr lang="en-US" sz="1150" dirty="0">
                <a:solidFill>
                  <a:schemeClr val="tx2"/>
                </a:solidFill>
              </a:rPr>
              <a:t>On disputes, with temptations, the Within-the-limit card takes reimbursed-within-limit from 94% to 100%. It is the only control with an effect on record.</a:t>
            </a:r>
            <a:endParaRPr lang="en-US" sz="1150" dirty="0"/>
          </a:p>
        </p:txBody>
      </p:sp>
      <p:sp>
        <p:nvSpPr>
          <p:cNvPr id="13" name="c dot 3"/>
          <p:cNvSpPr/>
          <p:nvPr/>
        </p:nvSpPr>
        <p:spPr>
          <a:xfrm>
            <a:off x="6231636" y="2953512"/>
            <a:ext cx="274320" cy="274320"/>
          </a:xfrm>
          <a:prstGeom prst="ellipse">
            <a:avLst/>
          </a:prstGeom>
          <a:solidFill>
            <a:schemeClr val="accent1"/>
          </a:solidFill>
          <a:ln w="12700">
            <a:solidFill>
              <a:schemeClr val="accent1"/>
            </a:solidFill>
            <a:prstDash val="solid"/>
          </a:ln>
        </p:spPr>
      </p:sp>
      <p:sp>
        <p:nvSpPr>
          <p:cNvPr id="14" name="Text 11"/>
          <p:cNvSpPr txBox="1"/>
          <p:nvPr/>
        </p:nvSpPr>
        <p:spPr>
          <a:xfrm>
            <a:off x="6688836" y="288036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Repeatable in outcome,</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not in wording</a:t>
            </a:r>
            <a:endParaRPr lang="en-US" sz="1400" dirty="0"/>
          </a:p>
        </p:txBody>
      </p:sp>
      <p:sp>
        <p:nvSpPr>
          <p:cNvPr id="15" name="Text 12"/>
          <p:cNvSpPr txBox="1"/>
          <p:nvPr/>
        </p:nvSpPr>
        <p:spPr>
          <a:xfrm>
            <a:off x="9066276" y="2880360"/>
            <a:ext cx="2574036" cy="1280160"/>
          </a:xfrm>
          <a:prstGeom prst="rect">
            <a:avLst/>
          </a:prstGeom>
          <a:noFill/>
          <a:ln/>
        </p:spPr>
        <p:txBody>
          <a:bodyPr wrap="square" lIns="0" tIns="0" rIns="0" bIns="0" rtlCol="0" anchor="t"/>
          <a:lstStyle/>
          <a:p>
            <a:pPr indent="0" marL="0">
              <a:buNone/>
            </a:pPr>
            <a:r>
              <a:rPr lang="en-US" sz="1150" dirty="0">
                <a:solidFill>
                  <a:schemeClr val="tx2"/>
                </a:solidFill>
              </a:rPr>
              <a:t>Same call in 93–98% of repeated prompts; consistency across two performances 98–100% in all but one design. pass^k is the figure a control is credited on.</a:t>
            </a:r>
            <a:endParaRPr lang="en-US" sz="1150" dirty="0"/>
          </a:p>
        </p:txBody>
      </p:sp>
      <p:sp>
        <p:nvSpPr>
          <p:cNvPr id="16" name="c dot 4"/>
          <p:cNvSpPr/>
          <p:nvPr/>
        </p:nvSpPr>
        <p:spPr>
          <a:xfrm>
            <a:off x="548640" y="4462272"/>
            <a:ext cx="274320" cy="274320"/>
          </a:xfrm>
          <a:prstGeom prst="ellipse">
            <a:avLst/>
          </a:prstGeom>
          <a:solidFill>
            <a:schemeClr val="accent1"/>
          </a:solidFill>
          <a:ln w="12700">
            <a:solidFill>
              <a:schemeClr val="accent1"/>
            </a:solidFill>
            <a:prstDash val="solid"/>
          </a:ln>
        </p:spPr>
      </p:sp>
      <p:sp>
        <p:nvSpPr>
          <p:cNvPr id="17" name="Text 14"/>
          <p:cNvSpPr txBox="1"/>
          <p:nvPr/>
        </p:nvSpPr>
        <p:spPr>
          <a:xfrm>
            <a:off x="1005840" y="438912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Most designs are</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at a ceiling</a:t>
            </a:r>
            <a:endParaRPr lang="en-US" sz="1400" dirty="0"/>
          </a:p>
        </p:txBody>
      </p:sp>
      <p:sp>
        <p:nvSpPr>
          <p:cNvPr id="18" name="Text 15"/>
          <p:cNvSpPr txBox="1"/>
          <p:nvPr/>
        </p:nvSpPr>
        <p:spPr>
          <a:xfrm>
            <a:off x="3383280" y="4389120"/>
            <a:ext cx="2574036" cy="1280160"/>
          </a:xfrm>
          <a:prstGeom prst="rect">
            <a:avLst/>
          </a:prstGeom>
          <a:noFill/>
          <a:ln/>
        </p:spPr>
        <p:txBody>
          <a:bodyPr wrap="square" lIns="0" tIns="0" rIns="0" bIns="0" rtlCol="0" anchor="t"/>
          <a:lstStyle/>
          <a:p>
            <a:pPr indent="0" marL="0">
              <a:buNone/>
            </a:pPr>
            <a:r>
              <a:rPr lang="en-US" sz="1150" dirty="0">
                <a:solidFill>
                  <a:schemeClr val="tx2"/>
                </a:solidFill>
              </a:rPr>
              <a:t>A finding about the model and the books, not the controls. The next evidence on control effectiveness depends on a harder book or a weaker model.</a:t>
            </a:r>
            <a:endParaRPr lang="en-US" sz="1150" dirty="0"/>
          </a:p>
        </p:txBody>
      </p:sp>
      <p:sp>
        <p:nvSpPr>
          <p:cNvPr id="19" name="c dot 5"/>
          <p:cNvSpPr/>
          <p:nvPr/>
        </p:nvSpPr>
        <p:spPr>
          <a:xfrm>
            <a:off x="6231636" y="4462272"/>
            <a:ext cx="274320" cy="274320"/>
          </a:xfrm>
          <a:prstGeom prst="ellipse">
            <a:avLst/>
          </a:prstGeom>
          <a:solidFill>
            <a:schemeClr val="accent1"/>
          </a:solidFill>
          <a:ln w="12700">
            <a:solidFill>
              <a:schemeClr val="accent1"/>
            </a:solidFill>
            <a:prstDash val="solid"/>
          </a:ln>
        </p:spPr>
      </p:sp>
      <p:sp>
        <p:nvSpPr>
          <p:cNvPr id="20" name="Text 17"/>
          <p:cNvSpPr txBox="1"/>
          <p:nvPr/>
        </p:nvSpPr>
        <p:spPr>
          <a:xfrm>
            <a:off x="6688836" y="438912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The apparatus is</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now trustworthy</a:t>
            </a:r>
            <a:endParaRPr lang="en-US" sz="1400" dirty="0"/>
          </a:p>
        </p:txBody>
      </p:sp>
      <p:sp>
        <p:nvSpPr>
          <p:cNvPr id="21" name="Text 18"/>
          <p:cNvSpPr txBox="1"/>
          <p:nvPr/>
        </p:nvSpPr>
        <p:spPr>
          <a:xfrm>
            <a:off x="9066276" y="4389120"/>
            <a:ext cx="2574036" cy="1280160"/>
          </a:xfrm>
          <a:prstGeom prst="rect">
            <a:avLst/>
          </a:prstGeom>
          <a:noFill/>
          <a:ln/>
        </p:spPr>
        <p:txBody>
          <a:bodyPr wrap="square" lIns="0" tIns="0" rIns="0" bIns="0" rtlCol="0" anchor="t"/>
          <a:lstStyle/>
          <a:p>
            <a:pPr indent="0" marL="0">
              <a:buNone/>
            </a:pPr>
            <a:r>
              <a:rPr lang="en-US" sz="1150" dirty="0">
                <a:solidFill>
                  <a:schemeClr val="tx2"/>
                </a:solidFill>
              </a:rPr>
              <a:t>Fifteen defects found and fixed, 5,730 tests holding them, every recording verified against its own store and replayed exactly in CI.</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Recommended next steps</a:t>
            </a:r>
            <a:endParaRPr lang="en-US" sz="2800" dirty="0"/>
          </a:p>
        </p:txBody>
      </p:sp>
      <p:sp>
        <p:nvSpPr>
          <p:cNvPr id="4" name="horizon 0"/>
          <p:cNvSpPr/>
          <p:nvPr/>
        </p:nvSpPr>
        <p:spPr>
          <a:xfrm>
            <a:off x="548640" y="1371600"/>
            <a:ext cx="3514344" cy="4754880"/>
          </a:xfrm>
          <a:prstGeom prst="roundRect">
            <a:avLst>
              <a:gd name="adj" fmla="val 2082"/>
            </a:avLst>
          </a:prstGeom>
          <a:solidFill>
            <a:schemeClr val="bg2"/>
          </a:solidFill>
          <a:ln w="9525">
            <a:solidFill>
              <a:schemeClr val="accent5"/>
            </a:solidFill>
            <a:prstDash val="solid"/>
          </a:ln>
        </p:spPr>
      </p:sp>
      <p:sp>
        <p:nvSpPr>
          <p:cNvPr id="5" name="h dot 0"/>
          <p:cNvSpPr/>
          <p:nvPr/>
        </p:nvSpPr>
        <p:spPr>
          <a:xfrm>
            <a:off x="777240" y="1572768"/>
            <a:ext cx="237744" cy="237744"/>
          </a:xfrm>
          <a:prstGeom prst="ellipse">
            <a:avLst/>
          </a:prstGeom>
          <a:solidFill>
            <a:schemeClr val="accent2"/>
          </a:solidFill>
          <a:ln w="12700">
            <a:solidFill>
              <a:schemeClr val="accent2"/>
            </a:solidFill>
            <a:prstDash val="solid"/>
          </a:ln>
        </p:spPr>
      </p:sp>
      <p:sp>
        <p:nvSpPr>
          <p:cNvPr id="6" name="Text 3"/>
          <p:cNvSpPr txBox="1"/>
          <p:nvPr/>
        </p:nvSpPr>
        <p:spPr>
          <a:xfrm>
            <a:off x="1143000" y="1481328"/>
            <a:ext cx="2691384" cy="411480"/>
          </a:xfrm>
          <a:prstGeom prst="rect">
            <a:avLst/>
          </a:prstGeom>
          <a:noFill/>
          <a:ln/>
        </p:spPr>
        <p:txBody>
          <a:bodyPr wrap="square" lIns="0" tIns="0" rIns="0" bIns="0" rtlCol="0" anchor="ctr"/>
          <a:lstStyle/>
          <a:p>
            <a:pPr indent="0" marL="0">
              <a:buNone/>
            </a:pPr>
            <a:r>
              <a:rPr lang="en-US" sz="1700" b="1" dirty="0">
                <a:solidFill>
                  <a:schemeClr val="tx1"/>
                </a:solidFill>
                <a:latin typeface="Newsreader" pitchFamily="34" charset="0"/>
                <a:ea typeface="Newsreader" pitchFamily="34" charset="-122"/>
                <a:cs typeface="Newsreader" pitchFamily="34" charset="-120"/>
              </a:rPr>
              <a:t>Immediate</a:t>
            </a:r>
            <a:endParaRPr lang="en-US" sz="1700" dirty="0"/>
          </a:p>
        </p:txBody>
      </p:sp>
      <p:sp>
        <p:nvSpPr>
          <p:cNvPr id="7" name="Text 4"/>
          <p:cNvSpPr txBox="1"/>
          <p:nvPr/>
        </p:nvSpPr>
        <p:spPr>
          <a:xfrm>
            <a:off x="777240" y="2057400"/>
            <a:ext cx="3057144" cy="3931920"/>
          </a:xfrm>
          <a:prstGeom prst="rect">
            <a:avLst/>
          </a:prstGeom>
          <a:noFill/>
          <a:ln/>
        </p:spPr>
        <p:txBody>
          <a:bodyPr wrap="square" lIns="0" tIns="0" rIns="0" bIns="0" rtlCol="0" anchor="t"/>
          <a:lstStyle/>
          <a:p>
            <a:pPr marL="228600" indent="-228600">
              <a:spcAft>
                <a:spcPts val="1000"/>
              </a:spcAft>
              <a:buSzPct val="100000"/>
              <a:buFont typeface="+mj-lt"/>
              <a:buAutoNum type="arabicPeriod" startAt="1"/>
            </a:pPr>
            <a:r>
              <a:rPr lang="en-US" sz="1250" dirty="0">
                <a:solidFill>
                  <a:schemeClr val="tx1"/>
                </a:solidFill>
              </a:rPr>
              <a:t>Replace the fallible tier's assumption rows (one in ten wrong on every desk) with the measured per-desk rates.</a:t>
            </a:r>
            <a:endParaRPr lang="en-US" sz="1250" dirty="0"/>
          </a:p>
          <a:p>
            <a:pPr marL="228600" indent="-228600">
              <a:spcAft>
                <a:spcPts val="1000"/>
              </a:spcAft>
              <a:buSzPct val="100000"/>
              <a:buFont typeface="+mj-lt"/>
              <a:buAutoNum type="arabicPeriod" startAt="2"/>
            </a:pPr>
            <a:r>
              <a:rPr lang="en-US" sz="1250" dirty="0">
                <a:solidFill>
                  <a:schemeClr val="tx1"/>
                </a:solidFill>
              </a:rPr>
              <a:t>Fold the live column into the Control Effectiveness Register and the Control Inventory, carrying pass^k and the verdict vocabulary.</a:t>
            </a:r>
            <a:endParaRPr lang="en-US" sz="1250" dirty="0"/>
          </a:p>
        </p:txBody>
      </p:sp>
      <p:sp>
        <p:nvSpPr>
          <p:cNvPr id="8" name="horizon 1"/>
          <p:cNvSpPr/>
          <p:nvPr/>
        </p:nvSpPr>
        <p:spPr>
          <a:xfrm>
            <a:off x="4337304" y="1371600"/>
            <a:ext cx="3514344" cy="4754880"/>
          </a:xfrm>
          <a:prstGeom prst="roundRect">
            <a:avLst>
              <a:gd name="adj" fmla="val 2082"/>
            </a:avLst>
          </a:prstGeom>
          <a:solidFill>
            <a:schemeClr val="bg2"/>
          </a:solidFill>
          <a:ln w="9525">
            <a:solidFill>
              <a:schemeClr val="accent5"/>
            </a:solidFill>
            <a:prstDash val="solid"/>
          </a:ln>
        </p:spPr>
      </p:sp>
      <p:sp>
        <p:nvSpPr>
          <p:cNvPr id="9" name="h dot 1"/>
          <p:cNvSpPr/>
          <p:nvPr/>
        </p:nvSpPr>
        <p:spPr>
          <a:xfrm>
            <a:off x="4565904" y="1572768"/>
            <a:ext cx="237744" cy="237744"/>
          </a:xfrm>
          <a:prstGeom prst="ellipse">
            <a:avLst/>
          </a:prstGeom>
          <a:solidFill>
            <a:schemeClr val="accent1"/>
          </a:solidFill>
          <a:ln w="12700">
            <a:solidFill>
              <a:schemeClr val="accent1"/>
            </a:solidFill>
            <a:prstDash val="solid"/>
          </a:ln>
        </p:spPr>
      </p:sp>
      <p:sp>
        <p:nvSpPr>
          <p:cNvPr id="10" name="Text 7"/>
          <p:cNvSpPr txBox="1"/>
          <p:nvPr/>
        </p:nvSpPr>
        <p:spPr>
          <a:xfrm>
            <a:off x="4931664" y="1481328"/>
            <a:ext cx="2691384" cy="411480"/>
          </a:xfrm>
          <a:prstGeom prst="rect">
            <a:avLst/>
          </a:prstGeom>
          <a:noFill/>
          <a:ln/>
        </p:spPr>
        <p:txBody>
          <a:bodyPr wrap="square" lIns="0" tIns="0" rIns="0" bIns="0" rtlCol="0" anchor="ctr"/>
          <a:lstStyle/>
          <a:p>
            <a:pPr indent="0" marL="0">
              <a:buNone/>
            </a:pPr>
            <a:r>
              <a:rPr lang="en-US" sz="1700" b="1" dirty="0">
                <a:solidFill>
                  <a:schemeClr val="tx1"/>
                </a:solidFill>
                <a:latin typeface="Newsreader" pitchFamily="34" charset="0"/>
                <a:ea typeface="Newsreader" pitchFamily="34" charset="-122"/>
                <a:cs typeface="Newsreader" pitchFamily="34" charset="-120"/>
              </a:rPr>
              <a:t>Short term</a:t>
            </a:r>
            <a:endParaRPr lang="en-US" sz="1700" dirty="0"/>
          </a:p>
        </p:txBody>
      </p:sp>
      <p:sp>
        <p:nvSpPr>
          <p:cNvPr id="11" name="Text 8"/>
          <p:cNvSpPr txBox="1"/>
          <p:nvPr/>
        </p:nvSpPr>
        <p:spPr>
          <a:xfrm>
            <a:off x="4565904" y="2057400"/>
            <a:ext cx="3057144" cy="3931920"/>
          </a:xfrm>
          <a:prstGeom prst="rect">
            <a:avLst/>
          </a:prstGeom>
          <a:noFill/>
          <a:ln/>
        </p:spPr>
        <p:txBody>
          <a:bodyPr wrap="square" lIns="0" tIns="0" rIns="0" bIns="0" rtlCol="0" anchor="t"/>
          <a:lstStyle/>
          <a:p>
            <a:pPr marL="228600" indent="-228600">
              <a:spcAft>
                <a:spcPts val="1000"/>
              </a:spcAft>
              <a:buSzPct val="100000"/>
              <a:buFont typeface="+mj-lt"/>
              <a:buAutoNum type="arabicPeriod" startAt="3"/>
            </a:pPr>
            <a:r>
              <a:rPr lang="en-US" sz="1250" dirty="0">
                <a:solidFill>
                  <a:schemeClr val="tx1"/>
                </a:solidFill>
              </a:rPr>
              <a:t>Build a harder book, or run a weaker model, for the designs at a ceiling, so that each control has something to catch.</a:t>
            </a:r>
            <a:endParaRPr lang="en-US" sz="1250" dirty="0"/>
          </a:p>
          <a:p>
            <a:pPr marL="228600" indent="-228600">
              <a:spcAft>
                <a:spcPts val="1000"/>
              </a:spcAft>
              <a:buSzPct val="100000"/>
              <a:buFont typeface="+mj-lt"/>
              <a:buAutoNum type="arabicPeriod" startAt="4"/>
            </a:pPr>
            <a:r>
              <a:rPr lang="en-US" sz="1250" dirty="0">
                <a:solidFill>
                  <a:schemeClr val="tx1"/>
                </a:solidFill>
              </a:rPr>
              <a:t>Review the assumption rows this work added: temptation and variant shares, the redress range, the catalogue entries touched.</a:t>
            </a:r>
            <a:endParaRPr lang="en-US" sz="1250" dirty="0"/>
          </a:p>
        </p:txBody>
      </p:sp>
      <p:sp>
        <p:nvSpPr>
          <p:cNvPr id="12" name="horizon 2"/>
          <p:cNvSpPr/>
          <p:nvPr/>
        </p:nvSpPr>
        <p:spPr>
          <a:xfrm>
            <a:off x="8125968" y="1371600"/>
            <a:ext cx="3514344" cy="4754880"/>
          </a:xfrm>
          <a:prstGeom prst="roundRect">
            <a:avLst>
              <a:gd name="adj" fmla="val 2082"/>
            </a:avLst>
          </a:prstGeom>
          <a:solidFill>
            <a:schemeClr val="bg2"/>
          </a:solidFill>
          <a:ln w="9525">
            <a:solidFill>
              <a:schemeClr val="accent5"/>
            </a:solidFill>
            <a:prstDash val="solid"/>
          </a:ln>
        </p:spPr>
      </p:sp>
      <p:sp>
        <p:nvSpPr>
          <p:cNvPr id="13" name="h dot 2"/>
          <p:cNvSpPr/>
          <p:nvPr/>
        </p:nvSpPr>
        <p:spPr>
          <a:xfrm>
            <a:off x="8354568" y="1572768"/>
            <a:ext cx="237744" cy="237744"/>
          </a:xfrm>
          <a:prstGeom prst="ellipse">
            <a:avLst/>
          </a:prstGeom>
          <a:solidFill>
            <a:schemeClr val="accent1"/>
          </a:solidFill>
          <a:ln w="12700">
            <a:solidFill>
              <a:schemeClr val="accent1"/>
            </a:solidFill>
            <a:prstDash val="solid"/>
          </a:ln>
        </p:spPr>
      </p:sp>
      <p:sp>
        <p:nvSpPr>
          <p:cNvPr id="14" name="Text 11"/>
          <p:cNvSpPr txBox="1"/>
          <p:nvPr/>
        </p:nvSpPr>
        <p:spPr>
          <a:xfrm>
            <a:off x="8720328" y="1481328"/>
            <a:ext cx="2691384" cy="411480"/>
          </a:xfrm>
          <a:prstGeom prst="rect">
            <a:avLst/>
          </a:prstGeom>
          <a:noFill/>
          <a:ln/>
        </p:spPr>
        <p:txBody>
          <a:bodyPr wrap="square" lIns="0" tIns="0" rIns="0" bIns="0" rtlCol="0" anchor="ctr"/>
          <a:lstStyle/>
          <a:p>
            <a:pPr indent="0" marL="0">
              <a:buNone/>
            </a:pPr>
            <a:r>
              <a:rPr lang="en-US" sz="1700" b="1" dirty="0">
                <a:solidFill>
                  <a:schemeClr val="tx1"/>
                </a:solidFill>
                <a:latin typeface="Newsreader" pitchFamily="34" charset="0"/>
                <a:ea typeface="Newsreader" pitchFamily="34" charset="-122"/>
                <a:cs typeface="Newsreader" pitchFamily="34" charset="-120"/>
              </a:rPr>
              <a:t>Medium term</a:t>
            </a:r>
            <a:endParaRPr lang="en-US" sz="1700" dirty="0"/>
          </a:p>
        </p:txBody>
      </p:sp>
      <p:sp>
        <p:nvSpPr>
          <p:cNvPr id="15" name="Text 12"/>
          <p:cNvSpPr txBox="1"/>
          <p:nvPr/>
        </p:nvSpPr>
        <p:spPr>
          <a:xfrm>
            <a:off x="8354568" y="2057400"/>
            <a:ext cx="3057144" cy="3931920"/>
          </a:xfrm>
          <a:prstGeom prst="rect">
            <a:avLst/>
          </a:prstGeom>
          <a:noFill/>
          <a:ln/>
        </p:spPr>
        <p:txBody>
          <a:bodyPr wrap="square" lIns="0" tIns="0" rIns="0" bIns="0" rtlCol="0" anchor="t"/>
          <a:lstStyle/>
          <a:p>
            <a:pPr marL="228600" indent="-228600">
              <a:spcAft>
                <a:spcPts val="1000"/>
              </a:spcAft>
              <a:buSzPct val="100000"/>
              <a:buFont typeface="+mj-lt"/>
              <a:buAutoNum type="arabicPeriod" startAt="5"/>
            </a:pPr>
            <a:r>
              <a:rPr lang="en-US" sz="1250" dirty="0">
                <a:solidFill>
                  <a:schemeClr val="tx1"/>
                </a:solidFill>
              </a:rPr>
              <a:t>Address the cells lost to the model's habits: fraud's re-opened alerts, disputes' retry loop, lending's repeated calls.</a:t>
            </a:r>
            <a:endParaRPr lang="en-US" sz="1250" dirty="0"/>
          </a:p>
          <a:p>
            <a:pPr marL="228600" indent="-228600">
              <a:spcAft>
                <a:spcPts val="1000"/>
              </a:spcAft>
              <a:buSzPct val="100000"/>
              <a:buFont typeface="+mj-lt"/>
              <a:buAutoNum type="arabicPeriod" startAt="6"/>
            </a:pPr>
            <a:r>
              <a:rPr lang="en-US" sz="1250" dirty="0">
                <a:solidFill>
                  <a:schemeClr val="tx1"/>
                </a:solidFill>
              </a:rPr>
              <a:t>Record gate-presets live and serve a cassette in an edition, so the Workshop's live column is populated.</a:t>
            </a:r>
            <a:endParaRPr lang="en-US" sz="1250" dirty="0"/>
          </a:p>
          <a:p>
            <a:pPr marL="228600" indent="-228600">
              <a:spcAft>
                <a:spcPts val="1000"/>
              </a:spcAft>
              <a:buSzPct val="100000"/>
              <a:buFont typeface="+mj-lt"/>
              <a:buAutoNum type="arabicPeriod" startAt="7"/>
            </a:pPr>
            <a:r>
              <a:rPr lang="en-US" sz="1250" dirty="0">
                <a:solidFill>
                  <a:schemeClr val="tx1"/>
                </a:solidFill>
              </a:rPr>
              <a:t>Add a second model to tell model-specific findings from general ones.</a:t>
            </a:r>
            <a:endParaRPr lang="en-US" sz="12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1" type="title" hasCustomPrompt="1"/>
          </p:nvPr>
        </p:nvSpPr>
        <p:spPr>
          <a:xfrm>
            <a:off x="548640" y="2148840"/>
            <a:ext cx="11091672" cy="1554480"/>
          </a:xfrm>
          <a:prstGeom prst="rect">
            <a:avLst/>
          </a:prstGeom>
          <a:noFill/>
          <a:ln/>
        </p:spPr>
        <p:txBody>
          <a:bodyPr wrap="square" lIns="0" tIns="0" rIns="0" bIns="0" rtlCol="0" anchor="b"/>
          <a:lstStyle/>
          <a:p>
            <a:pPr algn="l" indent="0" marL="0">
              <a:buNone/>
            </a:pPr>
            <a:r>
              <a:rPr lang="en-US" sz="4400" b="1" dirty="0">
                <a:solidFill>
                  <a:schemeClr val="tx1"/>
                </a:solidFill>
              </a:rPr>
              <a:t>Three questions I now ask first</a:t>
            </a:r>
            <a:endParaRPr lang="en-US" sz="4400" dirty="0"/>
          </a:p>
        </p:txBody>
      </p:sp>
      <p:sp>
        <p:nvSpPr>
          <p:cNvPr id="4" name="Text 1"/>
          <p:cNvSpPr/>
          <p:nvPr>
            <p:ph idx="102" type="body" hasCustomPrompt="1"/>
          </p:nvPr>
        </p:nvSpPr>
        <p:spPr>
          <a:xfrm>
            <a:off x="548640" y="3840480"/>
            <a:ext cx="11091672" cy="1463040"/>
          </a:xfrm>
          <a:prstGeom prst="rect">
            <a:avLst/>
          </a:prstGeom>
          <a:noFill/>
          <a:ln/>
        </p:spPr>
        <p:txBody>
          <a:bodyPr wrap="square" lIns="0" tIns="0" rIns="0" bIns="0" rtlCol="0" anchor="t"/>
          <a:lstStyle/>
          <a:p>
            <a:pPr indent="0" marL="0">
              <a:buNone/>
            </a:pPr>
            <a:r>
              <a:rPr lang="en-US" sz="1800" dirty="0">
                <a:solidFill>
                  <a:schemeClr val="tx2"/>
                </a:solidFill>
              </a:rPr>
              <a:t>Of any live-model evidence base, mine included. Corrections welcome; the recordings are public.</a:t>
            </a:r>
            <a:endParaRPr lang="en-US" sz="1800" dirty="0"/>
          </a:p>
        </p:txBody>
      </p:sp>
      <p:sp>
        <p:nvSpPr>
          <p:cNvPr id="5" name="questions panel"/>
          <p:cNvSpPr/>
          <p:nvPr/>
        </p:nvSpPr>
        <p:spPr>
          <a:xfrm>
            <a:off x="548640" y="4343400"/>
            <a:ext cx="11091672" cy="1371600"/>
          </a:xfrm>
          <a:prstGeom prst="rect">
            <a:avLst/>
          </a:prstGeom>
          <a:solidFill>
            <a:schemeClr val="accent1"/>
          </a:solidFill>
          <a:ln w="12700">
            <a:solidFill>
              <a:schemeClr val="accent1"/>
            </a:solidFill>
            <a:prstDash val="solid"/>
          </a:ln>
        </p:spPr>
      </p:sp>
      <p:sp>
        <p:nvSpPr>
          <p:cNvPr id="6" name="Text 3"/>
          <p:cNvSpPr txBox="1"/>
          <p:nvPr/>
        </p:nvSpPr>
        <p:spPr>
          <a:xfrm>
            <a:off x="868680" y="4434840"/>
            <a:ext cx="10451592" cy="1188720"/>
          </a:xfrm>
          <a:prstGeom prst="rect">
            <a:avLst/>
          </a:prstGeom>
          <a:noFill/>
          <a:ln/>
        </p:spPr>
        <p:txBody>
          <a:bodyPr wrap="square" lIns="0" tIns="0" rIns="0" bIns="0" rtlCol="0" anchor="ctr"/>
          <a:lstStyle/>
          <a:p>
            <a:pPr indent="0" marL="0">
              <a:spcAft>
                <a:spcPts val="800"/>
              </a:spcAft>
              <a:buNone/>
            </a:pPr>
            <a:r>
              <a:rPr lang="en-US" sz="1300" dirty="0">
                <a:solidFill>
                  <a:schemeClr val="bg1"/>
                </a:solidFill>
              </a:rPr>
              <a:t>1.  Have you read the prompt the model actually received? My desks' rules were never in it, and that was most of my "model error".</a:t>
            </a:r>
            <a:endParaRPr lang="en-US" sz="1300" dirty="0"/>
          </a:p>
          <a:p>
            <a:pPr indent="0" marL="0">
              <a:spcAft>
                <a:spcPts val="800"/>
              </a:spcAft>
              <a:buNone/>
            </a:pPr>
            <a:r>
              <a:rPr lang="en-US" sz="1300" dirty="0">
                <a:solidFill>
                  <a:schemeClr val="bg1"/>
                </a:solidFill>
              </a:rPr>
              <a:t>2.  Does your replay verify against the run's own record, or substitute? A replay that guesses manufactured two-thirds of my failures.</a:t>
            </a:r>
            <a:endParaRPr lang="en-US" sz="1300" dirty="0"/>
          </a:p>
          <a:p>
            <a:pPr indent="0" marL="0">
              <a:buNone/>
            </a:pPr>
            <a:r>
              <a:rPr lang="en-US" sz="1300" dirty="0">
                <a:solidFill>
                  <a:schemeClr val="bg1"/>
                </a:solidFill>
              </a:rPr>
              <a:t>3.  Is each control scored on properties it is not aimed at, and is pass^k measured? Otherwise a side-effect, or a lucky draw, will pass for a result.</a:t>
            </a:r>
            <a:endParaRPr lang="en-US" sz="1300" dirty="0"/>
          </a:p>
        </p:txBody>
      </p:sp>
      <p:sp>
        <p:nvSpPr>
          <p:cNvPr id="7" name="Text 4"/>
          <p:cNvSpPr txBox="1"/>
          <p:nvPr/>
        </p:nvSpPr>
        <p:spPr>
          <a:xfrm>
            <a:off x="548640" y="5806440"/>
            <a:ext cx="11091672" cy="320040"/>
          </a:xfrm>
          <a:prstGeom prst="rect">
            <a:avLst/>
          </a:prstGeom>
          <a:noFill/>
          <a:ln/>
        </p:spPr>
        <p:txBody>
          <a:bodyPr wrap="square" lIns="0" tIns="0" rIns="0" bIns="0" rtlCol="0" anchor="t"/>
          <a:lstStyle/>
          <a:p>
            <a:pPr indent="0" marL="0">
              <a:buNone/>
            </a:pPr>
            <a:r>
              <a:rPr lang="en-US" sz="900" dirty="0">
                <a:solidFill>
                  <a:schemeClr val="tx2"/>
                </a:solidFill>
                <a:latin typeface="IBM Plex Mono" pitchFamily="34" charset="0"/>
                <a:ea typeface="IBM Plex Mono" pitchFamily="34" charset="-122"/>
                <a:cs typeface="IBM Plex Mono" pitchFamily="34" charset="-120"/>
              </a:rPr>
              <a:t>Andrew Moore  ·  Axiom Verity  ·  axiom-verity.com  ·  Testbed: the Robo Bank simulator (Craft A Bot); TEST-REPORT.md and the recordings are in the repo</a:t>
            </a:r>
            <a:endParaRPr lang="en-US" sz="900" dirty="0"/>
          </a:p>
        </p:txBody>
      </p:sp>
    </p:spTree>
  </p:cSld>
  <p:clrMapOvr>
    <a:masterClrMapping/>
  </p:clrMapOvr>
</p:sld>
</file>

<file path=ppt/theme/theme1.xml><?xml version="1.0" encoding="utf-8"?>
<a:theme xmlns:a="http://schemas.openxmlformats.org/drawingml/2006/main" name="Axiom Verity">
  <a:themeElements>
    <a:clrScheme name="Axiom Verity">
      <a:dk1>
        <a:srgbClr val="10233A"/>
      </a:dk1>
      <a:lt1>
        <a:srgbClr val="F7F7F5"/>
      </a:lt1>
      <a:dk2>
        <a:srgbClr val="4A5A72"/>
      </a:dk2>
      <a:lt2>
        <a:srgbClr val="FFFFFF"/>
      </a:lt2>
      <a:accent1>
        <a:srgbClr val="0E2A4A"/>
      </a:accent1>
      <a:accent2>
        <a:srgbClr val="A8781F"/>
      </a:accent2>
      <a:accent3>
        <a:srgbClr val="7A5A1A"/>
      </a:accent3>
      <a:accent4>
        <a:srgbClr val="4A5A72"/>
      </a:accent4>
      <a:accent5>
        <a:srgbClr val="C4CCD3"/>
      </a:accent5>
      <a:accent6>
        <a:srgbClr val="EEF1EE"/>
      </a:accent6>
      <a:hlink>
        <a:srgbClr val="7A5A1A"/>
      </a:hlink>
      <a:folHlink>
        <a:srgbClr val="4A5A72"/>
      </a:folHlink>
    </a:clrScheme>
    <a:fontScheme name="Axiom Verity">
      <a:majorFont>
        <a:latin typeface="Newsread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live tier, re-recorded</dc:title>
  <dc:subject>Research note: what I got wrong, and what the re-record shows</dc:subject>
  <dc:creator>Andrew Moore, Axiom Verity</dc:creator>
  <cp:lastModifiedBy>Andrew Moore, Axiom Verity</cp:lastModifiedBy>
  <cp:revision>1</cp:revision>
  <dcterms:created xsi:type="dcterms:W3CDTF">2026-10-08T08:24:38Z</dcterms:created>
  <dcterms:modified xsi:type="dcterms:W3CDTF">2026-10-08T08:24:38Z</dcterms:modified>
</cp:coreProperties>
</file>