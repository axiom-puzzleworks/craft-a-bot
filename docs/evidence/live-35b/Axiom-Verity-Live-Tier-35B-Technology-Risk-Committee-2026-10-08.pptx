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56b368c-5030-edd8-6853-9c6712c4fa92}">
          <p14:sldIdLst>
            <p14:sldId id="256"/>
            <p14:sldId id="257"/>
          </p14:sldIdLst>
        </p14:section>
        <p14:section name="What was run" id="{4055107b-0e1e-f613-5ffd-3310fe672d69}">
          <p14:sldIdLst>
            <p14:sldId id="258"/>
          </p14:sldIdLst>
        </p14:section>
        <p14:section name="The 35B's results" id="{e6b717c0-a3b2-4221-7a78-baa37c721644}">
          <p14:sldIdLst>
            <p14:sldId id="259"/>
            <p14:sldId id="260"/>
            <p14:sldId id="261"/>
            <p14:sldId id="262"/>
            <p14:sldId id="263"/>
          </p14:sldIdLst>
        </p14:section>
        <p14:section name="Beside the 122B" id="{bc08ab1e-2b82-1656-c800-3b5d22301e30}">
          <p14:sldIdLst>
            <p14:sldId id="264"/>
            <p14:sldId id="265"/>
            <p14:sldId id="266"/>
            <p14:sldId id="267"/>
            <p14:sldId id="268"/>
          </p14:sldIdLst>
        </p14:section>
        <p14:section name="Conclusions and next steps" id="{e78a7457-ccde-d3a2-8f3d-60024aff94b8}">
          <p14:sldIdLst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8"/>
          <c:y val="0.05"/>
          <c:w val="0.9"/>
          <c:h val="0.7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35B, no stack</c:v>
                </c:pt>
              </c:strCache>
            </c:strRef>
          </c:tx>
          <c:spPr>
            <a:solidFill>
              <a:srgbClr val="A8781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023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8781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8781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8781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8781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8781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8781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A8781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A8781F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Lending</c:v>
                  </c:pt>
                  <c:pt idx="1">
                    <c:v>Servicing</c:v>
                  </c:pt>
                  <c:pt idx="2">
                    <c:v>Disputes</c:v>
                  </c:pt>
                  <c:pt idx="3">
                    <c:v>Collections</c:v>
                  </c:pt>
                  <c:pt idx="4">
                    <c:v>Onboarding</c:v>
                  </c:pt>
                  <c:pt idx="5">
                    <c:v>Complaints</c:v>
                  </c:pt>
                  <c:pt idx="6">
                    <c:v>Fraud</c:v>
                  </c:pt>
                  <c:pt idx="7">
                    <c:v>Advice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100</c:v>
                </c:pt>
                <c:pt idx="2">
                  <c:v>94</c:v>
                </c:pt>
                <c:pt idx="3">
                  <c:v>100</c:v>
                </c:pt>
                <c:pt idx="4">
                  <c:v>100</c:v>
                </c:pt>
                <c:pt idx="5">
                  <c:v>96</c:v>
                </c:pt>
                <c:pt idx="6">
                  <c:v>94</c:v>
                </c:pt>
                <c:pt idx="7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023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DDE2DF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Prose replies, no tool call</c:v>
                </c:pt>
              </c:strCache>
            </c:strRef>
          </c:tx>
          <c:spPr>
            <a:solidFill>
              <a:srgbClr val="C4CCD3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023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4CCD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8781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8781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8781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8781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Lending, disputes, complaints</c:v>
                  </c:pt>
                  <c:pt idx="1">
                    <c:v>Onboarding</c:v>
                  </c:pt>
                  <c:pt idx="2">
                    <c:v>Fraud</c:v>
                  </c:pt>
                  <c:pt idx="3">
                    <c:v>Collections</c:v>
                  </c:pt>
                  <c:pt idx="4">
                    <c:v>Advice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30</c:v>
                </c:pt>
                <c:pt idx="2">
                  <c:v>40</c:v>
                </c:pt>
                <c:pt idx="3">
                  <c:v>58</c:v>
                </c:pt>
                <c:pt idx="4">
                  <c:v>77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023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DDE2DF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stack</c:v>
                </c:pt>
              </c:strCache>
            </c:strRef>
          </c:tx>
          <c:spPr>
            <a:solidFill>
              <a:srgbClr val="C4CCD3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023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Fraud: alert decision</c:v>
                  </c:pt>
                  <c:pt idx="1">
                    <c:v>Disputes: decision matches rule</c:v>
                  </c:pt>
                  <c:pt idx="2">
                    <c:v>Disputes: reimbursed within limit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</c:v>
                </c:pt>
                <c:pt idx="1">
                  <c:v>94</c:v>
                </c:pt>
                <c:pt idx="2">
                  <c:v>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Policy-card stack</c:v>
                </c:pt>
              </c:strCache>
            </c:strRef>
          </c:tx>
          <c:spPr>
            <a:solidFill>
              <a:srgbClr val="A8781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023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Fraud: alert decision</c:v>
                  </c:pt>
                  <c:pt idx="1">
                    <c:v>Disputes: decision matches rule</c:v>
                  </c:pt>
                  <c:pt idx="2">
                    <c:v>Disputes: reimbursed within limit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81</c:v>
                </c:pt>
                <c:pt idx="1">
                  <c:v>98</c:v>
                </c:pt>
                <c:pt idx="2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023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DDE2DF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5A7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8"/>
          <c:y val="0.05"/>
          <c:w val="0.9"/>
          <c:h val="0.7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122B</c:v>
                </c:pt>
              </c:strCache>
            </c:strRef>
          </c:tx>
          <c:spPr>
            <a:solidFill>
              <a:srgbClr val="0E2A4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023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Disputes</c:v>
                  </c:pt>
                  <c:pt idx="1">
                    <c:v>Fraud</c:v>
                  </c:pt>
                  <c:pt idx="2">
                    <c:v>Complaints</c:v>
                  </c:pt>
                  <c:pt idx="3">
                    <c:v>Lending</c:v>
                  </c:pt>
                  <c:pt idx="4">
                    <c:v>Collections</c:v>
                  </c:pt>
                  <c:pt idx="5">
                    <c:v>Onboarding</c:v>
                  </c:pt>
                  <c:pt idx="6">
                    <c:v>Servicing</c:v>
                  </c:pt>
                  <c:pt idx="7">
                    <c:v>Advice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81</c:v>
                </c:pt>
                <c:pt idx="1">
                  <c:v>96</c:v>
                </c:pt>
                <c:pt idx="2">
                  <c:v>99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35B</c:v>
                </c:pt>
              </c:strCache>
            </c:strRef>
          </c:tx>
          <c:spPr>
            <a:solidFill>
              <a:srgbClr val="A8781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023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Disputes</c:v>
                  </c:pt>
                  <c:pt idx="1">
                    <c:v>Fraud</c:v>
                  </c:pt>
                  <c:pt idx="2">
                    <c:v>Complaints</c:v>
                  </c:pt>
                  <c:pt idx="3">
                    <c:v>Lending</c:v>
                  </c:pt>
                  <c:pt idx="4">
                    <c:v>Collections</c:v>
                  </c:pt>
                  <c:pt idx="5">
                    <c:v>Onboarding</c:v>
                  </c:pt>
                  <c:pt idx="6">
                    <c:v>Servicing</c:v>
                  </c:pt>
                  <c:pt idx="7">
                    <c:v>Advice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94</c:v>
                </c:pt>
                <c:pt idx="1">
                  <c:v>94</c:v>
                </c:pt>
                <c:pt idx="2">
                  <c:v>96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023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DDE2DF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5A7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122B</c:v>
                </c:pt>
              </c:strCache>
            </c:strRef>
          </c:tx>
          <c:spPr>
            <a:solidFill>
              <a:srgbClr val="0E2A4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023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Onboarding</c:v>
                  </c:pt>
                  <c:pt idx="1">
                    <c:v>Servicing</c:v>
                  </c:pt>
                  <c:pt idx="2">
                    <c:v>Disputes</c:v>
                  </c:pt>
                  <c:pt idx="3">
                    <c:v>Lending</c:v>
                  </c:pt>
                  <c:pt idx="4">
                    <c:v>Complaints</c:v>
                  </c:pt>
                  <c:pt idx="5">
                    <c:v>Servicing + customer</c:v>
                  </c:pt>
                  <c:pt idx="6">
                    <c:v>Collections</c:v>
                  </c:pt>
                  <c:pt idx="7">
                    <c:v>Fraud</c:v>
                  </c:pt>
                  <c:pt idx="8">
                    <c:v>Advice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</c:v>
                </c:pt>
                <c:pt idx="1">
                  <c:v>0</c:v>
                </c:pt>
                <c:pt idx="2">
                  <c:v>4</c:v>
                </c:pt>
                <c:pt idx="3">
                  <c:v>3</c:v>
                </c:pt>
                <c:pt idx="4">
                  <c:v>0</c:v>
                </c:pt>
                <c:pt idx="5">
                  <c:v>0</c:v>
                </c:pt>
                <c:pt idx="6">
                  <c:v>2</c:v>
                </c:pt>
                <c:pt idx="7">
                  <c:v>12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35B</c:v>
                </c:pt>
              </c:strCache>
            </c:strRef>
          </c:tx>
          <c:spPr>
            <a:solidFill>
              <a:srgbClr val="A8781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023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Onboarding</c:v>
                  </c:pt>
                  <c:pt idx="1">
                    <c:v>Servicing</c:v>
                  </c:pt>
                  <c:pt idx="2">
                    <c:v>Disputes</c:v>
                  </c:pt>
                  <c:pt idx="3">
                    <c:v>Lending</c:v>
                  </c:pt>
                  <c:pt idx="4">
                    <c:v>Complaints</c:v>
                  </c:pt>
                  <c:pt idx="5">
                    <c:v>Servicing + customer</c:v>
                  </c:pt>
                  <c:pt idx="6">
                    <c:v>Collections</c:v>
                  </c:pt>
                  <c:pt idx="7">
                    <c:v>Fraud</c:v>
                  </c:pt>
                  <c:pt idx="8">
                    <c:v>Advice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3</c:v>
                </c:pt>
                <c:pt idx="4">
                  <c:v>4</c:v>
                </c:pt>
                <c:pt idx="5">
                  <c:v>9</c:v>
                </c:pt>
                <c:pt idx="6">
                  <c:v>14</c:v>
                </c:pt>
                <c:pt idx="7">
                  <c:v>22</c:v>
                </c:pt>
                <c:pt idx="8">
                  <c:v>40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023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b"/>
        <c:majorGridlines>
          <c:spPr>
            <a:ln w="6350" cap="flat">
              <a:solidFill>
                <a:srgbClr val="DDE2DF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5A7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The ten live designs re-performed with Qwen3.6-35B in the bot's seat, everything else held constant, every design performed twice, 95 minutes. Companion to the re-record briefing of 8 October.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messages and a decision. The surprise is the second card: the smaller model was more accurate on one desk. The third is the one with governance consequences: a control's evidence did not transfer between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held constant except the cartridge and the Sparks' serving mode. 1,890 cells, 16,133 calls, 95 minutes, every design performed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 The 35B on its own terms first; the comparison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configuration, no stack. Three desks above the assumed 90% and outside their intervals. Decision metrics are over completed items; the lost share is on a later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failure mode. On the desks that need a say action to keep a conversation going, the 35B replies in prose; the stage ceiling eventually ends the cell. One advice cell sent the same greeting twenty times. The chain-of-lookups desks are unaffected.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Disputes: the 35B was not tempted, so the Within-the-limit card has nothing to catch. Fraud: alert decision 94% to 81% with the stack, the only comparison in either suite where a control lowers a measure. Errors spread across all four arms; the stack arm carries the stalls. 27 items.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design performed twice. Five desks at 100% consistency; where the model stalls, pass^2 falls to 89–93%. The 35B's non-determinism is its own, read from its trials.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 Same designs, books, prompts; one model swapped. The comparison table is generated from both suites' committed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Navy is the 122B, gold the 35B. Identical at 100% on five desks; the 35B higher on disputes; within a few points on complaints and fraud, inside each other's intervals.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35B's losses are prose where a tool call was needed; the 122B's were repeated calls and retried refusals. Tokens per case similar where the 35B completes, higher where it stalls. Wall time 95 against 317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generated table (live-compare.mjs). Decision metrics over completed items. pass^2 compared where both suites have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additions. The governance point is the last: a control's evidence is model-specific and must be re-measured when the model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sample of each model; prompts tuned for the 122B; lost cells unscored later; small n; synthetic rules; the register reads neither column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conclusions.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actions. The first is an engine design decision; the second is a read of the fraud stories before anyone acts on a 27-item verdict.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decision: both columns kept and labelled; the engine decision before any further 35B run; fraud treated as a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148840"/>
            <a:ext cx="11091672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840480"/>
            <a:ext cx="11091672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pic>
        <p:nvPicPr>
          <p:cNvPr id="5" name="Image 0" descr="/home/claude/report/brand/axiom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45936"/>
            <a:ext cx="237744" cy="23774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841248" y="630936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Axiom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335024" y="63093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Verity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2377440" y="630936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35B SUITE  ·  8 OCT 2026  ·  SYNTHETIC BANK  ·  ONE SAMPLE OF EACH MODEL, TWO PERFORMANCES  ·  INTERNAL</a:t>
            </a:r>
            <a:endParaRPr lang="en-US" sz="7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pic>
        <p:nvPicPr>
          <p:cNvPr id="3" name="Image 0" descr="/home/claude/report/brand/axiom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45936"/>
            <a:ext cx="237744" cy="237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41248" y="630936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Axiom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1335024" y="63093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Verity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2377440" y="630936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35B SUITE  ·  8 OCT 2026  ·  SYNTHETIC BANK  ·  ONE SAMPLE OF EACH MODEL, TWO PERFORMANCES  ·  INTERNAL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651760"/>
            <a:ext cx="11091672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94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pic>
        <p:nvPicPr>
          <p:cNvPr id="5" name="Image 0" descr="/home/claude/report/brand/axiom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45936"/>
            <a:ext cx="237744" cy="23774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841248" y="630936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Axiom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335024" y="63093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Verity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2377440" y="630936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35B SUITE  ·  8 OCT 2026  ·  SYNTHETIC BANK  ·  ONE SAMPLE OF EACH MODEL, TWO PERFORMANCES  ·  INTERNAL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148840"/>
            <a:ext cx="110916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The same bank, a model a fifth of the size</a:t>
            </a: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84048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Qwen3.6-35B on the live tier, and how it compares with the 122B</a:t>
            </a:r>
            <a:endParaRPr lang="en-US" sz="1800" dirty="0"/>
          </a:p>
        </p:txBody>
      </p:sp>
      <p:pic>
        <p:nvPicPr>
          <p:cNvPr id="5" name="Image 0" descr="/home/claude/report/brand/axiom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85800"/>
            <a:ext cx="640080" cy="6400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325880" y="685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Axiom </a:t>
            </a:r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Verity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7068312" y="685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 GOVERNANCE  ·  COMPLIANCE  ·  SECURITY ADVISORY</a:t>
            </a:r>
            <a:endParaRPr lang="en-US" sz="850" dirty="0"/>
          </a:p>
          <a:p>
            <a:pPr algn="r" indent="0" marL="0">
              <a:buNone/>
            </a:pPr>
            <a:r>
              <a:rPr lang="en-US" sz="85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AXIOM-VERITY.COM</a:t>
            </a:r>
            <a:endParaRPr lang="en-US" sz="85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1783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EXECUTIVE BRIEFING  ·  TECHNOLOGY RISK COMMITTEE  ·  THE 35B SUITE  ·  COMPANION TO THE RE-RECORD BRIEFING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4864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Prepared by Andrew Moore, Axiom Verity  ·  Recorded 8 October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Summary on a page</a:t>
            </a:r>
            <a:endParaRPr lang="en-US" sz="2800" dirty="0"/>
          </a:p>
        </p:txBody>
      </p:sp>
      <p:sp>
        <p:nvSpPr>
          <p:cNvPr id="4" name="card 0"/>
          <p:cNvSpPr/>
          <p:nvPr/>
        </p:nvSpPr>
        <p:spPr>
          <a:xfrm>
            <a:off x="548640" y="1463040"/>
            <a:ext cx="3514344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step 1"/>
          <p:cNvSpPr/>
          <p:nvPr/>
        </p:nvSpPr>
        <p:spPr>
          <a:xfrm>
            <a:off x="777240" y="16916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94560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Rule visibility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generalises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926080"/>
            <a:ext cx="30571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With each desk's rule on its case file, the 35B reads 100% on onboarding, lending and collections, exactly as the 122B, in a third of the wall time. A model a fifth of the size uses a rule it can see.</a:t>
            </a:r>
            <a:endParaRPr lang="en-US" sz="1250" dirty="0"/>
          </a:p>
        </p:txBody>
      </p:sp>
      <p:sp>
        <p:nvSpPr>
          <p:cNvPr id="9" name="card 1"/>
          <p:cNvSpPr/>
          <p:nvPr/>
        </p:nvSpPr>
        <p:spPr>
          <a:xfrm>
            <a:off x="4337304" y="1463040"/>
            <a:ext cx="3514344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step 2"/>
          <p:cNvSpPr/>
          <p:nvPr/>
        </p:nvSpPr>
        <p:spPr>
          <a:xfrm>
            <a:off x="4565904" y="1691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5904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65904" y="2194560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Size did not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decide accuracy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565904" y="2926080"/>
            <a:ext cx="30571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On disputes the 35B agrees with the rule in 94% of items against the 122B's 81%. One design, 40 items, overlapping intervals: not a ranking, but a reason not to assume the large model is the safe baseline.</a:t>
            </a:r>
            <a:endParaRPr lang="en-US" sz="1250" dirty="0"/>
          </a:p>
        </p:txBody>
      </p:sp>
      <p:sp>
        <p:nvSpPr>
          <p:cNvPr id="14" name="card 2"/>
          <p:cNvSpPr/>
          <p:nvPr/>
        </p:nvSpPr>
        <p:spPr>
          <a:xfrm>
            <a:off x="8125968" y="1463040"/>
            <a:ext cx="3514344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8354568" y="1691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54568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354568" y="2194560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Controls do not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transfer between models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354568" y="2926080"/>
            <a:ext cx="30571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The 35B loses cells by answering in prose where a tool call is needed (advice 40%, fraud 22%). On fraud the SAR card, inert on the 122B, lowers the 35B's alert decision from 94% to 81%.</a:t>
            </a:r>
            <a:endParaRPr lang="en-US" sz="1250" dirty="0"/>
          </a:p>
        </p:txBody>
      </p:sp>
      <p:sp>
        <p:nvSpPr>
          <p:cNvPr id="19" name="callout"/>
          <p:cNvSpPr/>
          <p:nvPr/>
        </p:nvSpPr>
        <p:spPr>
          <a:xfrm>
            <a:off x="548640" y="4937760"/>
            <a:ext cx="11091672" cy="10972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0" name="callout dot"/>
          <p:cNvSpPr/>
          <p:nvPr/>
        </p:nvSpPr>
        <p:spPr>
          <a:xfrm>
            <a:off x="713232" y="5120640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51560" y="5029200"/>
            <a:ext cx="10451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Decision requested: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keep both live columns as evidence, each labelled with its model; take the engine decision on prose replies before any further 35B run; treat the fraud result as a question to investigate, not a finding to act 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was run: the same suite, one thing changed</a:t>
            </a:r>
            <a:endParaRPr lang="en-US" sz="2800" dirty="0"/>
          </a:p>
        </p:txBody>
      </p:sp>
      <p:sp>
        <p:nvSpPr>
          <p:cNvPr id="4" name="stat card 1,890"/>
          <p:cNvSpPr/>
          <p:nvPr/>
        </p:nvSpPr>
        <p:spPr>
          <a:xfrm>
            <a:off x="548640" y="141732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527048"/>
            <a:ext cx="22402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1,890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045970"/>
            <a:ext cx="22402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cells across 10 designs, every design performed twice</a:t>
            </a:r>
            <a:endParaRPr lang="en-US" sz="1100" dirty="0"/>
          </a:p>
        </p:txBody>
      </p:sp>
      <p:sp>
        <p:nvSpPr>
          <p:cNvPr id="7" name="stat card 16,133"/>
          <p:cNvSpPr/>
          <p:nvPr/>
        </p:nvSpPr>
        <p:spPr>
          <a:xfrm>
            <a:off x="3383280" y="141732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66160" y="1527048"/>
            <a:ext cx="22402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16,133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2045970"/>
            <a:ext cx="22402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recorded calls, every one kept and verified against the live store</a:t>
            </a:r>
            <a:endParaRPr lang="en-US" sz="1100" dirty="0"/>
          </a:p>
        </p:txBody>
      </p:sp>
      <p:sp>
        <p:nvSpPr>
          <p:cNvPr id="10" name="stat card 95 min"/>
          <p:cNvSpPr/>
          <p:nvPr/>
        </p:nvSpPr>
        <p:spPr>
          <a:xfrm>
            <a:off x="6217920" y="141732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1527048"/>
            <a:ext cx="22402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95 min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2045970"/>
            <a:ext cx="22402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of wall time; the 122B suite took 317 for 1,792 cells</a:t>
            </a:r>
            <a:endParaRPr lang="en-US" sz="1100" dirty="0"/>
          </a:p>
        </p:txBody>
      </p:sp>
      <p:sp>
        <p:nvSpPr>
          <p:cNvPr id="13" name="stat card 3B"/>
          <p:cNvSpPr/>
          <p:nvPr/>
        </p:nvSpPr>
        <p:spPr>
          <a:xfrm>
            <a:off x="9052560" y="1417320"/>
            <a:ext cx="2587752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235440" y="1527048"/>
            <a:ext cx="222199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3B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9235440" y="2045970"/>
            <a:ext cx="22219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active parameters (Qwen3.6-35B-A3B, mixture of experts) against the 122B's 10B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8892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895344"/>
                <a:gridCol w="390448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122B SUITE (7–8 OCT)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35B SUITE (8 OCT)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Model / cartridge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Qwen3.5-122B-A10B-NVFP4 / giant-qwen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Qwen3.6-35B-A3B-NVFP4 / quick-qwen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Spark pattern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reasoning-pair (puzzle mode)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fast-pair (chat mode, 262k context)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Designs, books, evaluators, factors, prompts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the ten live designs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the same ten, from the same base designs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Reply limit, temperature, timeout, concurrency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2,048 tokens; 0; 180 s; 16 cells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the same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Performed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twice for eight designs, once for two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twice for all ten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Preceded by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a 238-cell preflight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a 46-item smoke, which predicted the stalls to within a few points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548640" y="55778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The prompts were tuned against the 122B (stage goals and refusals reworded where it stalled). A stall the 35B shows that the 122B did not is a finding about the prompts' fit to a smaller model as much as about the model.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65176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What the 35B did</a:t>
            </a: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94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Agreement with the rule, the controls, the attack scenarios, where it fails, and how repeatable it is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Agreement with the rule: 94–100% on every desk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75895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assumed 90% reference"/>
          <p:cNvSpPr/>
          <p:nvPr/>
        </p:nvSpPr>
        <p:spPr>
          <a:xfrm>
            <a:off x="1155802" y="2248593"/>
            <a:ext cx="6830568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dash"/>
          </a:ln>
        </p:spPr>
      </p:sp>
      <p:sp>
        <p:nvSpPr>
          <p:cNvPr id="6" name="Text 2"/>
          <p:cNvSpPr txBox="1"/>
          <p:nvPr/>
        </p:nvSpPr>
        <p:spPr>
          <a:xfrm>
            <a:off x="8412480" y="1417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Against the assumed 90% (dashed line)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8412480" y="2011680"/>
            <a:ext cx="3200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Lending 100% (93–100%, n 51), collections 100% (90–100%, n 36) and complaints 96% (93–99%, n 55) are above the assumption and outside their intervals.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Disputes 94% (86–99%, n 40), fraud 94% (87–100%, n 27), servicing, onboarding and advice (100%) are inside their wide intervals.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Every desk's rule is on its case file, as in the 122B re-record; the 35B uses it.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Decision metrics are scored over the items whose cells completed. Where the 35B loses cells, it is on later stages, not at the decision.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Where the 35B fails: it does not call the tool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58521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6177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Smoke, 46 items: share of replies that were text with no tool call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6766560" y="1417320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In the full run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6766560" y="1828800"/>
            <a:ext cx="487375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Bot cells lost (an error or a stack stop): advice 40%, fraud 22%, collections 14%, the servicing seat 9%, complaints 4%; lending 3%, disputes 1%, servicing 1%, onboarding 0%.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The failure repeats within a cell: in one advice cell the bot sent the same greeting and question twenty times as text until the stage ceiling ended it.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The desks that need a say action to keep a conversation going are where it fails; the desks that are a chain of lookups and decisions are where it does not.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The stalls cluster on exactly the stages the 122B was fixed to avoid by rewording. The suite was left unchanged so the comparison stayed like for like.</a:t>
            </a:r>
            <a:endParaRPr lang="en-US" sz="1150" dirty="0"/>
          </a:p>
        </p:txBody>
      </p:sp>
      <p:sp>
        <p:nvSpPr>
          <p:cNvPr id="8" name="callout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callout dot"/>
          <p:cNvSpPr/>
          <p:nvPr/>
        </p:nvSpPr>
        <p:spPr>
          <a:xfrm>
            <a:off x="713232" y="5303520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051560" y="5212080"/>
            <a:ext cx="10451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 finding about tool-call discipline on these prompts, not about judgement.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Where the 35B does reach the decision, it agrees with the rule as often as the 122B. The fix is in the engine or the wording, not the model.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Controls: one inert, one that moved the wrong way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58521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7091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35B, the three measures a stack is scored on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6766560" y="1417320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Reading the two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6766560" y="1828800"/>
            <a:ext cx="487375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Disputes: 94% to 98% and 99% to 100%, both inside their intervals: inconclusive. The 35B was not tempted by the planted notes, so the card that took the 122B from 94% to 100% has almost nothing to catch here.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Fraud: 94% to 81%, the register's verdict not-supported. Errors are spread across all four arms (10, 11, 11 and 15 of 54 cells), so it is not simply the stack's extra losses; but the stack arm also carries the stalls (a refused report re-filed, an alert re-opened). That is the reading the data allows, no more.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Attack scenarios: unaided, the 35B resisted every attack exactly as the 122B did (100% in every scenario). The components that act do so on termination: no-progress ends 17% of runs early, marking 6%, peer-auth 11%.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Reliability: repeatable where it completes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097280"/>
                <a:gridCol w="182880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DESIGN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PASS@1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PASS^2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CONSISTENCY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122B PASS^2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Lending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Servicing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Disputes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94%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90%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93%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80%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Collections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Onboarding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Complaints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96%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93%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93%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98%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Fraud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94%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89%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89% (67% in one arm)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96%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Advice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33A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8920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Over items, never trials: repeating a case does not inflate n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7863840" y="1417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What it says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7863840" y="1828800"/>
            <a:ext cx="3749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On five desks the two performances agree on every item: as repeatable as the 122B.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Where the model stalls, they do not: consistency 93% on disputes and complaints, 89% on fraud (67% in one arm). pass^2, the figure a control is credited on, falls to 90%, 93% and 89% there against the 122B's 80%, 98% and 96%.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The servicing seat (a live 35B customer): needs met 94% (84–100%, n 16) against 100% with the scripted visitor; 9% of cells lost. No detectable difference at this n; the 122B seat lost none.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65176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The 35B beside the 122B</a:t>
            </a: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94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Same ten designs, same books, same prompts, temperature 0; one model in the bot's seat, then the other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Agreement with the rule, design by design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75895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assumed 90% reference"/>
          <p:cNvSpPr/>
          <p:nvPr/>
        </p:nvSpPr>
        <p:spPr>
          <a:xfrm>
            <a:off x="1155802" y="2248593"/>
            <a:ext cx="6830568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dash"/>
          </a:ln>
        </p:spPr>
      </p:sp>
      <p:sp>
        <p:nvSpPr>
          <p:cNvPr id="6" name="Text 2"/>
          <p:cNvSpPr txBox="1"/>
          <p:nvPr/>
        </p:nvSpPr>
        <p:spPr>
          <a:xfrm>
            <a:off x="841248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With the intervals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8412480" y="1828800"/>
            <a:ext cx="3200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Disputes: 122B 81% (69–93%), 35B 94% (86–99%); pass^2 80% against 90%. The model that misclassified one dispute in five is not the smaller one.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Fraud: 96% (82–99%) against 94% (87–100%). Complaints: 99% (97–100%) against 96% (93–99%). Inside each other's intervals.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Lending, collections, onboarding, servicing, advice: 100% on both, pass^2 included.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The 122B's headline, that seeing the rule was the whole difference, is a property of the desk design, not of the large model.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Cells lost, cost and time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58521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6235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Bot cells lost (an error or a stack stop)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371600"/>
          <a:ext cx="487375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76479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DESIGN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WALL TIME 122B / 35B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TOKENS A CASE 122B / 35B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Advice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67 / 32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42,147 / 63,625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Lending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66 / 15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12,391 / 11,866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Fraud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65 / 12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33,390 / 26,339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Attack scenarios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37 / 11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27,025 / 26,783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Collections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26 / 9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16,356 / 27,324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Onboarding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19 / 3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13,540 / 8,126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Disputes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16 / 5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8,082 / 9,065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Complaints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10 / 3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3,880 / 3,872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Servicing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6 / 3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7,824 / 9,543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Total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317 / 95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6766560" y="5120640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35B suite performed every design twice; the 122B eight of ten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The comparison table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377440"/>
                <a:gridCol w="1737360"/>
                <a:gridCol w="1737360"/>
                <a:gridCol w="1554480"/>
                <a:gridCol w="158191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DESIGN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MEASURED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122B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35B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PASS^2 122B / 35B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CELLS LOST 122B / 35B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Onboarding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decision matches the rule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100% (90–100%)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100% (90–100%)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100% / 100%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2% / 0%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Disputes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decision matches the rule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81% (69–93%)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94% (86–99%)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80% / 90%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4% / 1%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Complaints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root cause named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99% (97–100%)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96% (93–99%)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98% / 93%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0% / 4%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Servicing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needs met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100% (90–100%)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100% (90–100%)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– / 100%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0% / 1%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Servicing, live customer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needs met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100% (81–100%)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94% (84–100%)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– / –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0% / 9%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Attack scenarios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each attack resisted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100%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100%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– / –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– / –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Collections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plan matches the rule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100% (91–100%)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100% (90–100%)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100% / 100%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2% / 14%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Lending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agreement with the rule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100% (93–100%)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100% (93–100%)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100% / 100%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3% / 3%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Advice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recommendation suits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100% (89–100%)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100% (89–100%)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100% / 100%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0% / 40%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Fraud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alert decision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96% (82–99%)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94% (87–100%)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96% / 89%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12% / 22%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the comparison adds to the record</a:t>
            </a:r>
            <a:endParaRPr lang="en-US" sz="2800" dirty="0"/>
          </a:p>
        </p:txBody>
      </p:sp>
      <p:sp>
        <p:nvSpPr>
          <p:cNvPr id="4" name="card 0"/>
          <p:cNvSpPr/>
          <p:nvPr/>
        </p:nvSpPr>
        <p:spPr>
          <a:xfrm>
            <a:off x="548640" y="1463040"/>
            <a:ext cx="5408676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dot 0"/>
          <p:cNvSpPr/>
          <p:nvPr/>
        </p:nvSpPr>
        <p:spPr>
          <a:xfrm>
            <a:off x="777240" y="1737360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88720" y="1664208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Rule visibility generalises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2148840"/>
            <a:ext cx="45399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It is a property of the desk design, not of the large model. Three desks identical at 100% on a model a fifth of the size.</a:t>
            </a:r>
            <a:endParaRPr lang="en-US" sz="1200" dirty="0"/>
          </a:p>
        </p:txBody>
      </p:sp>
      <p:sp>
        <p:nvSpPr>
          <p:cNvPr id="8" name="card 1"/>
          <p:cNvSpPr/>
          <p:nvPr/>
        </p:nvSpPr>
        <p:spPr>
          <a:xfrm>
            <a:off x="6231636" y="1463040"/>
            <a:ext cx="5408676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dot 1"/>
          <p:cNvSpPr/>
          <p:nvPr/>
        </p:nvSpPr>
        <p:spPr>
          <a:xfrm>
            <a:off x="6460236" y="1737360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71716" y="1664208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prompts are tuned to one model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871716" y="2148840"/>
            <a:ext cx="45399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35B's stalls cluster on the desks and stages where the bot must speak through a tool, exactly the dead ends the 122B was fixed to avoid by rewording. A smaller model needs its own wording or an engine tolerance for a prose reply.</a:t>
            </a:r>
            <a:endParaRPr lang="en-US" sz="1200" dirty="0"/>
          </a:p>
        </p:txBody>
      </p:sp>
      <p:sp>
        <p:nvSpPr>
          <p:cNvPr id="12" name="card 2"/>
          <p:cNvSpPr/>
          <p:nvPr/>
        </p:nvSpPr>
        <p:spPr>
          <a:xfrm>
            <a:off x="548640" y="3566160"/>
            <a:ext cx="5408676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dot 2"/>
          <p:cNvSpPr/>
          <p:nvPr/>
        </p:nvSpPr>
        <p:spPr>
          <a:xfrm>
            <a:off x="777240" y="3840480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88720" y="3767328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larger model is not uniformly more accurate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4251960"/>
            <a:ext cx="45399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Disputes is the counter-example. It should temper any instinct to treat the larger model as the conservative choice without measuring.</a:t>
            </a:r>
            <a:endParaRPr lang="en-US" sz="1200" dirty="0"/>
          </a:p>
        </p:txBody>
      </p:sp>
      <p:sp>
        <p:nvSpPr>
          <p:cNvPr id="16" name="card 3"/>
          <p:cNvSpPr/>
          <p:nvPr/>
        </p:nvSpPr>
        <p:spPr>
          <a:xfrm>
            <a:off x="6231636" y="3566160"/>
            <a:ext cx="5408676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7" name="dot 3"/>
          <p:cNvSpPr/>
          <p:nvPr/>
        </p:nvSpPr>
        <p:spPr>
          <a:xfrm>
            <a:off x="6460236" y="3840480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71716" y="3767328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Controls do not transfer between models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871716" y="4251960"/>
            <a:ext cx="45399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same SAR card that left the 122B's fraud measure untouched lowered the 35B's from 94% to 81%. Model choice is part of a control's operating environment; its evidence needs re-measuring when the model changes.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7150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The 35B is also the weaker model the re-record briefing asked for: it errs on disputes, complaints and fraud, which is where a control's effect can be measured. The 122B sits at a ceiling there.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Limits</a:t>
            </a:r>
            <a:endParaRPr lang="en-US" sz="2800" dirty="0"/>
          </a:p>
        </p:txBody>
      </p:sp>
      <p:sp>
        <p:nvSpPr>
          <p:cNvPr id="4" name="limit 0"/>
          <p:cNvSpPr/>
          <p:nvPr/>
        </p:nvSpPr>
        <p:spPr>
          <a:xfrm>
            <a:off x="548640" y="1417320"/>
            <a:ext cx="351434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step 1"/>
          <p:cNvSpPr/>
          <p:nvPr/>
        </p:nvSpPr>
        <p:spPr>
          <a:xfrm>
            <a:off x="777240" y="164592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618488"/>
            <a:ext cx="2599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One sample of each model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194560"/>
            <a:ext cx="3057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Temperature 0, performed twice. The 35B's non-determinism is read from its trials (consistency 89–100%), not assumed from the 122B's.</a:t>
            </a:r>
            <a:endParaRPr lang="en-US" sz="1150" dirty="0"/>
          </a:p>
        </p:txBody>
      </p:sp>
      <p:sp>
        <p:nvSpPr>
          <p:cNvPr id="9" name="limit 1"/>
          <p:cNvSpPr/>
          <p:nvPr/>
        </p:nvSpPr>
        <p:spPr>
          <a:xfrm>
            <a:off x="4337304" y="1417320"/>
            <a:ext cx="351434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step 2"/>
          <p:cNvSpPr/>
          <p:nvPr/>
        </p:nvSpPr>
        <p:spPr>
          <a:xfrm>
            <a:off x="4565904" y="164592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5904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068824" y="1618488"/>
            <a:ext cx="2599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Prompts tuned for the 122B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565904" y="2194560"/>
            <a:ext cx="3057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The suite measures the 35B's fit to those prompts as much as its capability. A 35B-tuned run is a separate experiment.</a:t>
            </a:r>
            <a:endParaRPr lang="en-US" sz="1150" dirty="0"/>
          </a:p>
        </p:txBody>
      </p:sp>
      <p:sp>
        <p:nvSpPr>
          <p:cNvPr id="14" name="limit 2"/>
          <p:cNvSpPr/>
          <p:nvPr/>
        </p:nvSpPr>
        <p:spPr>
          <a:xfrm>
            <a:off x="8125968" y="1417320"/>
            <a:ext cx="351434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8354568" y="164592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54568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857488" y="1618488"/>
            <a:ext cx="2599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Lost cells are unscored later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354568" y="2194560"/>
            <a:ext cx="3057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A design with many lost cells (advice, collections, fraud) is scored on fewer completed items than its n; the lost share is reported beside every figure.</a:t>
            </a:r>
            <a:endParaRPr lang="en-US" sz="1150" dirty="0"/>
          </a:p>
        </p:txBody>
      </p:sp>
      <p:sp>
        <p:nvSpPr>
          <p:cNvPr id="19" name="limit 3"/>
          <p:cNvSpPr/>
          <p:nvPr/>
        </p:nvSpPr>
        <p:spPr>
          <a:xfrm>
            <a:off x="548640" y="3794760"/>
            <a:ext cx="351434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0" name="step 4"/>
          <p:cNvSpPr/>
          <p:nvPr/>
        </p:nvSpPr>
        <p:spPr>
          <a:xfrm>
            <a:off x="777240" y="402336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3995928"/>
            <a:ext cx="2599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Small n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4572000"/>
            <a:ext cx="3057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Fraud 27 items, the servicing seat 16. Most designs are at a ceiling: untestable or inconclusive. The fraud not-supported verdict rests on 27 items.</a:t>
            </a:r>
            <a:endParaRPr lang="en-US" sz="1150" dirty="0"/>
          </a:p>
        </p:txBody>
      </p:sp>
      <p:sp>
        <p:nvSpPr>
          <p:cNvPr id="24" name="limit 4"/>
          <p:cNvSpPr/>
          <p:nvPr/>
        </p:nvSpPr>
        <p:spPr>
          <a:xfrm>
            <a:off x="4337304" y="3794760"/>
            <a:ext cx="351434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5" name="step 5"/>
          <p:cNvSpPr/>
          <p:nvPr/>
        </p:nvSpPr>
        <p:spPr>
          <a:xfrm>
            <a:off x="4565904" y="402336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65904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068824" y="3995928"/>
            <a:ext cx="2599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Synthetic bank and rules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4565904" y="4572000"/>
            <a:ext cx="3057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The rules, incidence and temptation shares are this repository's assumptions awaiting review.</a:t>
            </a:r>
            <a:endParaRPr lang="en-US" sz="1150" dirty="0"/>
          </a:p>
        </p:txBody>
      </p:sp>
      <p:sp>
        <p:nvSpPr>
          <p:cNvPr id="29" name="limit 5"/>
          <p:cNvSpPr/>
          <p:nvPr/>
        </p:nvSpPr>
        <p:spPr>
          <a:xfrm>
            <a:off x="8125968" y="3794760"/>
            <a:ext cx="351434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0" name="step 6"/>
          <p:cNvSpPr/>
          <p:nvPr/>
        </p:nvSpPr>
        <p:spPr>
          <a:xfrm>
            <a:off x="8354568" y="402336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354568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8857488" y="3995928"/>
            <a:ext cx="2599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Register reads neither column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8354568" y="4572000"/>
            <a:ext cx="3057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The Control Effectiveness Register and Control Inventory still read the scripted and fallible columns.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Conclusions</a:t>
            </a:r>
            <a:endParaRPr lang="en-US" sz="2800" dirty="0"/>
          </a:p>
        </p:txBody>
      </p:sp>
      <p:sp>
        <p:nvSpPr>
          <p:cNvPr id="4" name="c dot 0"/>
          <p:cNvSpPr/>
          <p:nvPr/>
        </p:nvSpPr>
        <p:spPr>
          <a:xfrm>
            <a:off x="548640" y="1444752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05840" y="13716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model a fifth of the size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uses a rule it can see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303520" y="1371600"/>
            <a:ext cx="6336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 the desks that are a chain of lookups and decisions, the 35B matches the 122B at 100%, in a third of the wall time.</a:t>
            </a:r>
            <a:endParaRPr lang="en-US" sz="1200" dirty="0"/>
          </a:p>
        </p:txBody>
      </p:sp>
      <p:sp>
        <p:nvSpPr>
          <p:cNvPr id="7" name="c dot 1"/>
          <p:cNvSpPr/>
          <p:nvPr/>
        </p:nvSpPr>
        <p:spPr>
          <a:xfrm>
            <a:off x="548640" y="2359152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05840" y="22860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Size did not decide accuracy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303520" y="2286000"/>
            <a:ext cx="6336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 disputes the smaller model was the more accurate; on everything else the two are within each other's intervals.</a:t>
            </a:r>
            <a:endParaRPr lang="en-US" sz="1200" dirty="0"/>
          </a:p>
        </p:txBody>
      </p:sp>
      <p:sp>
        <p:nvSpPr>
          <p:cNvPr id="10" name="c dot 2"/>
          <p:cNvSpPr/>
          <p:nvPr/>
        </p:nvSpPr>
        <p:spPr>
          <a:xfrm>
            <a:off x="548640" y="3273552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05840" y="32004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35B's weakness is tool-call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discipline on another model's prompts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200400"/>
            <a:ext cx="6336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It answers in prose where the desk needs a tool call and loses up to 40% of a design's cells to it. Fix the prompts or the engine, not the model, first.</a:t>
            </a:r>
            <a:endParaRPr lang="en-US" sz="1200" dirty="0"/>
          </a:p>
        </p:txBody>
      </p:sp>
      <p:sp>
        <p:nvSpPr>
          <p:cNvPr id="13" name="c dot 3"/>
          <p:cNvSpPr/>
          <p:nvPr/>
        </p:nvSpPr>
        <p:spPr>
          <a:xfrm>
            <a:off x="548640" y="4187952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05840" y="41148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Controls do not transfer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without re-measurement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303520" y="4114800"/>
            <a:ext cx="6336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fraud SAR card was inert on the 122B and lowered the 35B's alert decision from 94% to 81%.</a:t>
            </a:r>
            <a:endParaRPr lang="en-US" sz="1200" dirty="0"/>
          </a:p>
        </p:txBody>
      </p:sp>
      <p:sp>
        <p:nvSpPr>
          <p:cNvPr id="16" name="c dot 4"/>
          <p:cNvSpPr/>
          <p:nvPr/>
        </p:nvSpPr>
        <p:spPr>
          <a:xfrm>
            <a:off x="548640" y="5102352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05840" y="50292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programme now has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model that errs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0" y="5029200"/>
            <a:ext cx="6336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 disputes, complaints and fraud the 35B gives the controls something to catch; the 122B sits at a ceiling there.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Recommended next steps</a:t>
            </a:r>
            <a:endParaRPr lang="en-US" sz="2800" dirty="0"/>
          </a:p>
        </p:txBody>
      </p:sp>
      <p:sp>
        <p:nvSpPr>
          <p:cNvPr id="4" name="horizon 0"/>
          <p:cNvSpPr/>
          <p:nvPr/>
        </p:nvSpPr>
        <p:spPr>
          <a:xfrm>
            <a:off x="548640" y="1371600"/>
            <a:ext cx="3514344" cy="4754880"/>
          </a:xfrm>
          <a:prstGeom prst="roundRect">
            <a:avLst>
              <a:gd name="adj" fmla="val 208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h dot 0"/>
          <p:cNvSpPr/>
          <p:nvPr/>
        </p:nvSpPr>
        <p:spPr>
          <a:xfrm>
            <a:off x="777240" y="1572768"/>
            <a:ext cx="237744" cy="23774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43000" y="1481328"/>
            <a:ext cx="2691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Immediate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57400"/>
            <a:ext cx="305714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chemeClr val="tx1"/>
                </a:solidFill>
              </a:rPr>
              <a:t>Decide the engine's response to a prose reply where a tool call is expected: tolerate and score it, or give each model its own wording of the stage goals.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250" dirty="0">
                <a:solidFill>
                  <a:schemeClr val="tx1"/>
                </a:solidFill>
              </a:rPr>
              <a:t>Read the fraud stories for the 35B's stack arm before any conclusion is drawn about the SAR card.</a:t>
            </a:r>
            <a:endParaRPr lang="en-US" sz="1250" dirty="0"/>
          </a:p>
        </p:txBody>
      </p:sp>
      <p:sp>
        <p:nvSpPr>
          <p:cNvPr id="8" name="horizon 1"/>
          <p:cNvSpPr/>
          <p:nvPr/>
        </p:nvSpPr>
        <p:spPr>
          <a:xfrm>
            <a:off x="4337304" y="1371600"/>
            <a:ext cx="3514344" cy="4754880"/>
          </a:xfrm>
          <a:prstGeom prst="roundRect">
            <a:avLst>
              <a:gd name="adj" fmla="val 208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h dot 1"/>
          <p:cNvSpPr/>
          <p:nvPr/>
        </p:nvSpPr>
        <p:spPr>
          <a:xfrm>
            <a:off x="4565904" y="157276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931664" y="1481328"/>
            <a:ext cx="2691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Short term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565904" y="2057400"/>
            <a:ext cx="305714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250" dirty="0">
                <a:solidFill>
                  <a:schemeClr val="tx1"/>
                </a:solidFill>
              </a:rPr>
              <a:t>Use the 35B as the weaker model on disputes, complaints and fraud, where it errs, so the controls there have an effect to measure.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250" dirty="0">
                <a:solidFill>
                  <a:schemeClr val="tx1"/>
                </a:solidFill>
              </a:rPr>
              <a:t>Add the 35B as a second live column in the Control Effectiveness Register, with pass^k per model.</a:t>
            </a:r>
            <a:endParaRPr lang="en-US" sz="1250" dirty="0"/>
          </a:p>
        </p:txBody>
      </p:sp>
      <p:sp>
        <p:nvSpPr>
          <p:cNvPr id="12" name="horizon 2"/>
          <p:cNvSpPr/>
          <p:nvPr/>
        </p:nvSpPr>
        <p:spPr>
          <a:xfrm>
            <a:off x="8125968" y="1371600"/>
            <a:ext cx="3514344" cy="4754880"/>
          </a:xfrm>
          <a:prstGeom prst="roundRect">
            <a:avLst>
              <a:gd name="adj" fmla="val 208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h dot 2"/>
          <p:cNvSpPr/>
          <p:nvPr/>
        </p:nvSpPr>
        <p:spPr>
          <a:xfrm>
            <a:off x="8354568" y="157276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720328" y="1481328"/>
            <a:ext cx="2691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Medium term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8354568" y="2057400"/>
            <a:ext cx="305714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250" dirty="0">
                <a:solidFill>
                  <a:schemeClr val="tx1"/>
                </a:solidFill>
              </a:rPr>
              <a:t>Run a 35B-tuned suite as a separate experiment, rewording the stage goals where it stalled, to separate capability from prompt fit.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 startAt="6"/>
            </a:pPr>
            <a:r>
              <a:rPr lang="en-US" sz="1250" dirty="0">
                <a:solidFill>
                  <a:schemeClr val="tx1"/>
                </a:solidFill>
              </a:rPr>
              <a:t>Harder books for the desks at a ceiling on both models: onboarding, lending, collections, advice.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148840"/>
            <a:ext cx="110916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Decision requested of the committee</a:t>
            </a: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84048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The committee is asked to confirm three things.</a:t>
            </a:r>
            <a:endParaRPr lang="en-US" sz="1800" dirty="0"/>
          </a:p>
        </p:txBody>
      </p:sp>
      <p:sp>
        <p:nvSpPr>
          <p:cNvPr id="5" name="decision panel"/>
          <p:cNvSpPr/>
          <p:nvPr/>
        </p:nvSpPr>
        <p:spPr>
          <a:xfrm>
            <a:off x="548640" y="4343400"/>
            <a:ext cx="11091672" cy="1371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4434840"/>
            <a:ext cx="10451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1.  Keep both live columns as evidence, each labelled with the model it was measured on.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2.  Take the engine decision on prose replies before any further 35B run.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3.  Treat the fraud result as a question to investigate, not a finding to act on, until the stack-arm stories have been read.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8064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Evidence: docs/evidence/live-35b/FINDINGS.md and COMPARISON.md, with the recordings beside them; the 122B suite under docs/evidence/live/.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iom Verity">
  <a:themeElements>
    <a:clrScheme name="Axiom Verity">
      <a:dk1>
        <a:srgbClr val="10233A"/>
      </a:dk1>
      <a:lt1>
        <a:srgbClr val="F7F7F5"/>
      </a:lt1>
      <a:dk2>
        <a:srgbClr val="4A5A72"/>
      </a:dk2>
      <a:lt2>
        <a:srgbClr val="FFFFFF"/>
      </a:lt2>
      <a:accent1>
        <a:srgbClr val="0E2A4A"/>
      </a:accent1>
      <a:accent2>
        <a:srgbClr val="A8781F"/>
      </a:accent2>
      <a:accent3>
        <a:srgbClr val="7A5A1A"/>
      </a:accent3>
      <a:accent4>
        <a:srgbClr val="4A5A72"/>
      </a:accent4>
      <a:accent5>
        <a:srgbClr val="C4CCD3"/>
      </a:accent5>
      <a:accent6>
        <a:srgbClr val="EEF1EE"/>
      </a:accent6>
      <a:hlink>
        <a:srgbClr val="7A5A1A"/>
      </a:hlink>
      <a:folHlink>
        <a:srgbClr val="4A5A72"/>
      </a:folHlink>
    </a:clrScheme>
    <a:fontScheme name="Axiom Verity">
      <a:majorFont>
        <a:latin typeface="Newsread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live tier on a smaller model</dc:title>
  <dc:subject>Technology Risk Committee</dc:subject>
  <dc:creator>Andrew Moore, Axiom Verity</dc:creator>
  <cp:lastModifiedBy>Andrew Moore, Axiom Verity</cp:lastModifiedBy>
  <cp:revision>1</cp:revision>
  <dcterms:created xsi:type="dcterms:W3CDTF">2026-10-08T12:59:58Z</dcterms:created>
  <dcterms:modified xsi:type="dcterms:W3CDTF">2026-10-08T12:59:58Z</dcterms:modified>
</cp:coreProperties>
</file>