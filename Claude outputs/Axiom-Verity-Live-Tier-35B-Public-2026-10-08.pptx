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3a2f6cc-46a9-c643-55fb-5118c25b5530}">
          <p14:sldIdLst>
            <p14:sldId id="256"/>
            <p14:sldId id="257"/>
          </p14:sldIdLst>
        </p14:section>
        <p14:section name="What was run" id="{951c77da-48b5-ae0d-1d5c-ed55dc203c97}">
          <p14:sldIdLst>
            <p14:sldId id="258"/>
          </p14:sldIdLst>
        </p14:section>
        <p14:section name="The 35B's results" id="{6d662dee-d851-fd52-c5e6-cd0cd2608a4b}">
          <p14:sldIdLst>
            <p14:sldId id="259"/>
            <p14:sldId id="260"/>
            <p14:sldId id="261"/>
            <p14:sldId id="262"/>
            <p14:sldId id="263"/>
          </p14:sldIdLst>
        </p14:section>
        <p14:section name="Beside the 122B" id="{4d56703c-0c7c-4bda-12a6-5712da6c69b3}">
          <p14:sldIdLst>
            <p14:sldId id="264"/>
            <p14:sldId id="265"/>
            <p14:sldId id="266"/>
            <p14:sldId id="267"/>
            <p14:sldId id="268"/>
          </p14:sldIdLst>
        </p14:section>
        <p14:section name="Conclusions and next steps" id="{cb39c0df-5e8e-43ab-7bbe-449e2c420aad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9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35B, no stack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Lending</c:v>
                  </c:pt>
                  <c:pt idx="1">
                    <c:v>Servicing</c:v>
                  </c:pt>
                  <c:pt idx="2">
                    <c:v>Disputes</c:v>
                  </c:pt>
                  <c:pt idx="3">
                    <c:v>Collections</c:v>
                  </c:pt>
                  <c:pt idx="4">
                    <c:v>Onboarding</c:v>
                  </c:pt>
                  <c:pt idx="5">
                    <c:v>Complaints</c:v>
                  </c:pt>
                  <c:pt idx="6">
                    <c:v>Fraud</c:v>
                  </c:pt>
                  <c:pt idx="7">
                    <c:v>Advice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94</c:v>
                </c:pt>
                <c:pt idx="3">
                  <c:v>100</c:v>
                </c:pt>
                <c:pt idx="4">
                  <c:v>100</c:v>
                </c:pt>
                <c:pt idx="5">
                  <c:v>96</c:v>
                </c:pt>
                <c:pt idx="6">
                  <c:v>94</c:v>
                </c:pt>
                <c:pt idx="7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Prose replies, no tool call</c:v>
                </c:pt>
              </c:strCache>
            </c:strRef>
          </c:tx>
          <c:spPr>
            <a:solidFill>
              <a:srgbClr val="C4CCD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CC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Lending, disputes, complaints</c:v>
                  </c:pt>
                  <c:pt idx="1">
                    <c:v>Onboarding</c:v>
                  </c:pt>
                  <c:pt idx="2">
                    <c:v>Fraud</c:v>
                  </c:pt>
                  <c:pt idx="3">
                    <c:v>Collections</c:v>
                  </c:pt>
                  <c:pt idx="4">
                    <c:v>Advice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30</c:v>
                </c:pt>
                <c:pt idx="2">
                  <c:v>40</c:v>
                </c:pt>
                <c:pt idx="3">
                  <c:v>58</c:v>
                </c:pt>
                <c:pt idx="4">
                  <c:v>77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stack</c:v>
                </c:pt>
              </c:strCache>
            </c:strRef>
          </c:tx>
          <c:spPr>
            <a:solidFill>
              <a:srgbClr val="C4CCD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Fraud: alert decision</c:v>
                  </c:pt>
                  <c:pt idx="1">
                    <c:v>Disputes: decision matches rule</c:v>
                  </c:pt>
                  <c:pt idx="2">
                    <c:v>Disputes: reimbursed within limit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</c:v>
                </c:pt>
                <c:pt idx="1">
                  <c:v>94</c:v>
                </c:pt>
                <c:pt idx="2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Policy-card stack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Fraud: alert decision</c:v>
                  </c:pt>
                  <c:pt idx="1">
                    <c:v>Disputes: decision matches rule</c:v>
                  </c:pt>
                  <c:pt idx="2">
                    <c:v>Disputes: reimbursed within limit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98</c:v>
                </c:pt>
                <c:pt idx="2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9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122B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Disputes</c:v>
                  </c:pt>
                  <c:pt idx="1">
                    <c:v>Fraud</c:v>
                  </c:pt>
                  <c:pt idx="2">
                    <c:v>Complaints</c:v>
                  </c:pt>
                  <c:pt idx="3">
                    <c:v>Lending</c:v>
                  </c:pt>
                  <c:pt idx="4">
                    <c:v>Collections</c:v>
                  </c:pt>
                  <c:pt idx="5">
                    <c:v>Onboarding</c:v>
                  </c:pt>
                  <c:pt idx="6">
                    <c:v>Servicing</c:v>
                  </c:pt>
                  <c:pt idx="7">
                    <c:v>Advice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</c:v>
                </c:pt>
                <c:pt idx="1">
                  <c:v>96</c:v>
                </c:pt>
                <c:pt idx="2">
                  <c:v>99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35B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Disputes</c:v>
                  </c:pt>
                  <c:pt idx="1">
                    <c:v>Fraud</c:v>
                  </c:pt>
                  <c:pt idx="2">
                    <c:v>Complaints</c:v>
                  </c:pt>
                  <c:pt idx="3">
                    <c:v>Lending</c:v>
                  </c:pt>
                  <c:pt idx="4">
                    <c:v>Collections</c:v>
                  </c:pt>
                  <c:pt idx="5">
                    <c:v>Onboarding</c:v>
                  </c:pt>
                  <c:pt idx="6">
                    <c:v>Servicing</c:v>
                  </c:pt>
                  <c:pt idx="7">
                    <c:v>Advice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94</c:v>
                </c:pt>
                <c:pt idx="1">
                  <c:v>94</c:v>
                </c:pt>
                <c:pt idx="2">
                  <c:v>96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122B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Onboarding</c:v>
                  </c:pt>
                  <c:pt idx="1">
                    <c:v>Servicing</c:v>
                  </c:pt>
                  <c:pt idx="2">
                    <c:v>Disputes</c:v>
                  </c:pt>
                  <c:pt idx="3">
                    <c:v>Lending</c:v>
                  </c:pt>
                  <c:pt idx="4">
                    <c:v>Complaints</c:v>
                  </c:pt>
                  <c:pt idx="5">
                    <c:v>Servicing + customer</c:v>
                  </c:pt>
                  <c:pt idx="6">
                    <c:v>Collections</c:v>
                  </c:pt>
                  <c:pt idx="7">
                    <c:v>Fraud</c:v>
                  </c:pt>
                  <c:pt idx="8">
                    <c:v>Advice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0</c:v>
                </c:pt>
                <c:pt idx="2">
                  <c:v>4</c:v>
                </c:pt>
                <c:pt idx="3">
                  <c:v>3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12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35B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Onboarding</c:v>
                  </c:pt>
                  <c:pt idx="1">
                    <c:v>Servicing</c:v>
                  </c:pt>
                  <c:pt idx="2">
                    <c:v>Disputes</c:v>
                  </c:pt>
                  <c:pt idx="3">
                    <c:v>Lending</c:v>
                  </c:pt>
                  <c:pt idx="4">
                    <c:v>Complaints</c:v>
                  </c:pt>
                  <c:pt idx="5">
                    <c:v>Servicing + customer</c:v>
                  </c:pt>
                  <c:pt idx="6">
                    <c:v>Collections</c:v>
                  </c:pt>
                  <c:pt idx="7">
                    <c:v>Fraud</c:v>
                  </c:pt>
                  <c:pt idx="8">
                    <c:v>Advice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4</c:v>
                </c:pt>
                <c:pt idx="5">
                  <c:v>9</c:v>
                </c:pt>
                <c:pt idx="6">
                  <c:v>14</c:v>
                </c:pt>
                <c:pt idx="7">
                  <c:v>22</c:v>
                </c:pt>
                <c:pt idx="8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ten live designs re-performed with Qwen3.6-35B in the bot's seat, everything else held constant, every design performed twice, 95 minutes. Companion to the re-record briefing of 8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messages and a decision. The surprise is the second card: the smaller model was more accurate on one desk. The third is the one with governance consequences: a control's evidence did not transfer between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held constant except the cartridge and the Sparks' serving mode. 1,890 cells, 16,133 calls, 95 minutes, every design performed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The 35B on its own terms first; the comparison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configuration, no stack. Three desks above the assumed 90% and outside their intervals. Decision metrics are over completed items; the lost share is on a later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mode. On the desks that need a say action to keep a conversation going, the 35B replies in prose; the stage ceiling eventually ends the cell. One advice cell sent the same greeting twenty times. The chain-of-lookups desks are unaffected.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Disputes: the 35B was not tempted, so the Within-the-limit card has nothing to catch. Fraud: alert decision 94% to 81% with the stack, the only comparison in either suite where a control lowers a measure. Errors spread across all four arms; the stack arm carries the stalls. 27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design performed twice. Five desks at 100% consistency; where the model stalls, pass^2 falls to 89–93%. The 35B's non-determinism is its own, read from its trials.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Same designs, books, prompts; one model swapped. The comparison table is generated from both suites' committed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Navy is the 122B, gold the 35B. Identical at 100% on five desks; the 35B higher on disputes; within a few points on complaints and fraud, inside each other's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35B's losses are prose where a tool call was needed; the 122B's were repeated calls and retried refusals. Tokens per case similar where the 35B completes, higher where it stalls. Wall time 95 against 317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generated table (live-compare.mjs). Decision metrics over completed items. pass^2 compared where both suites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additions. The governance point is the last: a control's evidence is model-specific and must be re-measured when the model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sample of each model; prompts tuned for the 122B; lost cells unscored later; small n; synthetic rules; the register reads neither column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actions I have set myself. The first is an engine design decision; the second is a read of the fraud stories before I act on a 27-item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things the comparison taught, as questions a reader can take to their own model choice. Invite discussion and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NOTE  ·  THE 35B SUITE  ·  8 OCT 2026  ·  SYNTHETIC BANK  ·  ONE SAMPLE OF EACH MODEL  ·  AXIOM-VERITY.COM</a:t>
            </a:r>
            <a:endParaRPr lang="en-US" sz="7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NOTE  ·  THE 35B SUITE  ·  8 OCT 2026  ·  SYNTHETIC BANK  ·  ONE SAMPLE OF EACH MODEL  ·  AXIOM-VERITY.COM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NOTE  ·  THE 35B SUITE  ·  8 OCT 2026  ·  SYNTHETIC BANK  ·  ONE SAMPLE OF EACH MODEL  ·  AXIOM-VERITY.COM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The same bank, a model a fifth of the size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 swapped the 122B for a 35B and ran the same ten designs again. The smaller model matched it on three desks, beat it on one, and failed in a way I had not expected</a:t>
            </a: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640080" cy="640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 </a:t>
            </a:r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068312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GOVERNANCE  ·  COMPLIANCE  ·  SECURITY ADVISORY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AXIOM-VERITY.COM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783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NOTE  ·  THE ROBO BANK SIMULATOR  ·  BUILT AND LEARNED IN PUBLIC  ·  COMPANION TO THE RE-RECORD NOTE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Andrew Moore, Axiom Verity  ·  Recorded 8 October 2026  ·  Every figure is about a synthetic bank, from one sample of each model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Summary on a page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Rule visibility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generalises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With each desk's rule on its case file, the 35B reads 100% on onboarding, lending and collections, exactly as the 122B, in a third of the wall time. A model a fifth of the size uses a rule it can see.</a:t>
            </a:r>
            <a:endParaRPr lang="en-US" sz="1250" dirty="0"/>
          </a:p>
        </p:txBody>
      </p:sp>
      <p:sp>
        <p:nvSpPr>
          <p:cNvPr id="9" name="card 1"/>
          <p:cNvSpPr/>
          <p:nvPr/>
        </p:nvSpPr>
        <p:spPr>
          <a:xfrm>
            <a:off x="4337304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Size did not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decide accuracy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92608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On disputes the 35B agrees with the rule in 94% of items against the 122B's 81%. One design, 40 items, overlapping intervals: not a ranking, but a reason not to assume the large model is the safe baseline.</a:t>
            </a:r>
            <a:endParaRPr lang="en-US" sz="1250" dirty="0"/>
          </a:p>
        </p:txBody>
      </p:sp>
      <p:sp>
        <p:nvSpPr>
          <p:cNvPr id="14" name="card 2"/>
          <p:cNvSpPr/>
          <p:nvPr/>
        </p:nvSpPr>
        <p:spPr>
          <a:xfrm>
            <a:off x="8125968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Controls do not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transfer between models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92608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35B loses cells by answering in prose where a tool call is needed (advice 40%, fraud 22%). On fraud the SAR card, inert on the 122B, lowers the 35B's alert decision from 94% to 81%.</a:t>
            </a:r>
            <a:endParaRPr lang="en-US" sz="1250" dirty="0"/>
          </a:p>
        </p:txBody>
      </p:sp>
      <p:sp>
        <p:nvSpPr>
          <p:cNvPr id="19" name="callout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callout dot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502920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How to read this deck: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figure is a measurement of a synthetic bank from one sample of each open-weights model at temperature 0, performed twice, on prompts that were tuned against the 122B. It is not a statement about either model in general, nor about a real bank.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was run: the same suite, one thing changed</a:t>
            </a:r>
            <a:endParaRPr lang="en-US" sz="2800" dirty="0"/>
          </a:p>
        </p:txBody>
      </p:sp>
      <p:sp>
        <p:nvSpPr>
          <p:cNvPr id="4" name="stat card 1,890"/>
          <p:cNvSpPr/>
          <p:nvPr/>
        </p:nvSpPr>
        <p:spPr>
          <a:xfrm>
            <a:off x="54864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1,890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cells across 10 designs, every design performed twice</a:t>
            </a:r>
            <a:endParaRPr lang="en-US" sz="1100" dirty="0"/>
          </a:p>
        </p:txBody>
      </p:sp>
      <p:sp>
        <p:nvSpPr>
          <p:cNvPr id="7" name="stat card 16,133"/>
          <p:cNvSpPr/>
          <p:nvPr/>
        </p:nvSpPr>
        <p:spPr>
          <a:xfrm>
            <a:off x="338328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16,133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recorded calls, every one kept and verified against the live store</a:t>
            </a:r>
            <a:endParaRPr lang="en-US" sz="1100" dirty="0"/>
          </a:p>
        </p:txBody>
      </p:sp>
      <p:sp>
        <p:nvSpPr>
          <p:cNvPr id="10" name="stat card 95 min"/>
          <p:cNvSpPr/>
          <p:nvPr/>
        </p:nvSpPr>
        <p:spPr>
          <a:xfrm>
            <a:off x="621792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 min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wall time; the 122B suite took 317 for 1,792 cells</a:t>
            </a:r>
            <a:endParaRPr lang="en-US" sz="1100" dirty="0"/>
          </a:p>
        </p:txBody>
      </p:sp>
      <p:sp>
        <p:nvSpPr>
          <p:cNvPr id="13" name="stat card 3B"/>
          <p:cNvSpPr/>
          <p:nvPr/>
        </p:nvSpPr>
        <p:spPr>
          <a:xfrm>
            <a:off x="9052560" y="1417320"/>
            <a:ext cx="258775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1527048"/>
            <a:ext cx="22219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3B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045970"/>
            <a:ext cx="22219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active parameters (Qwen3.6-35B-A3B, mixture of experts) against the 122B's 10B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95344"/>
                <a:gridCol w="390448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122B SUITE (7–8 OCT)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35B SUITE (8 OCT)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Model / cartridge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Qwen3.5-122B-A10B-NVFP4 / giant-qwen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Qwen3.6-35B-A3B-NVFP4 / quick-qwen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Spark pattern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reasoning-pair (puzzle mode)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fast-pair (chat mode, 262k context)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Designs, books, evaluators, factors, prompts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the ten live designs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the same ten, from the same base designs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Reply limit, temperature, timeout, concurrency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2,048 tokens; 0; 180 s; 16 cells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the same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Performed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twice for eight designs, once for two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twice for all ten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Preceded by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a 238-cell preflight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a 46-item smoke, which predicted the stalls to within a few points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48640" y="5577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The prompts were tuned against the 122B (stage goals and refusals reworded where it stalled). A stall the 35B shows that the 122B did not is a finding about the prompts' fit to a smaller model as much as about the model.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What the 35B did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Agreement with the rule, the controls, the attack scenarios, where it fails, and how repeatable it is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Agreement with the rule: 94–100% on every desk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ssumed 90% reference"/>
          <p:cNvSpPr/>
          <p:nvPr/>
        </p:nvSpPr>
        <p:spPr>
          <a:xfrm>
            <a:off x="1155802" y="2248593"/>
            <a:ext cx="683056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6" name="Text 2"/>
          <p:cNvSpPr txBox="1"/>
          <p:nvPr/>
        </p:nvSpPr>
        <p:spPr>
          <a:xfrm>
            <a:off x="841248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Against the assumed 90% (dashed line)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20116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Lending 100% (93–100%, n 51), collections 100% (90–100%, n 36) and complaints 96% (93–99%, n 55) are above the assumption and outside their intervals.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Disputes 94% (86–99%, n 40), fraud 94% (87–100%, n 27), servicing, onboarding and advice (100%) are inside their wide intervals.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Every desk's rule is on its case file, as in the 122B re-record; the 35B uses it.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Decision metrics are scored over the items whose cells completed. Where the 35B loses cells, it is on later stages, not at the decision.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the 35B fails: it does not call the tool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617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Smoke, 46 items: share of replies that were text with no tool call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6766560" y="141732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 the full run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828800"/>
            <a:ext cx="487375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Bot cells lost (an error or a stack stop): advice 40%, fraud 22%, collections 14%, the servicing seat 9%, complaints 4%; lending 3%, disputes 1%, servicing 1%, onboarding 0%.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failure repeats within a cell: in one advice cell the bot sent the same greeting and question twenty times as text until the stage ceiling ended it.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desks that need a say action to keep a conversation going are where it fails; the desks that are a chain of lookups and decisions are where it does not.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stalls cluster on exactly the stages the 122B was fixed to avoid by rewording. The suite was left unchanged so the comparison stayed like for like.</a:t>
            </a:r>
            <a:endParaRPr lang="en-US" sz="1150" dirty="0"/>
          </a:p>
        </p:txBody>
      </p:sp>
      <p:sp>
        <p:nvSpPr>
          <p:cNvPr id="8" name="callout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callout dot"/>
          <p:cNvSpPr/>
          <p:nvPr/>
        </p:nvSpPr>
        <p:spPr>
          <a:xfrm>
            <a:off x="713232" y="530352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51560" y="52120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 finding about tool-call discipline on these prompts, not about judgement.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Where the 35B does reach the decision, it agrees with the rule as often as the 122B. The fix is in the engine or the wording, not the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Controls: one inert, one that moved the wrong way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709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35B, the three measures a stack is scored on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6766560" y="141732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Reading the two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828800"/>
            <a:ext cx="48737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Disputes: 94% to 98% and 99% to 100%, both inside their intervals: inconclusive. The 35B was not tempted by the planted notes, so the card that took the 122B from 94% to 100% has almost nothing to catch here.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Fraud: 94% to 81%, the register's verdict not-supported. Errors are spread across all four arms (10, 11, 11 and 15 of 54 cells), so it is not simply the stack's extra losses; but the stack arm also carries the stalls (a refused report re-filed, an alert re-opened). That is the reading the data allows, no more.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Attack scenarios: unaided, the 35B resisted every attack exactly as the 122B did (100% in every scenario). The components that act do so on termination: no-progress ends 17% of runs early, marking 6%, peer-auth 11%.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Reliability: repeatable where it completes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8288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DESIGN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PASS@1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PASS^2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CONSISTENCY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122B PASS^2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Lending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Servicing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Disputes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94%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93%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Collections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Onboarding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Complaints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96%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93%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93%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98%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Fraud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94%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89%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89% (67% in one arm)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96%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Advice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892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 items, never trials: repeating a case does not inflate n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78638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it says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182880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On five desks the two performances agree on every item: as repeatable as the 122B.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Where the model stalls, they do not: consistency 93% on disputes and complaints, 89% on fraud (67% in one arm). pass^2, the figure a control is credited on, falls to 90%, 93% and 89% there against the 122B's 80%, 98% and 96%.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servicing seat (a live 35B customer): needs met 94% (84–100%, n 16) against 100% with the scripted visitor; 9% of cells lost. No detectable difference at this n; the 122B seat lost none.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The 35B beside the 122B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Same ten designs, same books, same prompts, temperature 0; one model in the bot's seat, then the other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Agreement with the rule, design by design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ssumed 90% reference"/>
          <p:cNvSpPr/>
          <p:nvPr/>
        </p:nvSpPr>
        <p:spPr>
          <a:xfrm>
            <a:off x="1155802" y="2248593"/>
            <a:ext cx="683056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6" name="Text 2"/>
          <p:cNvSpPr txBox="1"/>
          <p:nvPr/>
        </p:nvSpPr>
        <p:spPr>
          <a:xfrm>
            <a:off x="841248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With the intervals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182880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Disputes: 122B 81% (69–93%), 35B 94% (86–99%); pass^2 80% against 90%. The model that misclassified one dispute in five is not the smaller one.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Fraud: 96% (82–99%) against 94% (87–100%). Complaints: 99% (97–100%) against 96% (93–99%). Inside each other's intervals.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Lending, collections, onboarding, servicing, advice: 100% on both, pass^2 included.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122B's headline, that seeing the rule was the whole difference, is a property of the desk design, not of the large model.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Cells lost, cost and time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23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Bot cells lost (an error or a stack stop)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71600"/>
          <a:ext cx="48737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7647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DESIGN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WALL TIME 122B / 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TOKENS A CASE 122B / 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Advice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67 / 32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42,147 / 63,625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Lending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66 / 15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12,391 / 11,866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Fraud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65 / 12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33,390 / 26,339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Attack scenarios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37 / 11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27,025 / 26,783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Collections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26 / 9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16,356 / 27,324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Onboarding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19 / 3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13,540 / 8,126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Disputes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16 / 5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8,082 / 9,065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Complaints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 / 3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3,880 / 3,872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 / 3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7,824 / 9,543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Total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317 / 95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766560" y="512064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35B suite performed every design twice; the 122B eight of ten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comparison table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1737360"/>
                <a:gridCol w="1737360"/>
                <a:gridCol w="1554480"/>
                <a:gridCol w="15819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DESIGN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MEASURED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122B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PASS^2 122B / 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CELLS LOST 122B / 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Onboarding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decision matches the rule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2% / 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Disputes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decision matches the rule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81% (69–93%)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94% (86–99%)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80% / 90%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4% / 1%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Complaints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root cause named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99% (97–100%)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96% (93–99%)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98% / 93%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0% / 4%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needs met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–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0% / 1%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Servicing, live customer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needs met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(81–100%)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94% (84–100%)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– / –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0% / 9%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Attack scenarios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each attack resisted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– / –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– / –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Collections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plan matches the rule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(91–100%)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2% / 14%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Lending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agreement with the rule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(93–100%)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(93–100%)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3% / 3%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Advice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recommendation suits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(89–100%)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(89–100%)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0% / 40%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Fraud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alert decision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96% (82–99%)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94% (87–100%)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96% / 89%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12% / 22%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the comparison adds to the record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777240" y="17373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Rule visibility generalises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It is a property of the desk design, not of the large model. Three desks identical at 100% on a model a fifth of the size.</a:t>
            </a:r>
            <a:endParaRPr lang="en-US" sz="1200" dirty="0"/>
          </a:p>
        </p:txBody>
      </p:sp>
      <p:sp>
        <p:nvSpPr>
          <p:cNvPr id="8" name="card 1"/>
          <p:cNvSpPr/>
          <p:nvPr/>
        </p:nvSpPr>
        <p:spPr>
          <a:xfrm>
            <a:off x="6231636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dot 1"/>
          <p:cNvSpPr/>
          <p:nvPr/>
        </p:nvSpPr>
        <p:spPr>
          <a:xfrm>
            <a:off x="6460236" y="173736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71716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prompts are tuned to one model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71716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35B's stalls cluster on the desks and stages where the bot must speak through a tool, exactly the dead ends the 122B was fixed to avoid by rewording. A smaller model needs its own wording or an engine tolerance for a prose reply.</a:t>
            </a:r>
            <a:endParaRPr lang="en-US" sz="1200" dirty="0"/>
          </a:p>
        </p:txBody>
      </p:sp>
      <p:sp>
        <p:nvSpPr>
          <p:cNvPr id="12" name="card 2"/>
          <p:cNvSpPr/>
          <p:nvPr/>
        </p:nvSpPr>
        <p:spPr>
          <a:xfrm>
            <a:off x="548640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dot 2"/>
          <p:cNvSpPr/>
          <p:nvPr/>
        </p:nvSpPr>
        <p:spPr>
          <a:xfrm>
            <a:off x="777240" y="384048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88720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larger model is not uniformly more accurate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Disputes is the counter-example. It should temper any instinct to treat the larger model as the conservative choice without measuring.</a:t>
            </a:r>
            <a:endParaRPr lang="en-US" sz="1200" dirty="0"/>
          </a:p>
        </p:txBody>
      </p:sp>
      <p:sp>
        <p:nvSpPr>
          <p:cNvPr id="16" name="card 3"/>
          <p:cNvSpPr/>
          <p:nvPr/>
        </p:nvSpPr>
        <p:spPr>
          <a:xfrm>
            <a:off x="6231636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dot 3"/>
          <p:cNvSpPr/>
          <p:nvPr/>
        </p:nvSpPr>
        <p:spPr>
          <a:xfrm>
            <a:off x="6460236" y="384048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1716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Controls do not transfer between models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71716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same SAR card that left the 122B's fraud measure untouched lowered the 35B's from 94% to 81%. Model choice is part of a control's operating environment; its evidence needs re-measuring when the model changes.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35B is also the weaker model the re-record briefing asked for: it errs on disputes, complaints and fraud, which is where a control's effect can be measured. The 122B sits at a ceiling there.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Limits</a:t>
            </a:r>
            <a:endParaRPr lang="en-US" sz="2800" dirty="0"/>
          </a:p>
        </p:txBody>
      </p:sp>
      <p:sp>
        <p:nvSpPr>
          <p:cNvPr id="4" name="limit 0"/>
          <p:cNvSpPr/>
          <p:nvPr/>
        </p:nvSpPr>
        <p:spPr>
          <a:xfrm>
            <a:off x="548640" y="141732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1848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sample of each model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Temperature 0, performed twice. The 35B's non-determinism is read from its trials (consistency 89–100%), not assumed from the 122B's.</a:t>
            </a:r>
            <a:endParaRPr lang="en-US" sz="1150" dirty="0"/>
          </a:p>
        </p:txBody>
      </p:sp>
      <p:sp>
        <p:nvSpPr>
          <p:cNvPr id="9" name="limit 1"/>
          <p:cNvSpPr/>
          <p:nvPr/>
        </p:nvSpPr>
        <p:spPr>
          <a:xfrm>
            <a:off x="4337304" y="141732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459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68824" y="161848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Prompts tuned for the 122B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19456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suite measures the 35B's fit to those prompts as much as its capability. A 35B-tuned run is a separate experiment.</a:t>
            </a:r>
            <a:endParaRPr lang="en-US" sz="1150" dirty="0"/>
          </a:p>
        </p:txBody>
      </p:sp>
      <p:sp>
        <p:nvSpPr>
          <p:cNvPr id="14" name="limit 2"/>
          <p:cNvSpPr/>
          <p:nvPr/>
        </p:nvSpPr>
        <p:spPr>
          <a:xfrm>
            <a:off x="8125968" y="141732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459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161848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Lost cells are unscored later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19456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 design with many lost cells (advice, collections, fraud) is scored on fewer completed items than its n; the lost share is reported beside every figure.</a:t>
            </a:r>
            <a:endParaRPr lang="en-US" sz="1150" dirty="0"/>
          </a:p>
        </p:txBody>
      </p:sp>
      <p:sp>
        <p:nvSpPr>
          <p:cNvPr id="19" name="limit 3"/>
          <p:cNvSpPr/>
          <p:nvPr/>
        </p:nvSpPr>
        <p:spPr>
          <a:xfrm>
            <a:off x="548640" y="379476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tep 4"/>
          <p:cNvSpPr/>
          <p:nvPr/>
        </p:nvSpPr>
        <p:spPr>
          <a:xfrm>
            <a:off x="777240" y="40233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99592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Small 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57200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Fraud 27 items, the servicing seat 16. Most designs are at a ceiling: untestable or inconclusive. The fraud not-supported verdict rests on 27 items.</a:t>
            </a:r>
            <a:endParaRPr lang="en-US" sz="1150" dirty="0"/>
          </a:p>
        </p:txBody>
      </p:sp>
      <p:sp>
        <p:nvSpPr>
          <p:cNvPr id="24" name="limit 4"/>
          <p:cNvSpPr/>
          <p:nvPr/>
        </p:nvSpPr>
        <p:spPr>
          <a:xfrm>
            <a:off x="4337304" y="379476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step 5"/>
          <p:cNvSpPr/>
          <p:nvPr/>
        </p:nvSpPr>
        <p:spPr>
          <a:xfrm>
            <a:off x="4565904" y="40233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65904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68824" y="399592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Synthetic bank and rules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65904" y="457200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rules, incidence and temptation shares are this repository's assumptions awaiting review.</a:t>
            </a:r>
            <a:endParaRPr lang="en-US" sz="1150" dirty="0"/>
          </a:p>
        </p:txBody>
      </p:sp>
      <p:sp>
        <p:nvSpPr>
          <p:cNvPr id="29" name="limit 5"/>
          <p:cNvSpPr/>
          <p:nvPr/>
        </p:nvSpPr>
        <p:spPr>
          <a:xfrm>
            <a:off x="8125968" y="379476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step 6"/>
          <p:cNvSpPr/>
          <p:nvPr/>
        </p:nvSpPr>
        <p:spPr>
          <a:xfrm>
            <a:off x="8354568" y="40233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5456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857488" y="399592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Register reads neither column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54568" y="457200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Control Effectiveness Register and Control Inventory still read the scripted and fallible columns.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4" name="c dot 0"/>
          <p:cNvSpPr/>
          <p:nvPr/>
        </p:nvSpPr>
        <p:spPr>
          <a:xfrm>
            <a:off x="548640" y="14447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1371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model a fifth of the size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uses a rule it can see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3716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the desks that are a chain of lookups and decisions, the 35B matches the 122B at 100%, in a third of the wall time.</a:t>
            </a:r>
            <a:endParaRPr lang="en-US" sz="1200" dirty="0"/>
          </a:p>
        </p:txBody>
      </p:sp>
      <p:sp>
        <p:nvSpPr>
          <p:cNvPr id="7" name="c dot 1"/>
          <p:cNvSpPr/>
          <p:nvPr/>
        </p:nvSpPr>
        <p:spPr>
          <a:xfrm>
            <a:off x="548640" y="23591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Size did not decide accuracy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2860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disputes the smaller model was the more accurate; on everything else the two are within each other's intervals.</a:t>
            </a:r>
            <a:endParaRPr lang="en-US" sz="1200" dirty="0"/>
          </a:p>
        </p:txBody>
      </p:sp>
      <p:sp>
        <p:nvSpPr>
          <p:cNvPr id="10" name="c dot 2"/>
          <p:cNvSpPr/>
          <p:nvPr/>
        </p:nvSpPr>
        <p:spPr>
          <a:xfrm>
            <a:off x="548640" y="32735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35B's weakness is tool-call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discipline on another model's prompts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2004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It answers in prose where the desk needs a tool call and loses up to 40% of a design's cells to it. Fix the prompts or the engine, not the model, first.</a:t>
            </a:r>
            <a:endParaRPr lang="en-US" sz="1200" dirty="0"/>
          </a:p>
        </p:txBody>
      </p:sp>
      <p:sp>
        <p:nvSpPr>
          <p:cNvPr id="13" name="c dot 3"/>
          <p:cNvSpPr/>
          <p:nvPr/>
        </p:nvSpPr>
        <p:spPr>
          <a:xfrm>
            <a:off x="548640" y="41879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4114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Controls do not transfer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without re-measurement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41148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fraud SAR card was inert on the 122B and lowered the 35B's alert decision from 94% to 81%.</a:t>
            </a:r>
            <a:endParaRPr lang="en-US" sz="1200" dirty="0"/>
          </a:p>
        </p:txBody>
      </p:sp>
      <p:sp>
        <p:nvSpPr>
          <p:cNvPr id="16" name="c dot 4"/>
          <p:cNvSpPr/>
          <p:nvPr/>
        </p:nvSpPr>
        <p:spPr>
          <a:xfrm>
            <a:off x="548640" y="51023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5029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programme now has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model that errs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50292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disputes, complaints and fraud the 35B gives the controls something to catch; the 122B sits at a ceiling there.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 will do next</a:t>
            </a:r>
            <a:endParaRPr lang="en-US" sz="2800" dirty="0"/>
          </a:p>
        </p:txBody>
      </p:sp>
      <p:sp>
        <p:nvSpPr>
          <p:cNvPr id="4" name="horizon 0"/>
          <p:cNvSpPr/>
          <p:nvPr/>
        </p:nvSpPr>
        <p:spPr>
          <a:xfrm>
            <a:off x="548640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h dot 0"/>
          <p:cNvSpPr/>
          <p:nvPr/>
        </p:nvSpPr>
        <p:spPr>
          <a:xfrm>
            <a:off x="777240" y="157276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Immediate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chemeClr val="tx1"/>
                </a:solidFill>
              </a:rPr>
              <a:t>Decide the engine's response to a prose reply where a tool call is expected: tolerate and score it, or give each model its own wording of the stage goals.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chemeClr val="tx1"/>
                </a:solidFill>
              </a:rPr>
              <a:t>Read the fraud stories for the 35B's stack arm before any conclusion is drawn about the SAR card.</a:t>
            </a:r>
            <a:endParaRPr lang="en-US" sz="1250" dirty="0"/>
          </a:p>
        </p:txBody>
      </p:sp>
      <p:sp>
        <p:nvSpPr>
          <p:cNvPr id="8" name="horizon 1"/>
          <p:cNvSpPr/>
          <p:nvPr/>
        </p:nvSpPr>
        <p:spPr>
          <a:xfrm>
            <a:off x="4337304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h dot 1"/>
          <p:cNvSpPr/>
          <p:nvPr/>
        </p:nvSpPr>
        <p:spPr>
          <a:xfrm>
            <a:off x="4565904" y="15727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1664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Short term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65904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chemeClr val="tx1"/>
                </a:solidFill>
              </a:rPr>
              <a:t>Use the 35B as the weaker model on disputes, complaints and fraud, where it errs, so the controls there have an effect to measure.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250" dirty="0">
                <a:solidFill>
                  <a:schemeClr val="tx1"/>
                </a:solidFill>
              </a:rPr>
              <a:t>Add the 35B as a second live column in the Control Effectiveness Register, with pass^k per model.</a:t>
            </a:r>
            <a:endParaRPr lang="en-US" sz="1250" dirty="0"/>
          </a:p>
        </p:txBody>
      </p:sp>
      <p:sp>
        <p:nvSpPr>
          <p:cNvPr id="12" name="horizon 2"/>
          <p:cNvSpPr/>
          <p:nvPr/>
        </p:nvSpPr>
        <p:spPr>
          <a:xfrm>
            <a:off x="8125968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h dot 2"/>
          <p:cNvSpPr/>
          <p:nvPr/>
        </p:nvSpPr>
        <p:spPr>
          <a:xfrm>
            <a:off x="8354568" y="15727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20328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Medium term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54568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250" dirty="0">
                <a:solidFill>
                  <a:schemeClr val="tx1"/>
                </a:solidFill>
              </a:rPr>
              <a:t>Run a 35B-tuned suite as a separate experiment, rewording the stage goals where it stalled, to separate capability from prompt fit.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1250" dirty="0">
                <a:solidFill>
                  <a:schemeClr val="tx1"/>
                </a:solidFill>
              </a:rPr>
              <a:t>Harder books for the desks at a ceiling on both models: onboarding, lending, collections, advice.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Three questions before you go big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What one swap of the model taught me. Corrections welcome; both suites' recordings are public.</a:t>
            </a:r>
            <a:endParaRPr lang="en-US" sz="1800" dirty="0"/>
          </a:p>
        </p:txBody>
      </p:sp>
      <p:sp>
        <p:nvSpPr>
          <p:cNvPr id="5" name="questions panel"/>
          <p:cNvSpPr/>
          <p:nvPr/>
        </p:nvSpPr>
        <p:spPr>
          <a:xfrm>
            <a:off x="548640" y="4343400"/>
            <a:ext cx="11091672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43484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1.  Have you measured the smaller model on your own desks? Mine matched the larger one on three and beat it on one.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2.  Were your prompts tuned against one model? Mine were, and the smaller model's failures sat exactly where that tuning had been.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3.  Has each control's evidence been re-measured on the model you actually run? The same card was inert on one model and harmful on the other.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Andrew Moore  ·  Axiom Verity  ·  axiom-verity.com  ·  Testbed: the Robo Bank simulator (Craft A Bot); both suites are in the repo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om Verity">
  <a:themeElements>
    <a:clrScheme name="Axiom Verity">
      <a:dk1>
        <a:srgbClr val="10233A"/>
      </a:dk1>
      <a:lt1>
        <a:srgbClr val="F7F7F5"/>
      </a:lt1>
      <a:dk2>
        <a:srgbClr val="4A5A72"/>
      </a:dk2>
      <a:lt2>
        <a:srgbClr val="FFFFFF"/>
      </a:lt2>
      <a:accent1>
        <a:srgbClr val="0E2A4A"/>
      </a:accent1>
      <a:accent2>
        <a:srgbClr val="A8781F"/>
      </a:accent2>
      <a:accent3>
        <a:srgbClr val="7A5A1A"/>
      </a:accent3>
      <a:accent4>
        <a:srgbClr val="4A5A72"/>
      </a:accent4>
      <a:accent5>
        <a:srgbClr val="C4CCD3"/>
      </a:accent5>
      <a:accent6>
        <a:srgbClr val="EEF1EE"/>
      </a:accent6>
      <a:hlink>
        <a:srgbClr val="7A5A1A"/>
      </a:hlink>
      <a:folHlink>
        <a:srgbClr val="4A5A72"/>
      </a:folHlink>
    </a:clrScheme>
    <a:fontScheme name="Axiom Verity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live tier on a smaller model</dc:title>
  <dc:subject>Research note: the same bank, a model a fifth of the size</dc:subject>
  <dc:creator>Andrew Moore, Axiom Verity</dc:creator>
  <cp:lastModifiedBy>Andrew Moore, Axiom Verity</cp:lastModifiedBy>
  <cp:revision>1</cp:revision>
  <dcterms:created xsi:type="dcterms:W3CDTF">2026-10-08T13:13:34Z</dcterms:created>
  <dcterms:modified xsi:type="dcterms:W3CDTF">2026-10-08T13:13:34Z</dcterms:modified>
</cp:coreProperties>
</file>